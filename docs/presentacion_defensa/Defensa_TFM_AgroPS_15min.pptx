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0:00–0:40. Presentarte. Leer el título literal (el mismo que el pie). Frase: «El problema no es la IA en general: es si RAG mitiga alucinaciones en normativa agraria.»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la pregunta en voz alta. Agenda: problema → arquitectura → corpus → cifras → demo. Dejar claro que se compara el mismo modelo con y sin recuperación.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 fluido inventa importes/plazos/códigos. Distinguir extrínseca vs intrínseca. Un asesor no puede auditar un chat sin fuentes.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Evaluado: RAG textual modular (denso + BM25 + RRF). Producto, no corrida: LangGraph. Fuera: GraphRAG, visión end-to-end, RAGAS oficial, certificación. Citas: documento + sección + chunk. Si preguntan por qué híbrido: denso = paráfrasis, BM25 = códigos, RRF fusiona.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 markdown asesor-canarias, destilados de consolidados POSEI 2025–2026. N=35 (siete categorías × cinco) con respuesta esperada y source_file. No mezclar con un run sintético de 150.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N=35, run_20260819. Hall. 31,4% → 8,6%. Acc. 3,31 → 4,46. MRR 0,81. Insistir: no es cero. No citar el gráfico de 21 ítems. No mezclar N=150.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Hueco: trazabilidad. AGROIL inventa ES-01744 en lugar de 22319. Juez ≠ humano (puntuó 5). Preparar la misma pregunta en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 con fuentes. Si el retrieve tarda, vídeo de 60–90 s. Pregunta 1 POSEI (éxito). Pregunta 2 AGROIL (límite de trazabilidad). No improvisar una tercera.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 pequeño; mismo modelo genera y juzga; página PDF no siempre en el chunk. Mitigar ≠ certificar.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la frase de defensa despacio. Agradecer. Abrir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Solo si el tribunal pregunta. No proyectar en la exposición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F6B3A"/>
                </a:solidFill>
                <a:latin typeface="Calibri"/>
              </a:rPr>
              <a:t>TRABAJO DE FIN DE MÁSTER  ·  INTELIGENCIA ARTIFICIAL  ·  UAX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070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2E1A"/>
                </a:solidFill>
                <a:latin typeface="Calibri"/>
              </a:rPr>
              <a:t>Impacto de la Arquitectura RAG
en las Alucinaciones de los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2412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A5C4A"/>
                </a:solidFill>
                <a:latin typeface="Calibri"/>
              </a:rPr>
              <a:t>El problema no es la IA en general: es si RAG mitiga alucinaciones
en documentación agrícola y normativa (PAC / POSEI).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7498079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Samuel Lorenzo Sánchez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Tutor: Carlos Granados Aguilar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AgroPS  ·  prototipo contenedorizado  ·  15 minutos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4892040"/>
            <a:ext cx="2240280" cy="438912"/>
          </a:xfrm>
          <a:prstGeom prst="round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9692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Impacto de la Arquitectura RAG en las Alucinaciones de los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7395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0:00–0:40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2E1A"/>
                </a:solidFill>
                <a:latin typeface="Calibri"/>
              </a:rPr>
              <a:t>Pregunta de investigación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Hilo conductor · 0:40–2:00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169164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7899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A2E1A"/>
                </a:solidFill>
                <a:latin typeface="Calibri"/>
              </a:rPr>
              <a:t>¿En qué medida un RAG híbrido textual reduce las alucinaciones factuales
frente al mismo LLM sin recuperación, en un dominio PAC / POSEI?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63240"/>
            <a:ext cx="181051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3200400"/>
            <a:ext cx="16642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657600"/>
            <a:ext cx="1664208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4526280"/>
            <a:ext cx="16642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2:00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3063240"/>
            <a:ext cx="181051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200400"/>
            <a:ext cx="16642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657600"/>
            <a:ext cx="1664208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Arquitectura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526280"/>
            <a:ext cx="16642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3:30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3063240"/>
            <a:ext cx="181051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3200400"/>
            <a:ext cx="16642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3657600"/>
            <a:ext cx="1664208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4526280"/>
            <a:ext cx="16642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5:30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3063240"/>
            <a:ext cx="181051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3200400"/>
            <a:ext cx="16642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657600"/>
            <a:ext cx="1664208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Cifras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4526280"/>
            <a:ext cx="16642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7:00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3063240"/>
            <a:ext cx="181051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3200400"/>
            <a:ext cx="16642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3657600"/>
            <a:ext cx="1664208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4526280"/>
            <a:ext cx="16642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10:30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3063240"/>
            <a:ext cx="181051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22992" y="3200400"/>
            <a:ext cx="16642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3657600"/>
            <a:ext cx="1664208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Límites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22992" y="4526280"/>
            <a:ext cx="16642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12:30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9692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Impacto de la Arquitectura RAG en las Alucinaciones de los LLMs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647395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0:40–2:00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2E1A"/>
                </a:solidFill>
                <a:latin typeface="Calibri"/>
              </a:rPr>
              <a:t>El problema: fluido, pero no auditable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Un asesor no puede fiarse de un chat sin fuentes  ·  2:00–3:30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623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09728" cy="233172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8B2E2E"/>
                </a:solidFill>
                <a:latin typeface="Calibri"/>
              </a:rPr>
              <a:t>Alucinación extrínseca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5074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A2E1A"/>
                </a:solidFill>
                <a:latin typeface="Calibri"/>
              </a:rPr>
              <a:t>El LLM inventa importes, plazos, códigos de ayuda o citas que no están en el expediente. Suena a boletín; no lo 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4864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109728" cy="2331720"/>
          </a:xfrm>
          <a:prstGeom prst="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23444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47A2A"/>
                </a:solidFill>
                <a:latin typeface="Calibri"/>
              </a:rPr>
              <a:t>Alucinación intrínseca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691640"/>
            <a:ext cx="49377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A2E1A"/>
                </a:solidFill>
                <a:latin typeface="Calibri"/>
              </a:rPr>
              <a:t>Contradice el contexto que ya tiene delante. En normativa agraria el fallo habitual es el extrínseco: rellenar huecos con patrones.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3657600" cy="214884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Sin evidencia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32004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Pregunta → LLM → texto fluido. No hay fragmento que auditar.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657600"/>
            <a:ext cx="3657600" cy="214884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79476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Sin citas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251960"/>
            <a:ext cx="32004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El asesor no sabe documento, sección ni chunk.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657600"/>
            <a:ext cx="3657600" cy="214884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79476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Peor que callar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251960"/>
            <a:ext cx="32004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Una cifra plausible y falsa es más peligrosa que abstenerse.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73952"/>
            <a:ext cx="9692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Impacto de la Arquitectura RAG en las Alucinaciones de los LLMs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47395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2:00–3:30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2E1A"/>
                </a:solidFill>
                <a:latin typeface="Calibri"/>
              </a:rPr>
              <a:t>Arquitectura: qué se evalúa y qué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RAG textual modular  ·  citas: documento + sección + chunk  ·  3:30–5:30</a:t>
            </a:r>
          </a:p>
        </p:txBody>
      </p:sp>
      <p:pic>
        <p:nvPicPr>
          <p:cNvPr id="6" name="Picture 5" descr="diagrama-respuesta-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24128"/>
            <a:ext cx="7452360" cy="42267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024128"/>
            <a:ext cx="38862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024128"/>
            <a:ext cx="109728" cy="1554480"/>
          </a:xfrm>
          <a:prstGeom prst="rect">
            <a:avLst/>
          </a:prstGeom>
          <a:solidFill>
            <a:srgbClr val="1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133856"/>
            <a:ext cx="3429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B3A"/>
                </a:solidFill>
                <a:latin typeface="Calibri"/>
              </a:rPr>
              <a:t>Evaluado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481328"/>
            <a:ext cx="3429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RAG textual modular
Denso + BM25 + RRF
llama3.2 + nomic-embed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688336"/>
            <a:ext cx="38862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2688336"/>
            <a:ext cx="109728" cy="1554480"/>
          </a:xfrm>
          <a:prstGeom prst="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2798064"/>
            <a:ext cx="3429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47A2A"/>
                </a:solidFill>
                <a:latin typeface="Calibri"/>
              </a:rPr>
              <a:t>Producto, no corrida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145536"/>
            <a:ext cx="3429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LangGraph (agentic)
OCR de ingesta
Labs de evaluación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352544"/>
            <a:ext cx="38862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4352544"/>
            <a:ext cx="109728" cy="155448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4462272"/>
            <a:ext cx="3429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B2E2E"/>
                </a:solidFill>
                <a:latin typeface="Calibri"/>
              </a:rPr>
              <a:t>Fuera de alcance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809744"/>
            <a:ext cx="3429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GraphRAG
Visión end-to-end
RAGAS oficial
Certificación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73952"/>
            <a:ext cx="9692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Impacto de la Arquitectura RAG en las Alucinaciones de los LLMs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47395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3:30–5:30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2E1A"/>
                </a:solidFill>
                <a:latin typeface="Calibri"/>
              </a:rPr>
              <a:t>Corpus y banco de 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29 markdown asesor-canarias  ·  N=35 (7×5)  ·  5:30–7:00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580644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394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F6B3A"/>
                </a:solidFill>
                <a:latin typeface="Calibri"/>
              </a:rPr>
              <a:t>Qué se indexó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949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14 ficheros de marco (00–13): POSEI, GIP, filoxera, Panamá, REAC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15 dossiers de cultivo (platanera, vid, papa, aguacate…)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Destilados de consolidados POSEI 21-01-2025 y 2026 (rige 1-1-2026)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1289 fragmentos en la corrida congelada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Criterio: vigencia 2023–2026 y anclaje a una sección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No se evalúa el censo de beneficiarios ni el JSON de 50 MB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78992"/>
            <a:ext cx="5349240" cy="507492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23444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F6B3A"/>
                </a:solidFill>
                <a:latin typeface="Calibri"/>
              </a:rPr>
              <a:t>Banco gold_tests.jsonl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691640"/>
            <a:ext cx="489204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737360"/>
            <a:ext cx="4617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2E1A"/>
                </a:solidFill>
                <a:latin typeface="Calibri"/>
              </a:rPr>
              <a:t>POSEI = ¿qué sigla?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65960"/>
            <a:ext cx="4617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A5C4A"/>
                </a:solidFill>
                <a:latin typeface="Calibri"/>
              </a:rPr>
              <a:t>02_posei_marco.md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350008"/>
            <a:ext cx="489204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395728"/>
            <a:ext cx="4617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2E1A"/>
                </a:solidFill>
                <a:latin typeface="Calibri"/>
              </a:rPr>
              <a:t>243,96 M€ en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624328"/>
            <a:ext cx="4617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A5C4A"/>
                </a:solidFill>
                <a:latin typeface="Calibri"/>
              </a:rPr>
              <a:t>02_posei_marco.md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3008376"/>
            <a:ext cx="489204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054096"/>
            <a:ext cx="4617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2E1A"/>
                </a:solidFill>
                <a:latin typeface="Calibri"/>
              </a:rPr>
              <a:t>REAC vs CUE vs 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282696"/>
            <a:ext cx="4617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A5C4A"/>
                </a:solidFill>
                <a:latin typeface="Calibri"/>
              </a:rPr>
              <a:t>10_cuaderno_reac.md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666744"/>
            <a:ext cx="489204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712464"/>
            <a:ext cx="4617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2E1A"/>
                </a:solidFill>
                <a:latin typeface="Calibri"/>
              </a:rPr>
              <a:t>Fusarium y el 70 % IGP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941064"/>
            <a:ext cx="4617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A5C4A"/>
                </a:solidFill>
                <a:latin typeface="Calibri"/>
              </a:rPr>
              <a:t>07_mal_de_panama.md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4325112"/>
            <a:ext cx="489204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370832"/>
            <a:ext cx="4617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2E1A"/>
                </a:solidFill>
                <a:latin typeface="Calibri"/>
              </a:rPr>
              <a:t>AGROIL n.º 22319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599432"/>
            <a:ext cx="4617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A5C4A"/>
                </a:solidFill>
                <a:latin typeface="Calibri"/>
              </a:rPr>
              <a:t>cultivos/platanera.md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9692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Impacto de la Arquitectura RAG en las Alucinaciones de los LLMs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647395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5:30–7:00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2E1A"/>
                </a:solidFill>
                <a:latin typeface="Calibri"/>
              </a:rPr>
              <a:t>Resultados: mismo LLM, con y sin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run_20260819T165515Z  ·  N=35  ·  juez local 1–5  ·  7:00–10:30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27889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34440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Alucinación (juez)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37360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F6B3A"/>
                </a:solidFill>
                <a:latin typeface="Calibri"/>
              </a:rPr>
              <a:t>31,4 %  →  8,6 %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788920"/>
            <a:ext cx="2468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Mitiga, no es cero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097280"/>
            <a:ext cx="27889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234440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Exactitud (1–5)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1737360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F6B3A"/>
                </a:solidFill>
                <a:latin typeface="Calibri"/>
              </a:rPr>
              <a:t>3,31  →  4,46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788920"/>
            <a:ext cx="2468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+1,14 puntos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097280"/>
            <a:ext cx="27889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234440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MRR híbrido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737360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F6B3A"/>
                </a:solidFill>
                <a:latin typeface="Calibri"/>
              </a:rPr>
              <a:t>0,81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788920"/>
            <a:ext cx="2468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Primer útil pronto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097280"/>
            <a:ext cx="27889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2" y="1234440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Cobertura keywords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1737360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F6B3A"/>
                </a:solidFill>
                <a:latin typeface="Calibri"/>
              </a:rPr>
              <a:t>0,96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2788920"/>
            <a:ext cx="2468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Proxy de context recall</a:t>
            </a:r>
          </a:p>
        </p:txBody>
      </p:sp>
      <p:pic>
        <p:nvPicPr>
          <p:cNvPr id="22" name="Picture 21" descr="metricas-mrr-catego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566160"/>
            <a:ext cx="6949440" cy="455332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498079" y="3566160"/>
            <a:ext cx="4297680" cy="260604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3703320"/>
            <a:ext cx="397763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F6B3A"/>
                </a:solidFill>
                <a:latin typeface="Calibri"/>
              </a:rPr>
              <a:t>Cómo leerlo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114800"/>
            <a:ext cx="397763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2E1A"/>
                </a:solidFill>
                <a:latin typeface="Calibri"/>
              </a:rPr>
              <a:t>• Pareado: mismo modelo, misma pregunta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1A"/>
                </a:solidFill>
                <a:latin typeface="Calibri"/>
              </a:rPr>
              <a:t>• Fortaleza: spanning / compliance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1A"/>
                </a:solidFill>
                <a:latin typeface="Calibri"/>
              </a:rPr>
              <a:t>• Hueco: traceability (MRR 0,67)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1A"/>
                </a:solidFill>
                <a:latin typeface="Calibri"/>
              </a:rPr>
              <a:t>• El juez no es un inspector PAC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9692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Impacto de la Arquitectura RAG en las Alucinaciones de los LLMs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647395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7:00–10:30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2E1A"/>
                </a:solidFill>
                <a:latin typeface="Calibri"/>
              </a:rPr>
              <a:t>El 8,6 % residual: trazabilidad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Ítem 34  ·  AGROIL en platanera  ·  el sistema cita cerca e inventa el código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56692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257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F6B3A"/>
                </a:solidFill>
                <a:latin typeface="Calibri"/>
              </a:rPr>
              <a:t>Qué se preguntó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25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A2E1A"/>
                </a:solidFill>
                <a:latin typeface="Calibri"/>
              </a:rPr>
              <a:t>• Pregunta: n.º de registro de AGROIL para araña roja en platanera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E1A"/>
                </a:solidFill>
                <a:latin typeface="Calibri"/>
              </a:rPr>
              <a:t>• Referencia de oro: 22319  (cultivos/platanera.md)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E1A"/>
                </a:solidFill>
                <a:latin typeface="Calibri"/>
              </a:rPr>
              <a:t>• El dossier entra en el top-k; el chunk con 22319 no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E1A"/>
                </a:solidFill>
                <a:latin typeface="Calibri"/>
              </a:rPr>
              <a:t>• Respuesta RAG: inventa ES-01744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E1A"/>
                </a:solidFill>
                <a:latin typeface="Calibri"/>
              </a:rPr>
              <a:t>• El juez puso exactitud 5: ve la referencia, no el dígito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E1A"/>
                </a:solidFill>
                <a:latin typeface="Calibri"/>
              </a:rPr>
              <a:t>• Lección: citar documento vecino ≠ citar el fragmento correcto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97280"/>
            <a:ext cx="5440680" cy="502920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8016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8B2E2E"/>
                </a:solidFill>
                <a:latin typeface="Calibri"/>
              </a:rPr>
              <a:t>Por eso no prometemos cero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5029200" cy="3931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1A2E1A"/>
                </a:solidFill>
                <a:latin typeface="Calibri"/>
              </a:rPr>
              <a:t>RAG desplaza el riesgo al retriever: si el identificador no está en el contexto, el generador completa con un código plausible.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A5C4A"/>
                </a:solidFill>
                <a:latin typeface="Calibri"/>
              </a:rPr>
              <a:t>La demo viva repetirá esta pregunta a propósito: es el límite del prototipo, no un accidente que escondemos.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9692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Impacto de la Arquitectura RAG en las Alucinaciones de los LLMs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647395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7:00–10:30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2E1A"/>
                </a:solidFill>
                <a:latin typeface="Calibri"/>
              </a:rPr>
              <a:t>Demo (90–120 s)  ·  o vídeo si Ollama tarda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Dos preguntas: una fácil de anclar y una que enseña el límite  ·  10:30–12:30</a:t>
            </a:r>
          </a:p>
        </p:txBody>
      </p:sp>
      <p:pic>
        <p:nvPicPr>
          <p:cNvPr id="6" name="Picture 5" descr="diagrama-ingesta-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943600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051560"/>
            <a:ext cx="52578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23444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F6B3A"/>
                </a:solidFill>
                <a:latin typeface="Calibri"/>
              </a:rPr>
              <a:t>En vivo, en este orden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737360"/>
            <a:ext cx="4846320" cy="169164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74519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1.  ¿Qué significa POSEI?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240280"/>
            <a:ext cx="4572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Debe citar 02_posei_marco.md. Señalar documento, sección y fragmento en el panel de fuentes.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611880"/>
            <a:ext cx="4846320" cy="224028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749039"/>
            <a:ext cx="4572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8B2E2E"/>
                </a:solidFill>
                <a:latin typeface="Calibri"/>
              </a:rPr>
              <a:t>2.  ¿N.º de registro de AGROIL
en platanera?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343400"/>
            <a:ext cx="4572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Oro: 22319. Si inventa un código (p. ej. ES-01744), mostrarlo: el retriever falló el chunk y el generador no se abstuvo.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9692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Impacto de la Arquitectura RAG en las Alucinaciones de los LLMs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647395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10:30–12:30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2E1A"/>
                </a:solidFill>
                <a:latin typeface="Calibri"/>
              </a:rPr>
              <a:t>Límites honestos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Mitigar ≠ certificar  ·  12:30–14:20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3703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703320" cy="91440"/>
          </a:xfrm>
          <a:prstGeom prst="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N =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3375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Evidencia principal acotada. Siete categorías × cinco. No es un universo MAPA/FEGA.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43000"/>
            <a:ext cx="3703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3703320" cy="91440"/>
          </a:xfrm>
          <a:prstGeom prst="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1732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Juez = mismo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65960"/>
            <a:ext cx="33375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Genera y puntúa. Hay leakage: ve la referencia. No sustituye a un inspector.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143000"/>
            <a:ext cx="3703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143000"/>
            <a:ext cx="3703320" cy="91440"/>
          </a:xfrm>
          <a:prstGeom prst="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41732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Página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1965960"/>
            <a:ext cx="33375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La cita arrastra source_file, sección y chunk. La página exacta depende del parser.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11880"/>
            <a:ext cx="3703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611880"/>
            <a:ext cx="3703320" cy="91440"/>
          </a:xfrm>
          <a:prstGeom prst="rect">
            <a:avLst/>
          </a:prstGeom>
          <a:solidFill>
            <a:srgbClr val="4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8620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Sin ablación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34840"/>
            <a:ext cx="33375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La corrida mide el híbrido fijo. No dens vs BM25 vs reranker vs agente.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611880"/>
            <a:ext cx="3703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611880"/>
            <a:ext cx="3703320" cy="91440"/>
          </a:xfrm>
          <a:prstGeom prst="rect">
            <a:avLst/>
          </a:prstGeom>
          <a:solidFill>
            <a:srgbClr val="4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88620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RAGAS no corrido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434840"/>
            <a:ext cx="33375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Está en el estado del arte. No hay informe RAGAS oficial en run_20260819.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611880"/>
            <a:ext cx="3703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3611880"/>
            <a:ext cx="3703320" cy="91440"/>
          </a:xfrm>
          <a:prstGeom prst="rect">
            <a:avLst/>
          </a:prstGeom>
          <a:solidFill>
            <a:srgbClr val="4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9" y="3886200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No es producción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4434840"/>
            <a:ext cx="33375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Prototipo contenedorizado. No hay certificación de cumplimiento normativo.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73952"/>
            <a:ext cx="9692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Impacto de la Arquitectura RAG en las Alucinaciones de los LLMs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647395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12:30–14:20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Frase de defensa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A2E1A"/>
                </a:solidFill>
                <a:latin typeface="Calibri"/>
              </a:rPr>
              <a:t>No prometemos cero alucinaciones. Demostramos un anclaje medible a evidencia recuperada, con abstención, citas (documento, sección, fragmento) y una comparación pareada LLM sin RAG frente a RAG.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160520"/>
            <a:ext cx="10607040" cy="169164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389120"/>
            <a:ext cx="10058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Samuel Lorenzo Sánchez  ·  tutor Carlos Granados Aguilar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Impacto de la Arquitectura RAG en las Alucinaciones de los LLMs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F6B3A"/>
                </a:solidFill>
                <a:latin typeface="Calibri"/>
              </a:rPr>
              <a:t>Preguntas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9692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Impacto de la Arquitectura RAG en las Alucinaciones de los 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7395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14:20–15:00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2E1A"/>
                </a:solidFill>
                <a:latin typeface="Calibri"/>
              </a:rPr>
              <a:t>Si preguntan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Diapositiva de reserva  ·  no contar en los 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F6B3A"/>
                </a:solidFill>
                <a:latin typeface="Calibri"/>
              </a:rPr>
              <a:t>¿Por qué híbrido?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10698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El denso cubre paráfrasis («prima de arranque»). BM25 clava códigos y normas. RRF fusiona sin entrenar un ranker.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59152"/>
            <a:ext cx="112471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F6B3A"/>
                </a:solidFill>
                <a:latin typeface="Calibri"/>
              </a:rPr>
              <a:t>¿GraphRAG / multimodal?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10698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Fuera del objeto experimental. El OCR solo alimenta texto. UMAP no es un grafo de consulta.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21024"/>
            <a:ext cx="112471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30752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F6B3A"/>
                </a:solidFill>
                <a:latin typeface="Calibri"/>
              </a:rPr>
              <a:t>¿RAGAS?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96512"/>
            <a:ext cx="10698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Definido en el estado del arte (faithfulness, relevancy, context P/R). No se ejecutó en la corrida congelada.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82896"/>
            <a:ext cx="112471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92624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F6B3A"/>
                </a:solidFill>
                <a:latin typeface="Calibri"/>
              </a:rPr>
              <a:t>¿El run de 150?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58384"/>
            <a:ext cx="10698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No mezclar. La evidencia canónica es el oro N=35 (run_20260819). El 150 es sensibilidad, no el resultado de defensa.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9692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Impacto de la Arquitectura RAG en las Alucinaciones de los LLMs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647395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reserva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Impacto de la Arquitectura RAG en las Alucinaciones de los LLMs</dc:title>
  <dc:subject>Defensa TFM AgroPS · 15 minutos</dc:subject>
  <dc:creator>Samuel Lorenzo Sánchez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