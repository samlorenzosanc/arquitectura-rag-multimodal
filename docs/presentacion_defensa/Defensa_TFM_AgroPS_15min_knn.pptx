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70" r:id="rId5"/>
    <p:sldId id="258" r:id="rId6"/>
    <p:sldId id="259" r:id="rId7"/>
    <p:sldId id="260" r:id="rId8"/>
    <p:sldId id="271" r:id="rId20"/>
    <p:sldId id="274" r:id="rId23"/>
    <p:sldId id="272" r:id="rId21"/>
    <p:sldId id="273" r:id="rId22"/>
    <p:sldId id="261" r:id="rId9"/>
    <p:sldId id="262" r:id="rId10"/>
    <p:sldId id="263" r:id="rId11"/>
    <p:sldId id="264" r:id="rId12"/>
    <p:sldId id="265" r:id="rId13"/>
    <p:sldId id="266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8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F6B3A"/>
                </a:solidFill>
                <a:latin typeface="Calibri"/>
              </a:rPr>
              <a:t>TRABAJO DE FIN DE MÁSTER ·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3600" b="1" dirty="0">
                <a:solidFill>
                  <a:srgbClr val="1A2E1A"/>
                </a:solidFill>
                <a:latin typeface="Calibri"/>
              </a:rPr>
              <a:t>Impacto de la </a:t>
            </a:r>
            <a:r>
              <a:rPr sz="3600" b="1" dirty="0" err="1">
                <a:solidFill>
                  <a:srgbClr val="1A2E1A"/>
                </a:solidFill>
                <a:latin typeface="Calibri"/>
              </a:rPr>
              <a:t>Arquitectura</a:t>
            </a:r>
            <a:r>
              <a:rPr sz="3600" b="1" dirty="0">
                <a:solidFill>
                  <a:srgbClr val="1A2E1A"/>
                </a:solidFill>
                <a:latin typeface="Calibri"/>
              </a:rPr>
              <a:t> RAG
</a:t>
            </a:r>
            <a:r>
              <a:rPr sz="3600" b="1" dirty="0" err="1">
                <a:solidFill>
                  <a:srgbClr val="1A2E1A"/>
                </a:solidFill>
                <a:latin typeface="Calibri"/>
              </a:rPr>
              <a:t>en</a:t>
            </a:r>
            <a:r>
              <a:rPr sz="3600" b="1" dirty="0">
                <a:solidFill>
                  <a:srgbClr val="1A2E1A"/>
                </a:solidFill>
                <a:latin typeface="Calibri"/>
              </a:rPr>
              <a:t> las </a:t>
            </a:r>
            <a:r>
              <a:rPr sz="3600" b="1" dirty="0" err="1">
                <a:solidFill>
                  <a:srgbClr val="1A2E1A"/>
                </a:solidFill>
                <a:latin typeface="Calibri"/>
              </a:rPr>
              <a:t>Alucinaciones</a:t>
            </a:r>
            <a:r>
              <a:rPr sz="3600" b="1" dirty="0">
                <a:solidFill>
                  <a:srgbClr val="1A2E1A"/>
                </a:solidFill>
                <a:latin typeface="Calibri"/>
              </a:rPr>
              <a:t> de </a:t>
            </a:r>
            <a:r>
              <a:rPr sz="3600" b="1" dirty="0" err="1">
                <a:solidFill>
                  <a:srgbClr val="1A2E1A"/>
                </a:solidFill>
                <a:latin typeface="Calibri"/>
              </a:rPr>
              <a:t>los</a:t>
            </a:r>
            <a:r>
              <a:rPr sz="3600" b="1" dirty="0">
                <a:solidFill>
                  <a:srgbClr val="1A2E1A"/>
                </a:solidFill>
                <a:latin typeface="Calibri"/>
              </a:rPr>
              <a:t>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4A5C4A"/>
                </a:solidFill>
                <a:latin typeface="Calibri"/>
              </a:rPr>
              <a:t>AgroPS — asistente documental agrícola con recuperación híbrida,
citación de fuentes y evaluación experimental de alucinaciones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7315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Samuel Lorenzo Sánchez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Tutor: Carlos Granados Aguilar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Universidad Alfonso X el Sabio · Defensa 15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4937760"/>
            <a:ext cx="2194560" cy="411480"/>
          </a:xfrm>
          <a:prstGeom prst="round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15 minutos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886" y="73152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s-ES" sz="2800" b="1" dirty="0">
                <a:solidFill>
                  <a:srgbClr val="1A2E1A"/>
                </a:solidFill>
                <a:latin typeface="Calibri"/>
              </a:rPr>
              <a:t>Fundamentos de la Arquitectura RAG</a:t>
            </a:r>
            <a:endParaRPr sz="2800" b="1" dirty="0">
              <a:solidFill>
                <a:srgbClr val="1A2E1A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4A5C4A"/>
                </a:solidFill>
                <a:latin typeface="Calibri"/>
              </a:rPr>
              <a:t>Hilo conductor de la defensa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88719"/>
            <a:ext cx="11247120" cy="4110867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s-ES" sz="2000" b="1" dirty="0">
                <a:solidFill>
                  <a:srgbClr val="1A2E1A"/>
                </a:solidFill>
                <a:latin typeface="Calibri"/>
              </a:rPr>
              <a:t>RAG: </a:t>
            </a:r>
            <a:r>
              <a:rPr lang="es-ES" sz="2000" b="1" dirty="0" err="1">
                <a:solidFill>
                  <a:srgbClr val="1A2E1A"/>
                </a:solidFill>
                <a:latin typeface="Calibri"/>
              </a:rPr>
              <a:t>Retrieval</a:t>
            </a:r>
            <a:r>
              <a:rPr lang="es-ES" sz="2000" b="1" dirty="0">
                <a:solidFill>
                  <a:srgbClr val="1A2E1A"/>
                </a:solidFill>
                <a:latin typeface="Calibri"/>
              </a:rPr>
              <a:t> </a:t>
            </a:r>
            <a:r>
              <a:rPr lang="es-ES" sz="2000" b="1" dirty="0" err="1">
                <a:solidFill>
                  <a:srgbClr val="1A2E1A"/>
                </a:solidFill>
                <a:latin typeface="Calibri"/>
              </a:rPr>
              <a:t>augmented</a:t>
            </a:r>
            <a:r>
              <a:rPr lang="es-ES" sz="2000" b="1" dirty="0">
                <a:solidFill>
                  <a:srgbClr val="1A2E1A"/>
                </a:solidFill>
                <a:latin typeface="Calibri"/>
              </a:rPr>
              <a:t> </a:t>
            </a:r>
            <a:r>
              <a:rPr lang="es-ES" sz="2000" b="1" dirty="0" err="1">
                <a:solidFill>
                  <a:srgbClr val="1A2E1A"/>
                </a:solidFill>
                <a:latin typeface="Calibri"/>
              </a:rPr>
              <a:t>generation</a:t>
            </a:r>
            <a:r>
              <a:rPr lang="es-ES" sz="2000" b="1" dirty="0">
                <a:solidFill>
                  <a:srgbClr val="1A2E1A"/>
                </a:solidFill>
                <a:latin typeface="Calibri"/>
              </a:rPr>
              <a:t>. Es un sistema que permite dar más contexto a la inteligencia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s-ES" sz="2000" b="1" dirty="0">
                <a:solidFill>
                  <a:srgbClr val="1A2E1A"/>
                </a:solidFill>
                <a:latin typeface="Calibri"/>
              </a:rPr>
              <a:t>artificial para generar su respuesta. 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s-ES" sz="2000" b="1" dirty="0">
                <a:solidFill>
                  <a:srgbClr val="1A2E1A"/>
                </a:solidFill>
                <a:latin typeface="Calibri"/>
              </a:rPr>
              <a:t>Es por ello, que he decido implementar un </a:t>
            </a:r>
            <a:r>
              <a:rPr lang="es-ES" sz="2000" b="1" dirty="0" err="1">
                <a:solidFill>
                  <a:srgbClr val="1A2E1A"/>
                </a:solidFill>
                <a:latin typeface="Calibri"/>
              </a:rPr>
              <a:t>chatbot</a:t>
            </a:r>
            <a:r>
              <a:rPr lang="es-ES" sz="2000" b="1" dirty="0">
                <a:solidFill>
                  <a:srgbClr val="1A2E1A"/>
                </a:solidFill>
                <a:latin typeface="Calibri"/>
              </a:rPr>
              <a:t> sobre la plataforma de gestión de la agricultura Canaria, enriquecido con la documentación interna subida por el usuario y de esta forma ser capaz de responder preguntas como por ejemplo: ¿Que ayudas ha concedido la PAC este 2026 para el plátano Canario? O ¿Las hojas de los plátanos están amarillentas que productos de abonado debo aplicar?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s-ES" sz="2000" b="1" dirty="0">
                <a:solidFill>
                  <a:srgbClr val="1A2E1A"/>
                </a:solidFill>
                <a:latin typeface="Calibri"/>
              </a:rPr>
              <a:t>Para evitar el </a:t>
            </a:r>
            <a:r>
              <a:rPr lang="es-ES" sz="2000" b="1" dirty="0" err="1">
                <a:solidFill>
                  <a:srgbClr val="1A2E1A"/>
                </a:solidFill>
                <a:latin typeface="Calibri"/>
              </a:rPr>
              <a:t>prompt</a:t>
            </a:r>
            <a:r>
              <a:rPr lang="es-ES" sz="2000" b="1" dirty="0">
                <a:solidFill>
                  <a:srgbClr val="1A2E1A"/>
                </a:solidFill>
                <a:latin typeface="Calibri"/>
              </a:rPr>
              <a:t> </a:t>
            </a:r>
            <a:r>
              <a:rPr lang="es-ES" sz="2000" b="1" dirty="0" err="1">
                <a:solidFill>
                  <a:srgbClr val="1A2E1A"/>
                </a:solidFill>
                <a:latin typeface="Calibri"/>
              </a:rPr>
              <a:t>injection</a:t>
            </a:r>
            <a:r>
              <a:rPr lang="es-ES" sz="2000" b="1" dirty="0">
                <a:solidFill>
                  <a:srgbClr val="1A2E1A"/>
                </a:solidFill>
                <a:latin typeface="Calibri"/>
              </a:rPr>
              <a:t>. Se han añadido </a:t>
            </a:r>
            <a:r>
              <a:rPr lang="es-ES" sz="2000" b="1" dirty="0" err="1">
                <a:solidFill>
                  <a:srgbClr val="1A2E1A"/>
                </a:solidFill>
                <a:latin typeface="Calibri"/>
              </a:rPr>
              <a:t>guardarails</a:t>
            </a:r>
            <a:r>
              <a:rPr lang="es-ES" sz="2000" b="1" dirty="0">
                <a:solidFill>
                  <a:srgbClr val="1A2E1A"/>
                </a:solidFill>
                <a:latin typeface="Calibri"/>
              </a:rPr>
              <a:t> para evitar que la pregunta caiga fuera de la base de conocimiento y que </a:t>
            </a:r>
            <a:r>
              <a:rPr lang="es-ES" sz="2000" b="1" dirty="0" err="1">
                <a:solidFill>
                  <a:srgbClr val="1A2E1A"/>
                </a:solidFill>
                <a:latin typeface="Calibri"/>
              </a:rPr>
              <a:t>bot</a:t>
            </a:r>
            <a:r>
              <a:rPr lang="es-ES" sz="2000" b="1" dirty="0">
                <a:solidFill>
                  <a:srgbClr val="1A2E1A"/>
                </a:solidFill>
                <a:latin typeface="Calibri"/>
              </a:rPr>
              <a:t> pueda devolver: “Su pregunta no se encuentra en la base de datos”.  Además, se espera que el </a:t>
            </a:r>
            <a:r>
              <a:rPr lang="es-ES" sz="2000" b="1" dirty="0" err="1">
                <a:solidFill>
                  <a:srgbClr val="1A2E1A"/>
                </a:solidFill>
                <a:latin typeface="Calibri"/>
              </a:rPr>
              <a:t>chatbot</a:t>
            </a:r>
            <a:r>
              <a:rPr lang="es-ES" sz="2000" b="1" dirty="0">
                <a:solidFill>
                  <a:srgbClr val="1A2E1A"/>
                </a:solidFill>
                <a:latin typeface="Calibri"/>
              </a:rPr>
              <a:t> </a:t>
            </a:r>
            <a:r>
              <a:rPr lang="es-ES" sz="2000" b="1" dirty="0" err="1">
                <a:solidFill>
                  <a:srgbClr val="1A2E1A"/>
                </a:solidFill>
                <a:latin typeface="Calibri"/>
              </a:rPr>
              <a:t>devulva</a:t>
            </a:r>
            <a:r>
              <a:rPr lang="es-ES" sz="2000" b="1" dirty="0">
                <a:solidFill>
                  <a:srgbClr val="1A2E1A"/>
                </a:solidFill>
                <a:latin typeface="Calibri"/>
              </a:rPr>
              <a:t> preguntas relacionadas su pregunta.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600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sz="1400" b="1" dirty="0">
              <a:solidFill>
                <a:srgbClr val="2F6B3A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guion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1F7DD-8C68-8DD4-6961-076C6EE6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B360F3-3BF8-D647-EEEB-88D65F0C43E4}"/>
              </a:ext>
            </a:extLst>
          </p:cNvPr>
          <p:cNvSpPr/>
          <p:nvPr/>
        </p:nvSpPr>
        <p:spPr>
          <a:xfrm>
            <a:off x="-15088" y="36576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E570F0-2B7D-A5A0-0EDC-937450B19449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54882-3A55-4B47-DECC-6602E940A83C}"/>
              </a:ext>
            </a:extLst>
          </p:cNvPr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sz="2800" b="1" dirty="0">
              <a:solidFill>
                <a:srgbClr val="1A2E1A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E90A26-8BBB-9AFD-6C3C-B6C85207017C}"/>
              </a:ext>
            </a:extLst>
          </p:cNvPr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4A5C4A"/>
                </a:solidFill>
                <a:latin typeface="Calibri"/>
              </a:rPr>
              <a:t>Hilo conductor de la defensa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5F27601-BC78-DAC5-3C07-ADAF017DDC61}"/>
              </a:ext>
            </a:extLst>
          </p:cNvPr>
          <p:cNvSpPr/>
          <p:nvPr/>
        </p:nvSpPr>
        <p:spPr>
          <a:xfrm>
            <a:off x="472287" y="1188719"/>
            <a:ext cx="4999100" cy="4325113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D8470-AE8C-C757-1E98-67A631A80AE4}"/>
              </a:ext>
            </a:extLst>
          </p:cNvPr>
          <p:cNvSpPr txBox="1"/>
          <p:nvPr/>
        </p:nvSpPr>
        <p:spPr>
          <a:xfrm>
            <a:off x="548640" y="3200400"/>
            <a:ext cx="1600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sz="1400" b="1" dirty="0">
              <a:solidFill>
                <a:srgbClr val="2F6B3A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C4D4ED-BDF3-DDD7-62F5-596AB74846A2}"/>
              </a:ext>
            </a:extLst>
          </p:cNvPr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guion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E818EC-0FCA-6629-E23A-4A733239534A}"/>
              </a:ext>
            </a:extLst>
          </p:cNvPr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2/12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63D09AB6-A460-EC52-ADAF-AA8E9C69ABC0}"/>
              </a:ext>
            </a:extLst>
          </p:cNvPr>
          <p:cNvSpPr txBox="1"/>
          <p:nvPr/>
        </p:nvSpPr>
        <p:spPr>
          <a:xfrm>
            <a:off x="457200" y="2339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s-ES" sz="2800" b="1" dirty="0">
                <a:solidFill>
                  <a:srgbClr val="1A2E1A"/>
                </a:solidFill>
                <a:latin typeface="Calibri"/>
              </a:rPr>
              <a:t>Fundamentos de la Arquitectura RAG</a:t>
            </a:r>
            <a:endParaRPr sz="2800" b="1" dirty="0">
              <a:solidFill>
                <a:srgbClr val="1A2E1A"/>
              </a:solidFill>
              <a:latin typeface="Calibri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E0E8FA5-6DAD-11C3-56F8-E3A34DC11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2516" y="391158"/>
            <a:ext cx="3680536" cy="5963534"/>
          </a:xfrm>
          <a:prstGeom prst="rect">
            <a:avLst/>
          </a:prstGeom>
        </p:spPr>
      </p:pic>
      <p:sp>
        <p:nvSpPr>
          <p:cNvPr id="13" name="TextBox 6">
            <a:extLst>
              <a:ext uri="{FF2B5EF4-FFF2-40B4-BE49-F238E27FC236}">
                <a16:creationId xmlns:a16="http://schemas.microsoft.com/office/drawing/2014/main" id="{F2F1774C-59B9-E192-975D-43ED715DCB31}"/>
              </a:ext>
            </a:extLst>
          </p:cNvPr>
          <p:cNvSpPr txBox="1"/>
          <p:nvPr/>
        </p:nvSpPr>
        <p:spPr>
          <a:xfrm>
            <a:off x="731520" y="1371600"/>
            <a:ext cx="4656557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A972779-0917-2ADE-9169-6149FE1591D6}"/>
              </a:ext>
            </a:extLst>
          </p:cNvPr>
          <p:cNvSpPr txBox="1"/>
          <p:nvPr/>
        </p:nvSpPr>
        <p:spPr>
          <a:xfrm>
            <a:off x="645258" y="1674302"/>
            <a:ext cx="482612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El problema que se quiere resolver es que </a:t>
            </a:r>
          </a:p>
          <a:p>
            <a:r>
              <a:rPr lang="es-ES" dirty="0"/>
              <a:t>dada una pregunta de un usuario (</a:t>
            </a:r>
            <a:r>
              <a:rPr lang="es-ES" dirty="0" err="1"/>
              <a:t>prompt</a:t>
            </a:r>
            <a:r>
              <a:rPr lang="es-ES" dirty="0"/>
              <a:t>),</a:t>
            </a:r>
          </a:p>
          <a:p>
            <a:r>
              <a:rPr lang="es-ES" dirty="0"/>
              <a:t>se tiene que buscar la información </a:t>
            </a:r>
          </a:p>
          <a:p>
            <a:r>
              <a:rPr lang="es-ES" dirty="0"/>
              <a:t>en una base de datos</a:t>
            </a:r>
          </a:p>
          <a:p>
            <a:r>
              <a:rPr lang="es-ES" dirty="0"/>
              <a:t>externa e incrustar los fragmentos en el contexto </a:t>
            </a:r>
          </a:p>
          <a:p>
            <a:r>
              <a:rPr lang="es-ES" dirty="0"/>
              <a:t>para que el LLM sea el encargado de devolver </a:t>
            </a:r>
          </a:p>
          <a:p>
            <a:r>
              <a:rPr lang="es-ES" dirty="0"/>
              <a:t>la respuesta. </a:t>
            </a:r>
          </a:p>
          <a:p>
            <a:endParaRPr lang="es-ES" dirty="0"/>
          </a:p>
          <a:p>
            <a:endParaRPr lang="es-ES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84C4161E-697D-B0A7-2BB0-21FE0B98C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58382"/>
            <a:ext cx="4470749" cy="123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112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8556E-4DAE-588B-D02D-4E022ECE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78E005-D448-1899-BB35-CA017CB26F93}"/>
              </a:ext>
            </a:extLst>
          </p:cNvPr>
          <p:cNvSpPr/>
          <p:nvPr/>
        </p:nvSpPr>
        <p:spPr>
          <a:xfrm>
            <a:off x="-15088" y="36576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4EDBF9-587C-1200-B176-DF69EA8FEF4E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EF9E3-EFC0-5920-1BC9-97DF5BF8292E}"/>
              </a:ext>
            </a:extLst>
          </p:cNvPr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endParaRPr sz="2800" b="1" dirty="0">
              <a:solidFill>
                <a:srgbClr val="1A2E1A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E1A97-2394-6AD2-6DDB-C8594D894D97}"/>
              </a:ext>
            </a:extLst>
          </p:cNvPr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4A5C4A"/>
                </a:solidFill>
                <a:latin typeface="Calibri"/>
              </a:rPr>
              <a:t>Hilo conductor de la defensa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D90571D-CEE0-CAC2-43A4-12034C5C3EE2}"/>
              </a:ext>
            </a:extLst>
          </p:cNvPr>
          <p:cNvSpPr/>
          <p:nvPr/>
        </p:nvSpPr>
        <p:spPr>
          <a:xfrm>
            <a:off x="457200" y="1266443"/>
            <a:ext cx="4999100" cy="4325113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3B36E3-B31C-AEF3-84C1-25D8F5E09230}"/>
              </a:ext>
            </a:extLst>
          </p:cNvPr>
          <p:cNvSpPr txBox="1"/>
          <p:nvPr/>
        </p:nvSpPr>
        <p:spPr>
          <a:xfrm>
            <a:off x="548640" y="3200400"/>
            <a:ext cx="1600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sz="1400" b="1" dirty="0">
              <a:solidFill>
                <a:srgbClr val="2F6B3A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851CB15-7213-9E8F-FD2C-57A27A3A153C}"/>
              </a:ext>
            </a:extLst>
          </p:cNvPr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guion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D34411D-C1E2-0F0C-3682-76BB988FF936}"/>
              </a:ext>
            </a:extLst>
          </p:cNvPr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2/12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4794E33F-C9FA-8FFF-82F9-707D390A9DD0}"/>
              </a:ext>
            </a:extLst>
          </p:cNvPr>
          <p:cNvSpPr txBox="1"/>
          <p:nvPr/>
        </p:nvSpPr>
        <p:spPr>
          <a:xfrm>
            <a:off x="457200" y="233908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s-ES" sz="2800" b="1" dirty="0">
                <a:solidFill>
                  <a:srgbClr val="1A2E1A"/>
                </a:solidFill>
                <a:latin typeface="Calibri"/>
              </a:rPr>
              <a:t>Fundamentos de la Arquitectura RAG</a:t>
            </a:r>
            <a:endParaRPr sz="2800" b="1" dirty="0">
              <a:solidFill>
                <a:srgbClr val="1A2E1A"/>
              </a:solidFill>
              <a:latin typeface="Calibri"/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A5A6B682-43F8-B65C-E740-D293B3A2C4FC}"/>
              </a:ext>
            </a:extLst>
          </p:cNvPr>
          <p:cNvSpPr txBox="1"/>
          <p:nvPr/>
        </p:nvSpPr>
        <p:spPr>
          <a:xfrm>
            <a:off x="731520" y="1371600"/>
            <a:ext cx="4656557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s-ES" sz="2000" b="1" dirty="0">
              <a:solidFill>
                <a:srgbClr val="1A2E1A"/>
              </a:solidFill>
              <a:latin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854FB22-4B75-F0AF-0C31-8028A51CC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490" y="1769062"/>
            <a:ext cx="1629002" cy="16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846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E1A"/>
                </a:solidFill>
                <a:latin typeface="Calibri"/>
              </a:rPr>
              <a:t>El problema: LLMs fluidos, hechos frágiles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Dominio agrario no tolera cifras inventadas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69494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109728" cy="1280160"/>
          </a:xfrm>
          <a:prstGeom prst="rect">
            <a:avLst/>
          </a:prstGeom>
          <a:solidFill>
            <a:srgbClr val="8B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A2E1A"/>
                </a:solidFill>
                <a:latin typeface="Calibri"/>
              </a:rPr>
              <a:t>Alucinación extrínseca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6400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El modelo inventa importes, plazos, códigos de ayuda o referencias no presentes en el expediente.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651760"/>
            <a:ext cx="69494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09728" cy="1280160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83464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A2E1A"/>
                </a:solidFill>
                <a:latin typeface="Calibri"/>
              </a:rPr>
              <a:t>Conocimiento estático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6400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Un LLM aislado no se actualiza con boletines POSEI/PAC ni con el corpus interno del asesor.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069080"/>
            <a:ext cx="694944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4069080"/>
            <a:ext cx="109728" cy="1280160"/>
          </a:xfrm>
          <a:prstGeom prst="rect">
            <a:avLst/>
          </a:prstGeom>
          <a:solidFill>
            <a:srgbClr val="4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25196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1A2E1A"/>
                </a:solidFill>
                <a:latin typeface="Calibri"/>
              </a:rPr>
              <a:t>Riesgo operativo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6400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En asesoría normativa, una respuesta plausible pero falsa es peor que abstenerse.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234440"/>
            <a:ext cx="4023360" cy="429768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79" y="1463040"/>
            <a:ext cx="3566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8B2E2E"/>
                </a:solidFill>
                <a:latin typeface="Calibri"/>
              </a:rPr>
              <a:t>Respuesta ingenua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011680"/>
            <a:ext cx="3566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Pregunta → LLM → texto fluido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Sin evidencia anclada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Sin citas auditables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Sin abstención controlada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Sin métrica de alucinación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problema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E1A"/>
                </a:solidFill>
                <a:latin typeface="Calibri"/>
              </a:rPr>
              <a:t>Solución: AgroPS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MVP contenedorizado para anclar la generación a evidencia</a:t>
            </a:r>
          </a:p>
        </p:txBody>
      </p:sp>
      <p:pic>
        <p:nvPicPr>
          <p:cNvPr id="6" name="Picture 5" descr="diagrama-despliegue-ag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132320" cy="407561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80960" y="1097280"/>
            <a:ext cx="402336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79" y="128016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Qué entrega el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73736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Ingesta documental multi-tenant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Chat con citación de fuentes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RAG híbrido (denso + BM25 + RRF)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Orquestación agéntica (LangGraph)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Labs de retrieval y evaluación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Stack: React · FastAPI · pgvector · Ollama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• LLM: llama3.2 · embed: nomic-embed-text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E1A"/>
                </a:solidFill>
                <a:latin typeface="Calibri"/>
              </a:rPr>
              <a:t>Técnicas de IA aplicadas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Cada bloque resuelve una parte del fallo factual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377440" cy="365760"/>
          </a:xfrm>
          <a:prstGeom prst="round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Recupera chunks y los inyecta en el prompt antes de generar.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14300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74720" y="1371600"/>
            <a:ext cx="2377440" cy="365760"/>
          </a:xfrm>
          <a:prstGeom prst="round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Embeddings densos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96596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k-NN lazy: pregunta vs chunks. Distancia coseno en pgvector/HNSW (k=10).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4300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0" y="1371600"/>
            <a:ext cx="2377440" cy="365760"/>
          </a:xfrm>
          <a:prstGeom prst="round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BM25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6596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Captura términos exactos: códigos, ayudas, normas.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14300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326880" y="1371600"/>
            <a:ext cx="2377440" cy="365760"/>
          </a:xfrm>
          <a:prstGeom prst="round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RRF (k=60)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96596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Fusiona rankings densos + léxicos en uno solo.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1188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2377440" cy="365760"/>
          </a:xfrm>
          <a:prstGeom prst="round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Expansión léxica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Sinónimos agrarios (cultivo, plaga, ayuda).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61188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474720" y="3840480"/>
            <a:ext cx="2377440" cy="365760"/>
          </a:xfrm>
          <a:prstGeom prst="round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Agentic RAG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43484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LangGraph: plan → retrieve → grade → rewrite → generate.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1188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2377440" cy="365760"/>
          </a:xfrm>
          <a:prstGeom prst="round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Multimodal (ingesta)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43484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PDF+OCR (RapidOCR) y audio/vídeo (Whisper).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3611880"/>
            <a:ext cx="274320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326880" y="3840480"/>
            <a:ext cx="2377440" cy="365760"/>
          </a:xfrm>
          <a:prstGeom prst="round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LLM-as-a-Judge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434840"/>
            <a:ext cx="2377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Exactitud / exhaustividad / relevancia + flag de alucinación.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2E1A"/>
                </a:solidFill>
                <a:latin typeface="Calibri"/>
              </a:rPr>
              <a:t>k-NN: de la clasificación (UD3) a la recuperación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Mismo learner instance-based; distinto objetivo (recuperar evidencia, no votar una clase)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78992"/>
            <a:ext cx="562356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109728" cy="4160520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61872"/>
            <a:ext cx="3291840" cy="347472"/>
          </a:xfrm>
          <a:prstGeom prst="round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UD3 · Clasificación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5074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k-NN es supervisado, no paramétrico y lazy: no estima un modelo; almacena los ejemplos y decide en consulta.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1. Elegir k (sesgo–varianza).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2. Medir distancia a todos los casos (euclídea en el curso).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3. Tomar los k vecinos más cercanos.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4. Predecir por voto mayoritario de la etiqueta.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Ejemplo del curso: maligno/benigno. El output es una clase.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078992"/>
            <a:ext cx="562356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078992"/>
            <a:ext cx="109728" cy="416052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0" y="1261872"/>
            <a:ext cx="3566160" cy="347472"/>
          </a:xfrm>
          <a:prstGeom prst="round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AgroPS · Recuperación densa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37360"/>
            <a:ext cx="50749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Los “ejemplos” son embeddings de chunks (nomic-embed-text). “Entrenar” es persistirlos en pgvector.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1. k = retrieval_k = 10.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2. Distancia coseno pregunta ↔ chunk.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3. Devolver los k chunks más cercanos (no hay voto).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4. Esos fragmentos se inyectan al prompt de Llama 3.2.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La etiqueta no existe: el “vecino” es evidencia documental.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376672"/>
            <a:ext cx="11430000" cy="86868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5321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A2E1A"/>
                </a:solidFill>
                <a:latin typeface="Calibri"/>
              </a:rPr>
              <a:t>Lazy learner: el coste está en la consulta (medir distancias). El curso recomienda indexación / vecinos aproximados → en AgroPS, HNSW con vector_cosine_ops.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k-NN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4630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A2E1A"/>
                </a:solidFill>
                <a:latin typeface="Calibri"/>
              </a:rPr>
              <a:t>Cómo entra cada texto al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5C4A"/>
                </a:solidFill>
                <a:latin typeface="Calibri"/>
              </a:rPr>
              <a:t>Documentos y prompt pasan por el mismo modelo. La query busca en pgvector y devuelve los k vecinos (coseno, k=10).</a:t>
            </a:r>
          </a:p>
        </p:txBody>
      </p:sp>
      <p:pic>
        <p:nvPicPr>
          <p:cNvPr id="6" name="Picture 5" descr="diagrama-embeddings-k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868680"/>
            <a:ext cx="11612880" cy="50572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2E1A"/>
                </a:solidFill>
                <a:latin typeface="Calibri"/>
              </a:rPr>
              <a:t>Métrica de búsqueda: distancia coseno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UD3: euclídea / Manhattan / coseno. Producción AgroPS: solo coseno (L1/L2 quedan para el laboratorio)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7033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03320" cy="9144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E1A"/>
                </a:solidFill>
                <a:latin typeface="Calibri"/>
              </a:rPr>
              <a:t>Coseno (producción)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69164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1 − (q · d) / (‖q‖ ‖d‖)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94560"/>
            <a:ext cx="3383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Ángulo entre vectores. Robusto a la magnitud; el estándar en embeddings de texto.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097280"/>
            <a:ext cx="37033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097280"/>
            <a:ext cx="3703320" cy="91440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2801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E1A"/>
                </a:solidFill>
                <a:latin typeface="Calibri"/>
              </a:rPr>
              <a:t>Euclídea L2 (curso / lab)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169164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47A2A"/>
                </a:solidFill>
                <a:latin typeface="Calibri"/>
              </a:rPr>
              <a:t>√ Σ (qᵢ − dᵢ)²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194560"/>
            <a:ext cx="3383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Distancia geométrica. Por defecto en la UD3. En AgroPS solo en ablación.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097280"/>
            <a:ext cx="3703320" cy="2331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097280"/>
            <a:ext cx="3703320" cy="91440"/>
          </a:xfrm>
          <a:prstGeom prst="rect">
            <a:avLst/>
          </a:prstGeom>
          <a:solidFill>
            <a:srgbClr val="4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28016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A2E1A"/>
                </a:solidFill>
                <a:latin typeface="Calibri"/>
              </a:rPr>
              <a:t>Manhattan L1 (lab)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691640"/>
            <a:ext cx="3383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4A5C4A"/>
                </a:solidFill>
                <a:latin typeface="Calibri"/>
              </a:rPr>
              <a:t>Σ |qᵢ − dᵢ|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194560"/>
            <a:ext cx="3383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Suma de desviaciones. Sensible a escala; no usa el índice HNSW.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611880"/>
            <a:ext cx="5623560" cy="1170432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21608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Por qué coseno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50792"/>
            <a:ext cx="5257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E1A"/>
                </a:solidFill>
                <a:latin typeface="Calibri"/>
              </a:rPr>
              <a:t>nomic-embed-text (768-d) se compara por semejanza angular. Padding a 4096 con ceros no cambia el ángulo.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611880"/>
            <a:ext cx="56235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721608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Elección de 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050792"/>
            <a:ext cx="5257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E1A"/>
                </a:solidFill>
                <a:latin typeface="Calibri"/>
              </a:rPr>
              <a:t>k pequeño: ruido (un chunk irrelevante manda). k grande: se diluye la evidencia. AgroPS: retrieval_k = 10 → RRF → final_k.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892040"/>
            <a:ext cx="56235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01768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Escala / modelos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330952"/>
            <a:ext cx="5257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E1A"/>
                </a:solidFill>
                <a:latin typeface="Calibri"/>
              </a:rPr>
              <a:t>k-NN es sensible a escala y a mezclar espacios. Filtramos por model: nunca se compara Nomic con Qwen3.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892040"/>
            <a:ext cx="5623560" cy="11704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001768"/>
            <a:ext cx="5257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Índice ANN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330952"/>
            <a:ext cx="5257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E1A"/>
                </a:solidFill>
                <a:latin typeface="Calibri"/>
              </a:rPr>
              <a:t>HNSW (m=16, ef_construction=64) sobre subvector 2000-d. Vecinos aproximados: la predicción deja de ser O(n) brute-force.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distancia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>
                <a:solidFill>
                  <a:srgbClr val="1A2E1A"/>
                </a:solidFill>
                <a:latin typeface="Calibri"/>
              </a:rPr>
              <a:t>Embeddings = puntos. Ejemplo A(1,2) y B(4,6)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"/>
            <a:ext cx="11430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A = embedding de la pregunta · B = embedding de un chunk. En AgroPS hay 768 dimensiones; en 2D se ve la misma geometría.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14400"/>
            <a:ext cx="4617720" cy="5349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jemplo-distancias-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343400" cy="449414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074920" y="914400"/>
            <a:ext cx="67665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74920" y="914400"/>
            <a:ext cx="109728" cy="1325880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49240" y="1024128"/>
            <a:ext cx="3246120" cy="292608"/>
          </a:xfrm>
          <a:prstGeom prst="round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Euclidiana (L2)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98755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2200" b="1">
                <a:solidFill>
                  <a:srgbClr val="C47A2A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371600"/>
            <a:ext cx="6263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2E1A"/>
                </a:solidFill>
                <a:latin typeface="Calibri"/>
              </a:rPr>
              <a:t>√((4−1)² + (6−2)²) = √(9+16) =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737360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Línea recta (Pitágoras). En el lab, no en el chat.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331720"/>
            <a:ext cx="6766560" cy="1325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2331720"/>
            <a:ext cx="109728" cy="1325880"/>
          </a:xfrm>
          <a:prstGeom prst="rect">
            <a:avLst/>
          </a:prstGeom>
          <a:solidFill>
            <a:srgbClr val="4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349240" y="2441448"/>
            <a:ext cx="3246120" cy="292608"/>
          </a:xfrm>
          <a:prstGeom prst="roundRect">
            <a:avLst/>
          </a:prstGeom>
          <a:solidFill>
            <a:srgbClr val="4A5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Manhattan (L1)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404872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2200" b="1">
                <a:solidFill>
                  <a:srgbClr val="4A5C4A"/>
                </a:solidFill>
                <a:latin typeface="Calibr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788920"/>
            <a:ext cx="6263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2E1A"/>
                </a:solidFill>
                <a:latin typeface="Calibri"/>
              </a:rPr>
              <a:t>|4−1| + |6−2| = 3+4 =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154680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Camino en cuadrícula. Tampoco usa HNSW.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74920" y="3749039"/>
            <a:ext cx="6766560" cy="132588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3749039"/>
            <a:ext cx="109728" cy="132588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49240" y="3858767"/>
            <a:ext cx="3246120" cy="292608"/>
          </a:xfrm>
          <a:prstGeom prst="round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Coseno  ← producción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822191"/>
            <a:ext cx="2880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2200" b="1">
                <a:solidFill>
                  <a:srgbClr val="2F6B3A"/>
                </a:solidFill>
                <a:latin typeface="Calibri"/>
              </a:rPr>
              <a:t>0,0076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4206239"/>
            <a:ext cx="6263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2E1A"/>
                </a:solidFill>
                <a:latin typeface="Calibri"/>
              </a:rPr>
              <a:t>1 − 16 / √260 ≈ 1 − 0,9924 = 0,0076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4571999"/>
            <a:ext cx="6263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Ángulo, no magnitud. Casi 0 = muy similares.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5212080"/>
            <a:ext cx="6766560" cy="105156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5349240"/>
            <a:ext cx="64465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A2E1A"/>
                </a:solidFill>
                <a:latin typeface="Calibri"/>
              </a:rPr>
              <a:t>k-NN ordena todos los B por d(A,B) y se queda con k=10 más cercanos. Coseno ≈ 0 ⇒ mismo ángulo semántico. L2=5 y L1=7 miden «cuánto se recorre»; en texto importa la orientación, por eso AgroPS usa coseno + HNSW.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ejemplo distancias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E1A"/>
                </a:solidFill>
                <a:latin typeface="Calibri"/>
              </a:rPr>
              <a:t>Pipeline: recuperación híbrida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El núcleo medido en la evaluación principal</a:t>
            </a:r>
          </a:p>
        </p:txBody>
      </p:sp>
      <p:pic>
        <p:nvPicPr>
          <p:cNvPr id="6" name="Picture 5" descr="diagrama-respuesta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98079" cy="425264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051560"/>
            <a:ext cx="3931920" cy="4846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234440"/>
            <a:ext cx="3566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Flujo de respuesta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73736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1. Pregunta + tenant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2. Dense k=10 ∥ BM25 k=10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3. (± expansión / rewrite)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4. RRF → top final_k=8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5. Si vacío → abstener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6. Prompt anclado + Llama 3.2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7. Respuesta + fuentes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E1A"/>
                </a:solidFill>
                <a:latin typeface="Calibri"/>
              </a:rPr>
              <a:t>Patrones de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Arquitectura hexagonal para un RAG testeable y sustituible</a:t>
            </a:r>
          </a:p>
        </p:txBody>
      </p:sp>
      <p:pic>
        <p:nvPicPr>
          <p:cNvPr id="6" name="Picture 5" descr="hexagono-rag-agr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3611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097280"/>
            <a:ext cx="4937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0" y="117043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Ports &amp; Adapters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44475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ChunkRepository, EmbeddingPort, LlmPort, RerankerPort…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1874519"/>
            <a:ext cx="4937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0" y="1947671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Casos de uso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21991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HybridRetrieve, AnswerQuestion, IngestDocument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651760"/>
            <a:ext cx="4937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40880" y="272491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Composition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99923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build_rag_container cablea el hexágono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429000"/>
            <a:ext cx="4937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350215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LangGraph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377647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Orquestación agéntica desacoplada del recuperador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4206240"/>
            <a:ext cx="4937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0" y="427939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Multi-tenant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55371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Aislamiento por tenant_id / knowledge base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983480"/>
            <a:ext cx="4937760" cy="685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40880" y="505663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F6B3A"/>
                </a:solidFill>
                <a:latin typeface="Calibri"/>
              </a:rPr>
              <a:t>Citación persistida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330952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A5C4A"/>
                </a:solidFill>
                <a:latin typeface="Calibri"/>
              </a:rPr>
              <a:t>MessageSource: respuesta ↔ chunk ↔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E1A"/>
                </a:solidFill>
                <a:latin typeface="Calibri"/>
              </a:rPr>
              <a:t>Cómo mitigamos las alucinaciones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Capa sobre capa: recuperar bien → generar anclado → abstener → citar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37033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03320" cy="109728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1. Grounding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6596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SYSTEM_PROMPT: usar solo el contexto; si falta evidencia, decirlo sin inventar dosis, plazos ni cifras.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43000"/>
            <a:ext cx="37033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60" y="1143000"/>
            <a:ext cx="3703320" cy="109728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2. Abstención rápida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6596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RAG_FAST_ABSTAIN: sin chunks → plantilla out-of-knowledge sin llamar al LLM.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43000"/>
            <a:ext cx="37033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3703320" cy="109728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46304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3. Retrieval híbrido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6596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Denso + BM25 + RRF aumenta la probabilidad de evidencia correcta.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611880"/>
            <a:ext cx="37033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611880"/>
            <a:ext cx="3703320" cy="109728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4. Citas auditables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UI muestra fuentes (archivo/chunk/score); trazabilidad para el asesor.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611880"/>
            <a:ext cx="37033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51960" y="3611880"/>
            <a:ext cx="3703320" cy="109728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39319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5. Ámbito tenant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3484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No mezclar corpus de otras organizaciones.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611880"/>
            <a:ext cx="370332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60" y="3611880"/>
            <a:ext cx="3703320" cy="109728"/>
          </a:xfrm>
          <a:prstGeom prst="rect">
            <a:avLst/>
          </a:prstGeom>
          <a:solidFill>
            <a:srgbClr val="C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39319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6. Grader agéntico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43484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4A5C4A"/>
                </a:solidFill>
                <a:latin typeface="Calibri"/>
              </a:rPr>
              <a:t>Si relevancia = no → plantilla o rewrite (máx. 1), evita responder con contexto irrelevante.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anti-alucinación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E1A"/>
                </a:solidFill>
                <a:latin typeface="Calibri"/>
              </a:rPr>
              <a:t>Diseño experimental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Corrida congelada canónica: run_20260819T165515Z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6576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F6B3A"/>
                </a:solidFill>
                <a:latin typeface="Calibri"/>
              </a:rPr>
              <a:t>Protocolo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200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Banco oro N=35 (7×5)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Corpus asesor-canarias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Vanilla LLM vs RAG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MRR + cobertura keywords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Juez local 1–5 + is_hallucination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Misma generación: llama3.2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Eval principal = híbrido top-k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4300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Exactitud juez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2024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F6B3A"/>
                </a:solidFill>
                <a:latin typeface="Calibri"/>
              </a:rPr>
              <a:t>3,31 → 4,46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2697480"/>
            <a:ext cx="1280160" cy="36576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F6B3A"/>
                </a:solidFill>
                <a:latin typeface="Calibri"/>
              </a:rPr>
              <a:t>+1,14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14300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59" y="1417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Alucinación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192024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1F6B3A"/>
                </a:solidFill>
                <a:latin typeface="Calibri"/>
              </a:rPr>
              <a:t>31,4% → 8,6%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59" y="2697480"/>
            <a:ext cx="1280160" cy="36576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F6B3A"/>
                </a:solidFill>
                <a:latin typeface="Calibri"/>
              </a:rPr>
              <a:t>÷ ~4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2044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720" y="37947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MRR híbrido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29768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F6B3A"/>
                </a:solidFill>
                <a:latin typeface="Calibri"/>
              </a:rPr>
              <a:t>0,8108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5074920"/>
            <a:ext cx="1280160" cy="36576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F6B3A"/>
                </a:solidFill>
                <a:latin typeface="Calibri"/>
              </a:rPr>
              <a:t>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3520440"/>
            <a:ext cx="356616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59" y="379476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Cobertura KW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429768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2F6B3A"/>
                </a:solidFill>
                <a:latin typeface="Calibri"/>
              </a:rPr>
              <a:t>0,9643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59" y="5074920"/>
            <a:ext cx="1280160" cy="36576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2F6B3A"/>
                </a:solidFill>
                <a:latin typeface="Calibri"/>
              </a:rPr>
              <a:t>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evaluación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E1A"/>
                </a:solidFill>
                <a:latin typeface="Calibri"/>
              </a:rPr>
              <a:t>Resultados: RAG vs vanilla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Mitiga, no erradica — y el hueco está en trazabilidad</a:t>
            </a:r>
          </a:p>
        </p:txBody>
      </p:sp>
      <p:pic>
        <p:nvPicPr>
          <p:cNvPr id="6" name="Picture 5" descr="metricas-rag-vs-no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669280" cy="3529021"/>
          </a:xfrm>
          <a:prstGeom prst="rect">
            <a:avLst/>
          </a:prstGeom>
        </p:spPr>
      </p:pic>
      <p:pic>
        <p:nvPicPr>
          <p:cNvPr id="7" name="Picture 6" descr="metricas-mrr-categor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486400" cy="35947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94960"/>
            <a:ext cx="11247120" cy="82296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532120"/>
            <a:ext cx="1078992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A2E1A"/>
                </a:solidFill>
                <a:latin typeface="Calibri"/>
              </a:rPr>
              <a:t>Fortaleza: spanning / regulatory_compliance (acc. 5,0; hall. 0).  Debilidad: traceability (hall. residual ~0,20).  El juez automático ≠ auditoría humana.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resultados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1">
                <a:solidFill>
                  <a:srgbClr val="1A2E1A"/>
                </a:solidFill>
                <a:latin typeface="Calibri"/>
              </a:rPr>
              <a:t>Límites honestos y 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4A5C4A"/>
                </a:solidFill>
                <a:latin typeface="Calibri"/>
              </a:rPr>
              <a:t>Lo que el tribunal debe recordar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548640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C47A2A"/>
                </a:solidFill>
                <a:latin typeface="Calibri"/>
              </a:rPr>
              <a:t>Límites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N=35: evidencia principal acotada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Juez = mismo LLM (posible leakage)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Sin ablación dens vs híbrido / reranker / agentic en la corrida canónica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RAGAS no ejecutado en run congelada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1A2E1A"/>
                </a:solidFill>
                <a:latin typeface="Calibri"/>
              </a:rPr>
              <a:t>• Mitigar ≠ certificar producción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43000"/>
            <a:ext cx="5486400" cy="475488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3258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F6B3A"/>
                </a:solidFill>
                <a:latin typeface="Calibri"/>
              </a:rPr>
              <a:t>Conclusión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5029200" cy="3474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1A2E1A"/>
                </a:solidFill>
                <a:latin typeface="Calibri"/>
              </a:rPr>
              <a:t>RAG híbrido reduce el riesgo de alucinación extrínseca en los casos evaluados (31,4% → 8,6%) y mejora la exactitud (+1,14), pero no lo erradica.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A5C4A"/>
                </a:solidFill>
                <a:latin typeface="Calibri"/>
              </a:rPr>
              <a:t>La arquitectura hexagonal y la citación hacen el sistema auditable y evolutivo; el juez automático no sustituye validación humana.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AgroPS · Defensa TFM · cierre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A5C4A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E1A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5C4A"/>
                </a:solidFill>
                <a:latin typeface="Calibri"/>
              </a:rPr>
              <a:t>Preguntas · Demo de chat con citas · Lab de evaluación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06240"/>
            <a:ext cx="10241280" cy="1371600"/>
          </a:xfrm>
          <a:prstGeom prst="roundRect">
            <a:avLst/>
          </a:prstGeom>
          <a:solidFill>
            <a:srgbClr val="E8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34840"/>
            <a:ext cx="9692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E1A"/>
                </a:solidFill>
                <a:latin typeface="Calibri"/>
              </a:rPr>
              <a:t>Frase de defensa: «No prometemos cero alucinaciones; demostramos un anclaje medible
a evidencia recuperada, con abstención, citas y arquitectura sustituible.»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1178</Words>
  <Application>Microsoft Office PowerPoint</Application>
  <PresentationFormat>Panorámica</PresentationFormat>
  <Paragraphs>174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Samuel Lorenzo Sánchez</cp:lastModifiedBy>
  <cp:revision>2</cp:revision>
  <dcterms:created xsi:type="dcterms:W3CDTF">2013-01-27T09:14:16Z</dcterms:created>
  <dcterms:modified xsi:type="dcterms:W3CDTF">2026-08-25T21:01:49Z</dcterms:modified>
  <cp:category/>
</cp:coreProperties>
</file>