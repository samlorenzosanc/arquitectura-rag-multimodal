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6"/>
  </p:notesMasterIdLst>
  <p:sldIdLst>
    <p:sldId id="256" r:id="rId5"/>
    <p:sldId id="257" r:id="rId6"/>
    <p:sldId id="258" r:id="rId7"/>
    <p:sldId id="259" r:id="rId8"/>
    <p:sldId id="278" r:id="rId9"/>
    <p:sldId id="277" r:id="rId10"/>
    <p:sldId id="268" r:id="rId11"/>
    <p:sldId id="260" r:id="rId12"/>
    <p:sldId id="261" r:id="rId13"/>
    <p:sldId id="262" r:id="rId14"/>
    <p:sldId id="263" r:id="rId15"/>
    <p:sldId id="264" r:id="rId16"/>
    <p:sldId id="276" r:id="rId17"/>
    <p:sldId id="269" r:id="rId18"/>
    <p:sldId id="271" r:id="rId19"/>
    <p:sldId id="272" r:id="rId20"/>
    <p:sldId id="275" r:id="rId21"/>
    <p:sldId id="270" r:id="rId22"/>
    <p:sldId id="273" r:id="rId23"/>
    <p:sldId id="274" r:id="rId24"/>
    <p:sldId id="267"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456" autoAdjust="0"/>
  </p:normalViewPr>
  <p:slideViewPr>
    <p:cSldViewPr>
      <p:cViewPr>
        <p:scale>
          <a:sx n="75" d="100"/>
          <a:sy n="75" d="100"/>
        </p:scale>
        <p:origin x="946"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BCEAB1-1298-44F5-B5AD-D6675295534A}" type="doc">
      <dgm:prSet loTypeId="urn:microsoft.com/office/officeart/2005/8/layout/chevron1" loCatId="process" qsTypeId="urn:microsoft.com/office/officeart/2005/8/quickstyle/simple1#1" qsCatId="simple" csTypeId="urn:microsoft.com/office/officeart/2005/8/colors/accent1_2#1" csCatId="accent1" phldr="1"/>
      <dgm:spPr/>
    </dgm:pt>
    <dgm:pt modelId="{E97A5321-A80C-44E7-B00D-6927E97D8858}">
      <dgm:prSet phldrT="[Texto]"/>
      <dgm:spPr/>
      <dgm:t>
        <a:bodyPr/>
        <a:lstStyle/>
        <a:p>
          <a:r>
            <a:rPr lang="es-ES" dirty="0"/>
            <a:t>Recolección de fuentes bibliográficas</a:t>
          </a:r>
        </a:p>
      </dgm:t>
    </dgm:pt>
    <dgm:pt modelId="{72B5DC9A-5A98-4B1C-9B7C-1E6F351C4175}" type="parTrans" cxnId="{3CA6A168-73BE-4288-8607-997D657B42FB}">
      <dgm:prSet/>
      <dgm:spPr/>
      <dgm:t>
        <a:bodyPr/>
        <a:lstStyle/>
        <a:p>
          <a:endParaRPr lang="es-ES"/>
        </a:p>
      </dgm:t>
    </dgm:pt>
    <dgm:pt modelId="{2E4929A8-0451-4A19-951A-79BA6AEA3FA3}" type="sibTrans" cxnId="{3CA6A168-73BE-4288-8607-997D657B42FB}">
      <dgm:prSet/>
      <dgm:spPr/>
      <dgm:t>
        <a:bodyPr/>
        <a:lstStyle/>
        <a:p>
          <a:endParaRPr lang="es-ES"/>
        </a:p>
      </dgm:t>
    </dgm:pt>
    <dgm:pt modelId="{6550B1BA-B1EF-4AD6-A3FE-89C291457128}">
      <dgm:prSet phldrT="[Texto]"/>
      <dgm:spPr/>
      <dgm:t>
        <a:bodyPr/>
        <a:lstStyle/>
        <a:p>
          <a:r>
            <a:rPr lang="es-ES" dirty="0"/>
            <a:t>Redacción del estado del arte</a:t>
          </a:r>
        </a:p>
      </dgm:t>
    </dgm:pt>
    <dgm:pt modelId="{628C72AE-F238-4C55-8AE1-51FD01CE3A7C}" type="parTrans" cxnId="{07DA8775-324A-4A1B-93A8-05B9F0FDE919}">
      <dgm:prSet/>
      <dgm:spPr/>
      <dgm:t>
        <a:bodyPr/>
        <a:lstStyle/>
        <a:p>
          <a:endParaRPr lang="es-ES"/>
        </a:p>
      </dgm:t>
    </dgm:pt>
    <dgm:pt modelId="{E7A713B8-E87D-489F-B9EA-128E97EB1600}" type="sibTrans" cxnId="{07DA8775-324A-4A1B-93A8-05B9F0FDE919}">
      <dgm:prSet/>
      <dgm:spPr/>
      <dgm:t>
        <a:bodyPr/>
        <a:lstStyle/>
        <a:p>
          <a:endParaRPr lang="es-ES"/>
        </a:p>
      </dgm:t>
    </dgm:pt>
    <dgm:pt modelId="{E80BF148-DC17-4FB6-B30A-796C697427F6}">
      <dgm:prSet phldrT="[Texto]"/>
      <dgm:spPr/>
      <dgm:t>
        <a:bodyPr/>
        <a:lstStyle/>
        <a:p>
          <a:r>
            <a:rPr lang="es-ES" dirty="0"/>
            <a:t>Citar las fuentes bibliográficas</a:t>
          </a:r>
        </a:p>
      </dgm:t>
    </dgm:pt>
    <dgm:pt modelId="{41212760-563F-49BC-BF33-9B1AAA3A0CBC}" type="parTrans" cxnId="{A5F9970B-633F-4E83-94B0-4AE509D9055F}">
      <dgm:prSet/>
      <dgm:spPr/>
      <dgm:t>
        <a:bodyPr/>
        <a:lstStyle/>
        <a:p>
          <a:endParaRPr lang="es-ES"/>
        </a:p>
      </dgm:t>
    </dgm:pt>
    <dgm:pt modelId="{5403DB7B-5381-4CD1-963F-74865BF1E5F5}" type="sibTrans" cxnId="{A5F9970B-633F-4E83-94B0-4AE509D9055F}">
      <dgm:prSet/>
      <dgm:spPr/>
      <dgm:t>
        <a:bodyPr/>
        <a:lstStyle/>
        <a:p>
          <a:endParaRPr lang="es-ES"/>
        </a:p>
      </dgm:t>
    </dgm:pt>
    <dgm:pt modelId="{7951F7EB-1884-4185-A6C4-6554057C6779}">
      <dgm:prSet phldrT="[Texto]"/>
      <dgm:spPr/>
      <dgm:t>
        <a:bodyPr/>
        <a:lstStyle/>
        <a:p>
          <a:r>
            <a:rPr lang="es-ES" dirty="0"/>
            <a:t>Interpretación de la información</a:t>
          </a:r>
        </a:p>
      </dgm:t>
    </dgm:pt>
    <dgm:pt modelId="{7749CD09-D4EE-4EB5-9D01-AD594195C386}" type="parTrans" cxnId="{1B0BF178-726A-4F70-92DA-3A9AC4E36828}">
      <dgm:prSet/>
      <dgm:spPr/>
      <dgm:t>
        <a:bodyPr/>
        <a:lstStyle/>
        <a:p>
          <a:endParaRPr lang="es-ES"/>
        </a:p>
      </dgm:t>
    </dgm:pt>
    <dgm:pt modelId="{610C23A9-86A0-449C-86C4-D55D6AC6987C}" type="sibTrans" cxnId="{1B0BF178-726A-4F70-92DA-3A9AC4E36828}">
      <dgm:prSet/>
      <dgm:spPr/>
      <dgm:t>
        <a:bodyPr/>
        <a:lstStyle/>
        <a:p>
          <a:endParaRPr lang="es-ES"/>
        </a:p>
      </dgm:t>
    </dgm:pt>
    <dgm:pt modelId="{1EDC594A-B9D4-4A0F-9F11-B664B0D1877A}" type="pres">
      <dgm:prSet presAssocID="{D5BCEAB1-1298-44F5-B5AD-D6675295534A}" presName="Name0" presStyleCnt="0">
        <dgm:presLayoutVars>
          <dgm:dir/>
          <dgm:animLvl val="lvl"/>
          <dgm:resizeHandles val="exact"/>
        </dgm:presLayoutVars>
      </dgm:prSet>
      <dgm:spPr/>
    </dgm:pt>
    <dgm:pt modelId="{9DAFB410-0559-4311-B44F-8F3CE8341D00}" type="pres">
      <dgm:prSet presAssocID="{E97A5321-A80C-44E7-B00D-6927E97D8858}" presName="parTxOnly" presStyleLbl="node1" presStyleIdx="0" presStyleCnt="4">
        <dgm:presLayoutVars>
          <dgm:chMax val="0"/>
          <dgm:chPref val="0"/>
          <dgm:bulletEnabled val="1"/>
        </dgm:presLayoutVars>
      </dgm:prSet>
      <dgm:spPr/>
    </dgm:pt>
    <dgm:pt modelId="{20A340C8-DECF-42ED-B9FF-46733222BC9F}" type="pres">
      <dgm:prSet presAssocID="{2E4929A8-0451-4A19-951A-79BA6AEA3FA3}" presName="parTxOnlySpace" presStyleCnt="0"/>
      <dgm:spPr/>
    </dgm:pt>
    <dgm:pt modelId="{E33794E4-8F5B-406F-BF4A-9015696826CF}" type="pres">
      <dgm:prSet presAssocID="{7951F7EB-1884-4185-A6C4-6554057C6779}" presName="parTxOnly" presStyleLbl="node1" presStyleIdx="1" presStyleCnt="4">
        <dgm:presLayoutVars>
          <dgm:chMax val="0"/>
          <dgm:chPref val="0"/>
          <dgm:bulletEnabled val="1"/>
        </dgm:presLayoutVars>
      </dgm:prSet>
      <dgm:spPr/>
    </dgm:pt>
    <dgm:pt modelId="{BE08536F-4A56-4BD1-A9E7-6BE84D4A97DA}" type="pres">
      <dgm:prSet presAssocID="{610C23A9-86A0-449C-86C4-D55D6AC6987C}" presName="parTxOnlySpace" presStyleCnt="0"/>
      <dgm:spPr/>
    </dgm:pt>
    <dgm:pt modelId="{25A424BF-9210-42D3-970B-526D12A0D642}" type="pres">
      <dgm:prSet presAssocID="{6550B1BA-B1EF-4AD6-A3FE-89C291457128}" presName="parTxOnly" presStyleLbl="node1" presStyleIdx="2" presStyleCnt="4">
        <dgm:presLayoutVars>
          <dgm:chMax val="0"/>
          <dgm:chPref val="0"/>
          <dgm:bulletEnabled val="1"/>
        </dgm:presLayoutVars>
      </dgm:prSet>
      <dgm:spPr/>
    </dgm:pt>
    <dgm:pt modelId="{85FDF2A1-8E18-4446-A30F-0116F300436E}" type="pres">
      <dgm:prSet presAssocID="{E7A713B8-E87D-489F-B9EA-128E97EB1600}" presName="parTxOnlySpace" presStyleCnt="0"/>
      <dgm:spPr/>
    </dgm:pt>
    <dgm:pt modelId="{78FF5AF7-6F0B-4C3D-B3E0-80188D29D4BF}" type="pres">
      <dgm:prSet presAssocID="{E80BF148-DC17-4FB6-B30A-796C697427F6}" presName="parTxOnly" presStyleLbl="node1" presStyleIdx="3" presStyleCnt="4">
        <dgm:presLayoutVars>
          <dgm:chMax val="0"/>
          <dgm:chPref val="0"/>
          <dgm:bulletEnabled val="1"/>
        </dgm:presLayoutVars>
      </dgm:prSet>
      <dgm:spPr/>
    </dgm:pt>
  </dgm:ptLst>
  <dgm:cxnLst>
    <dgm:cxn modelId="{A5F9970B-633F-4E83-94B0-4AE509D9055F}" srcId="{D5BCEAB1-1298-44F5-B5AD-D6675295534A}" destId="{E80BF148-DC17-4FB6-B30A-796C697427F6}" srcOrd="3" destOrd="0" parTransId="{41212760-563F-49BC-BF33-9B1AAA3A0CBC}" sibTransId="{5403DB7B-5381-4CD1-963F-74865BF1E5F5}"/>
    <dgm:cxn modelId="{6793C21B-A97C-463A-88AF-47F458CE2BCE}" type="presOf" srcId="{D5BCEAB1-1298-44F5-B5AD-D6675295534A}" destId="{1EDC594A-B9D4-4A0F-9F11-B664B0D1877A}" srcOrd="0" destOrd="0" presId="urn:microsoft.com/office/officeart/2005/8/layout/chevron1"/>
    <dgm:cxn modelId="{B5173922-B03A-4B74-8CF7-195D40050B0F}" type="presOf" srcId="{7951F7EB-1884-4185-A6C4-6554057C6779}" destId="{E33794E4-8F5B-406F-BF4A-9015696826CF}" srcOrd="0" destOrd="0" presId="urn:microsoft.com/office/officeart/2005/8/layout/chevron1"/>
    <dgm:cxn modelId="{325EF746-8778-4ED7-BED3-FADC14B3BF55}" type="presOf" srcId="{E80BF148-DC17-4FB6-B30A-796C697427F6}" destId="{78FF5AF7-6F0B-4C3D-B3E0-80188D29D4BF}" srcOrd="0" destOrd="0" presId="urn:microsoft.com/office/officeart/2005/8/layout/chevron1"/>
    <dgm:cxn modelId="{3CA6A168-73BE-4288-8607-997D657B42FB}" srcId="{D5BCEAB1-1298-44F5-B5AD-D6675295534A}" destId="{E97A5321-A80C-44E7-B00D-6927E97D8858}" srcOrd="0" destOrd="0" parTransId="{72B5DC9A-5A98-4B1C-9B7C-1E6F351C4175}" sibTransId="{2E4929A8-0451-4A19-951A-79BA6AEA3FA3}"/>
    <dgm:cxn modelId="{C429284C-C402-42BE-86C8-5149306E0D64}" type="presOf" srcId="{E97A5321-A80C-44E7-B00D-6927E97D8858}" destId="{9DAFB410-0559-4311-B44F-8F3CE8341D00}" srcOrd="0" destOrd="0" presId="urn:microsoft.com/office/officeart/2005/8/layout/chevron1"/>
    <dgm:cxn modelId="{07DA8775-324A-4A1B-93A8-05B9F0FDE919}" srcId="{D5BCEAB1-1298-44F5-B5AD-D6675295534A}" destId="{6550B1BA-B1EF-4AD6-A3FE-89C291457128}" srcOrd="2" destOrd="0" parTransId="{628C72AE-F238-4C55-8AE1-51FD01CE3A7C}" sibTransId="{E7A713B8-E87D-489F-B9EA-128E97EB1600}"/>
    <dgm:cxn modelId="{1B0BF178-726A-4F70-92DA-3A9AC4E36828}" srcId="{D5BCEAB1-1298-44F5-B5AD-D6675295534A}" destId="{7951F7EB-1884-4185-A6C4-6554057C6779}" srcOrd="1" destOrd="0" parTransId="{7749CD09-D4EE-4EB5-9D01-AD594195C386}" sibTransId="{610C23A9-86A0-449C-86C4-D55D6AC6987C}"/>
    <dgm:cxn modelId="{F8FC0CDD-F5FE-4140-BD12-DA284575D4D9}" type="presOf" srcId="{6550B1BA-B1EF-4AD6-A3FE-89C291457128}" destId="{25A424BF-9210-42D3-970B-526D12A0D642}" srcOrd="0" destOrd="0" presId="urn:microsoft.com/office/officeart/2005/8/layout/chevron1"/>
    <dgm:cxn modelId="{496F8D62-DF52-4468-B890-C5D3F871F9FB}" type="presParOf" srcId="{1EDC594A-B9D4-4A0F-9F11-B664B0D1877A}" destId="{9DAFB410-0559-4311-B44F-8F3CE8341D00}" srcOrd="0" destOrd="0" presId="urn:microsoft.com/office/officeart/2005/8/layout/chevron1"/>
    <dgm:cxn modelId="{14562977-5EF5-4422-A3FF-6DA31C7AB5FA}" type="presParOf" srcId="{1EDC594A-B9D4-4A0F-9F11-B664B0D1877A}" destId="{20A340C8-DECF-42ED-B9FF-46733222BC9F}" srcOrd="1" destOrd="0" presId="urn:microsoft.com/office/officeart/2005/8/layout/chevron1"/>
    <dgm:cxn modelId="{4833525C-9496-4240-9F89-478C0ADB0D01}" type="presParOf" srcId="{1EDC594A-B9D4-4A0F-9F11-B664B0D1877A}" destId="{E33794E4-8F5B-406F-BF4A-9015696826CF}" srcOrd="2" destOrd="0" presId="urn:microsoft.com/office/officeart/2005/8/layout/chevron1"/>
    <dgm:cxn modelId="{11421A63-0BE0-439E-ACFE-777EB24DF95C}" type="presParOf" srcId="{1EDC594A-B9D4-4A0F-9F11-B664B0D1877A}" destId="{BE08536F-4A56-4BD1-A9E7-6BE84D4A97DA}" srcOrd="3" destOrd="0" presId="urn:microsoft.com/office/officeart/2005/8/layout/chevron1"/>
    <dgm:cxn modelId="{BAE39513-A8A8-4FCB-B702-46B74CBE6AB6}" type="presParOf" srcId="{1EDC594A-B9D4-4A0F-9F11-B664B0D1877A}" destId="{25A424BF-9210-42D3-970B-526D12A0D642}" srcOrd="4" destOrd="0" presId="urn:microsoft.com/office/officeart/2005/8/layout/chevron1"/>
    <dgm:cxn modelId="{20704CB8-C58F-4FAE-B749-ECEA94B33FCC}" type="presParOf" srcId="{1EDC594A-B9D4-4A0F-9F11-B664B0D1877A}" destId="{85FDF2A1-8E18-4446-A30F-0116F300436E}" srcOrd="5" destOrd="0" presId="urn:microsoft.com/office/officeart/2005/8/layout/chevron1"/>
    <dgm:cxn modelId="{F84A2DCF-F839-429E-90C4-C11C2E33C011}" type="presParOf" srcId="{1EDC594A-B9D4-4A0F-9F11-B664B0D1877A}" destId="{78FF5AF7-6F0B-4C3D-B3E0-80188D29D4BF}"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FB410-0559-4311-B44F-8F3CE8341D00}">
      <dsp:nvSpPr>
        <dsp:cNvPr id="0" name=""/>
        <dsp:cNvSpPr/>
      </dsp:nvSpPr>
      <dsp:spPr>
        <a:xfrm>
          <a:off x="3770" y="2270389"/>
          <a:ext cx="2194718" cy="8778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Recolección de fuentes bibliográficas</a:t>
          </a:r>
        </a:p>
      </dsp:txBody>
      <dsp:txXfrm>
        <a:off x="442714" y="2270389"/>
        <a:ext cx="1316831" cy="877887"/>
      </dsp:txXfrm>
    </dsp:sp>
    <dsp:sp modelId="{E33794E4-8F5B-406F-BF4A-9015696826CF}">
      <dsp:nvSpPr>
        <dsp:cNvPr id="0" name=""/>
        <dsp:cNvSpPr/>
      </dsp:nvSpPr>
      <dsp:spPr>
        <a:xfrm>
          <a:off x="1979017" y="2270389"/>
          <a:ext cx="2194718" cy="8778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Interpretación de la información</a:t>
          </a:r>
        </a:p>
      </dsp:txBody>
      <dsp:txXfrm>
        <a:off x="2417961" y="2270389"/>
        <a:ext cx="1316831" cy="877887"/>
      </dsp:txXfrm>
    </dsp:sp>
    <dsp:sp modelId="{25A424BF-9210-42D3-970B-526D12A0D642}">
      <dsp:nvSpPr>
        <dsp:cNvPr id="0" name=""/>
        <dsp:cNvSpPr/>
      </dsp:nvSpPr>
      <dsp:spPr>
        <a:xfrm>
          <a:off x="3954264" y="2270389"/>
          <a:ext cx="2194718" cy="8778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Redacción del estado del arte</a:t>
          </a:r>
        </a:p>
      </dsp:txBody>
      <dsp:txXfrm>
        <a:off x="4393208" y="2270389"/>
        <a:ext cx="1316831" cy="877887"/>
      </dsp:txXfrm>
    </dsp:sp>
    <dsp:sp modelId="{78FF5AF7-6F0B-4C3D-B3E0-80188D29D4BF}">
      <dsp:nvSpPr>
        <dsp:cNvPr id="0" name=""/>
        <dsp:cNvSpPr/>
      </dsp:nvSpPr>
      <dsp:spPr>
        <a:xfrm>
          <a:off x="5929510" y="2270389"/>
          <a:ext cx="2194718" cy="8778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Citar las fuentes bibliográficas</a:t>
          </a:r>
        </a:p>
      </dsp:txBody>
      <dsp:txXfrm>
        <a:off x="6368454" y="2270389"/>
        <a:ext cx="1316831" cy="87788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B7147BE-B4B8-4006-BA24-0A8BBCA5EEB7}" type="datetimeFigureOut">
              <a:rPr lang="es-ES" smtClean="0"/>
              <a:t>25/08/2026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E073B55-41AD-4ABF-969C-0026F1A5C39C}" type="slidenum">
              <a:rPr lang="es-ES" smtClean="0"/>
              <a:t>‹Nº›</a:t>
            </a:fld>
            <a:endParaRPr lang="es-ES"/>
          </a:p>
        </p:txBody>
      </p:sp>
    </p:spTree>
    <p:extLst>
      <p:ext uri="{BB962C8B-B14F-4D97-AF65-F5344CB8AC3E}">
        <p14:creationId xmlns:p14="http://schemas.microsoft.com/office/powerpoint/2010/main" val="1567160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buFont typeface="+mj-lt"/>
              <a:buAutoNum type="arabicPeriod"/>
            </a:pPr>
            <a:r>
              <a:rPr lang="es-ES" dirty="0"/>
              <a:t>En Documentación encontrarán:</a:t>
            </a:r>
            <a:br>
              <a:rPr lang="es-ES" dirty="0"/>
            </a:br>
            <a:r>
              <a:rPr lang="es-ES" dirty="0"/>
              <a:t>- Plantilla para la realización de la propuesta de TFM</a:t>
            </a:r>
          </a:p>
          <a:p>
            <a:pPr marL="0" indent="0">
              <a:buFont typeface="+mj-lt"/>
              <a:buNone/>
            </a:pPr>
            <a:r>
              <a:rPr lang="es-ES" dirty="0"/>
              <a:t>      - Plantilla de TFM</a:t>
            </a:r>
          </a:p>
          <a:p>
            <a:pPr marL="0" indent="0">
              <a:buFont typeface="+mj-lt"/>
              <a:buNone/>
            </a:pPr>
            <a:r>
              <a:rPr lang="es-ES" dirty="0"/>
              <a:t>      - Listado de temáticas propuestas para el desarrollo de TFM</a:t>
            </a:r>
          </a:p>
          <a:p>
            <a:pPr marL="0" indent="0">
              <a:buFont typeface="+mj-lt"/>
              <a:buNone/>
            </a:pPr>
            <a:r>
              <a:rPr lang="es-ES" dirty="0"/>
              <a:t>      - Información sobre recursos </a:t>
            </a:r>
            <a:r>
              <a:rPr lang="es-ES" dirty="0" err="1"/>
              <a:t>cloud</a:t>
            </a:r>
            <a:r>
              <a:rPr lang="es-ES" dirty="0"/>
              <a:t> disponibles</a:t>
            </a:r>
          </a:p>
        </p:txBody>
      </p:sp>
      <p:sp>
        <p:nvSpPr>
          <p:cNvPr id="4" name="Marcador de número de diapositiva 3"/>
          <p:cNvSpPr>
            <a:spLocks noGrp="1"/>
          </p:cNvSpPr>
          <p:nvPr>
            <p:ph type="sldNum" sz="quarter" idx="5"/>
          </p:nvPr>
        </p:nvSpPr>
        <p:spPr/>
        <p:txBody>
          <a:bodyPr/>
          <a:lstStyle/>
          <a:p>
            <a:fld id="{EE073B55-41AD-4ABF-969C-0026F1A5C39C}" type="slidenum">
              <a:rPr lang="es-ES" smtClean="0"/>
              <a:t>8</a:t>
            </a:fld>
            <a:endParaRPr lang="es-ES"/>
          </a:p>
        </p:txBody>
      </p:sp>
    </p:spTree>
    <p:extLst>
      <p:ext uri="{BB962C8B-B14F-4D97-AF65-F5344CB8AC3E}">
        <p14:creationId xmlns:p14="http://schemas.microsoft.com/office/powerpoint/2010/main" val="422169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E073B55-41AD-4ABF-969C-0026F1A5C39C}" type="slidenum">
              <a:rPr lang="es-ES" smtClean="0"/>
              <a:t>12</a:t>
            </a:fld>
            <a:endParaRPr lang="es-ES"/>
          </a:p>
        </p:txBody>
      </p:sp>
    </p:spTree>
    <p:extLst>
      <p:ext uri="{BB962C8B-B14F-4D97-AF65-F5344CB8AC3E}">
        <p14:creationId xmlns:p14="http://schemas.microsoft.com/office/powerpoint/2010/main" val="2548548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A21B1-8087-01F7-EA28-9F63B2C762A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E4A649-4115-6D3C-52FA-CB1A26A23E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8FD35D-BE8D-2802-1526-5392032B6F8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E55ACD4-CE91-A651-844A-EF689319BA0F}"/>
              </a:ext>
            </a:extLst>
          </p:cNvPr>
          <p:cNvSpPr>
            <a:spLocks noGrp="1"/>
          </p:cNvSpPr>
          <p:nvPr>
            <p:ph type="sldNum" sz="quarter" idx="5"/>
          </p:nvPr>
        </p:nvSpPr>
        <p:spPr/>
        <p:txBody>
          <a:bodyPr/>
          <a:lstStyle/>
          <a:p>
            <a:fld id="{EE073B55-41AD-4ABF-969C-0026F1A5C39C}" type="slidenum">
              <a:rPr lang="es-ES" smtClean="0"/>
              <a:t>13</a:t>
            </a:fld>
            <a:endParaRPr lang="es-ES"/>
          </a:p>
        </p:txBody>
      </p:sp>
    </p:spTree>
    <p:extLst>
      <p:ext uri="{BB962C8B-B14F-4D97-AF65-F5344CB8AC3E}">
        <p14:creationId xmlns:p14="http://schemas.microsoft.com/office/powerpoint/2010/main" val="1558988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857" y="165760"/>
            <a:ext cx="935355" cy="541020"/>
          </a:xfrm>
          <a:custGeom>
            <a:avLst/>
            <a:gdLst/>
            <a:ahLst/>
            <a:cxnLst/>
            <a:rect l="l" t="t" r="r" b="b"/>
            <a:pathLst>
              <a:path w="935355" h="541020">
                <a:moveTo>
                  <a:pt x="426910" y="0"/>
                </a:moveTo>
                <a:lnTo>
                  <a:pt x="337083" y="0"/>
                </a:lnTo>
                <a:lnTo>
                  <a:pt x="337083" y="330669"/>
                </a:lnTo>
                <a:lnTo>
                  <a:pt x="336448" y="345059"/>
                </a:lnTo>
                <a:lnTo>
                  <a:pt x="327088" y="383717"/>
                </a:lnTo>
                <a:lnTo>
                  <a:pt x="299796" y="423710"/>
                </a:lnTo>
                <a:lnTo>
                  <a:pt x="260324" y="448627"/>
                </a:lnTo>
                <a:lnTo>
                  <a:pt x="213372" y="457276"/>
                </a:lnTo>
                <a:lnTo>
                  <a:pt x="201523" y="456755"/>
                </a:lnTo>
                <a:lnTo>
                  <a:pt x="156070" y="444169"/>
                </a:lnTo>
                <a:lnTo>
                  <a:pt x="119087" y="415366"/>
                </a:lnTo>
                <a:lnTo>
                  <a:pt x="95377" y="371944"/>
                </a:lnTo>
                <a:lnTo>
                  <a:pt x="89662" y="330669"/>
                </a:lnTo>
                <a:lnTo>
                  <a:pt x="89662" y="0"/>
                </a:lnTo>
                <a:lnTo>
                  <a:pt x="0" y="0"/>
                </a:lnTo>
                <a:lnTo>
                  <a:pt x="0" y="332867"/>
                </a:lnTo>
                <a:lnTo>
                  <a:pt x="1689" y="363372"/>
                </a:lnTo>
                <a:lnTo>
                  <a:pt x="15163" y="418287"/>
                </a:lnTo>
                <a:lnTo>
                  <a:pt x="41757" y="464680"/>
                </a:lnTo>
                <a:lnTo>
                  <a:pt x="79311" y="500900"/>
                </a:lnTo>
                <a:lnTo>
                  <a:pt x="127012" y="526415"/>
                </a:lnTo>
                <a:lnTo>
                  <a:pt x="182676" y="539381"/>
                </a:lnTo>
                <a:lnTo>
                  <a:pt x="213372" y="540994"/>
                </a:lnTo>
                <a:lnTo>
                  <a:pt x="244068" y="539381"/>
                </a:lnTo>
                <a:lnTo>
                  <a:pt x="299745" y="526415"/>
                </a:lnTo>
                <a:lnTo>
                  <a:pt x="347446" y="500900"/>
                </a:lnTo>
                <a:lnTo>
                  <a:pt x="385000" y="464680"/>
                </a:lnTo>
                <a:lnTo>
                  <a:pt x="411619" y="418287"/>
                </a:lnTo>
                <a:lnTo>
                  <a:pt x="425196" y="363372"/>
                </a:lnTo>
                <a:lnTo>
                  <a:pt x="426910" y="332867"/>
                </a:lnTo>
                <a:lnTo>
                  <a:pt x="426910" y="0"/>
                </a:lnTo>
                <a:close/>
              </a:path>
              <a:path w="935355" h="541020">
                <a:moveTo>
                  <a:pt x="935151" y="529818"/>
                </a:moveTo>
                <a:lnTo>
                  <a:pt x="898969" y="415074"/>
                </a:lnTo>
                <a:lnTo>
                  <a:pt x="872820" y="332193"/>
                </a:lnTo>
                <a:lnTo>
                  <a:pt x="795045" y="85585"/>
                </a:lnTo>
                <a:lnTo>
                  <a:pt x="780770" y="40322"/>
                </a:lnTo>
                <a:lnTo>
                  <a:pt x="780770" y="332193"/>
                </a:lnTo>
                <a:lnTo>
                  <a:pt x="624509" y="332193"/>
                </a:lnTo>
                <a:lnTo>
                  <a:pt x="702144" y="85585"/>
                </a:lnTo>
                <a:lnTo>
                  <a:pt x="780770" y="332193"/>
                </a:lnTo>
                <a:lnTo>
                  <a:pt x="780770" y="40322"/>
                </a:lnTo>
                <a:lnTo>
                  <a:pt x="768057" y="0"/>
                </a:lnTo>
                <a:lnTo>
                  <a:pt x="638073" y="0"/>
                </a:lnTo>
                <a:lnTo>
                  <a:pt x="470966" y="529818"/>
                </a:lnTo>
                <a:lnTo>
                  <a:pt x="562317" y="529818"/>
                </a:lnTo>
                <a:lnTo>
                  <a:pt x="598424" y="415074"/>
                </a:lnTo>
                <a:lnTo>
                  <a:pt x="807212" y="415074"/>
                </a:lnTo>
                <a:lnTo>
                  <a:pt x="843813" y="529818"/>
                </a:lnTo>
                <a:lnTo>
                  <a:pt x="935151" y="529818"/>
                </a:lnTo>
                <a:close/>
              </a:path>
            </a:pathLst>
          </a:custGeom>
          <a:solidFill>
            <a:srgbClr val="1D1D1D"/>
          </a:solidFill>
        </p:spPr>
        <p:txBody>
          <a:bodyPr wrap="square" lIns="0" tIns="0" rIns="0" bIns="0" rtlCol="0"/>
          <a:lstStyle/>
          <a:p>
            <a:endParaRPr/>
          </a:p>
        </p:txBody>
      </p:sp>
      <p:sp>
        <p:nvSpPr>
          <p:cNvPr id="17" name="bg object 17"/>
          <p:cNvSpPr/>
          <p:nvPr/>
        </p:nvSpPr>
        <p:spPr>
          <a:xfrm>
            <a:off x="1110070" y="165748"/>
            <a:ext cx="467995" cy="530225"/>
          </a:xfrm>
          <a:custGeom>
            <a:avLst/>
            <a:gdLst/>
            <a:ahLst/>
            <a:cxnLst/>
            <a:rect l="l" t="t" r="r" b="b"/>
            <a:pathLst>
              <a:path w="467994" h="530225">
                <a:moveTo>
                  <a:pt x="109307" y="0"/>
                </a:moveTo>
                <a:lnTo>
                  <a:pt x="0" y="0"/>
                </a:lnTo>
                <a:lnTo>
                  <a:pt x="124558" y="264912"/>
                </a:lnTo>
                <a:lnTo>
                  <a:pt x="0" y="529818"/>
                </a:lnTo>
                <a:lnTo>
                  <a:pt x="109307" y="529818"/>
                </a:lnTo>
                <a:lnTo>
                  <a:pt x="233866" y="264912"/>
                </a:lnTo>
                <a:lnTo>
                  <a:pt x="109307" y="0"/>
                </a:lnTo>
                <a:close/>
              </a:path>
              <a:path w="467994" h="530225">
                <a:moveTo>
                  <a:pt x="467732" y="0"/>
                </a:moveTo>
                <a:lnTo>
                  <a:pt x="358424" y="0"/>
                </a:lnTo>
                <a:lnTo>
                  <a:pt x="233866" y="264912"/>
                </a:lnTo>
                <a:lnTo>
                  <a:pt x="358424" y="529818"/>
                </a:lnTo>
                <a:lnTo>
                  <a:pt x="467732" y="529819"/>
                </a:lnTo>
                <a:lnTo>
                  <a:pt x="343174" y="264912"/>
                </a:lnTo>
                <a:lnTo>
                  <a:pt x="467732" y="0"/>
                </a:lnTo>
                <a:close/>
              </a:path>
            </a:pathLst>
          </a:custGeom>
          <a:solidFill>
            <a:srgbClr val="005FAE"/>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1687291" y="430661"/>
            <a:ext cx="1324933" cy="267279"/>
          </a:xfrm>
          <a:prstGeom prst="rect">
            <a:avLst/>
          </a:prstGeom>
        </p:spPr>
      </p:pic>
      <p:sp>
        <p:nvSpPr>
          <p:cNvPr id="19" name="bg object 19"/>
          <p:cNvSpPr/>
          <p:nvPr/>
        </p:nvSpPr>
        <p:spPr>
          <a:xfrm>
            <a:off x="9232900" y="0"/>
            <a:ext cx="2959100" cy="6858000"/>
          </a:xfrm>
          <a:custGeom>
            <a:avLst/>
            <a:gdLst/>
            <a:ahLst/>
            <a:cxnLst/>
            <a:rect l="l" t="t" r="r" b="b"/>
            <a:pathLst>
              <a:path w="2959100" h="6858000">
                <a:moveTo>
                  <a:pt x="1606550" y="3430651"/>
                </a:moveTo>
                <a:lnTo>
                  <a:pt x="1600835" y="3417824"/>
                </a:lnTo>
                <a:lnTo>
                  <a:pt x="34798" y="0"/>
                </a:lnTo>
                <a:lnTo>
                  <a:pt x="0" y="0"/>
                </a:lnTo>
                <a:lnTo>
                  <a:pt x="1571752" y="3430651"/>
                </a:lnTo>
                <a:lnTo>
                  <a:pt x="2171" y="6858000"/>
                </a:lnTo>
                <a:lnTo>
                  <a:pt x="36969" y="6858000"/>
                </a:lnTo>
                <a:lnTo>
                  <a:pt x="1600835" y="3443986"/>
                </a:lnTo>
                <a:lnTo>
                  <a:pt x="1606550" y="3430651"/>
                </a:lnTo>
                <a:close/>
              </a:path>
              <a:path w="2959100" h="6858000">
                <a:moveTo>
                  <a:pt x="2959100" y="3420630"/>
                </a:moveTo>
                <a:lnTo>
                  <a:pt x="1392161" y="0"/>
                </a:lnTo>
                <a:lnTo>
                  <a:pt x="1357376" y="0"/>
                </a:lnTo>
                <a:lnTo>
                  <a:pt x="2929001" y="3431159"/>
                </a:lnTo>
                <a:lnTo>
                  <a:pt x="1359547" y="6858000"/>
                </a:lnTo>
                <a:lnTo>
                  <a:pt x="1394345" y="6858000"/>
                </a:lnTo>
                <a:lnTo>
                  <a:pt x="2959100" y="3441700"/>
                </a:lnTo>
                <a:lnTo>
                  <a:pt x="2959100" y="3420630"/>
                </a:lnTo>
                <a:close/>
              </a:path>
            </a:pathLst>
          </a:custGeom>
          <a:solidFill>
            <a:srgbClr val="005FAB"/>
          </a:solidFill>
        </p:spPr>
        <p:txBody>
          <a:bodyPr wrap="square" lIns="0" tIns="0" rIns="0" bIns="0" rtlCol="0"/>
          <a:lstStyle/>
          <a:p>
            <a:endParaRPr/>
          </a:p>
        </p:txBody>
      </p:sp>
      <p:sp>
        <p:nvSpPr>
          <p:cNvPr id="20" name="bg object 20"/>
          <p:cNvSpPr/>
          <p:nvPr/>
        </p:nvSpPr>
        <p:spPr>
          <a:xfrm>
            <a:off x="11641454" y="6537058"/>
            <a:ext cx="0" cy="276860"/>
          </a:xfrm>
          <a:custGeom>
            <a:avLst/>
            <a:gdLst/>
            <a:ahLst/>
            <a:cxnLst/>
            <a:rect l="l" t="t" r="r" b="b"/>
            <a:pathLst>
              <a:path h="276859">
                <a:moveTo>
                  <a:pt x="0" y="0"/>
                </a:moveTo>
                <a:lnTo>
                  <a:pt x="0" y="276759"/>
                </a:lnTo>
              </a:path>
            </a:pathLst>
          </a:custGeom>
          <a:ln w="28575">
            <a:solidFill>
              <a:srgbClr val="005FAB"/>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857" y="165760"/>
            <a:ext cx="935355" cy="541020"/>
          </a:xfrm>
          <a:custGeom>
            <a:avLst/>
            <a:gdLst/>
            <a:ahLst/>
            <a:cxnLst/>
            <a:rect l="l" t="t" r="r" b="b"/>
            <a:pathLst>
              <a:path w="935355" h="541020">
                <a:moveTo>
                  <a:pt x="426910" y="0"/>
                </a:moveTo>
                <a:lnTo>
                  <a:pt x="337083" y="0"/>
                </a:lnTo>
                <a:lnTo>
                  <a:pt x="337083" y="330669"/>
                </a:lnTo>
                <a:lnTo>
                  <a:pt x="336448" y="345059"/>
                </a:lnTo>
                <a:lnTo>
                  <a:pt x="327088" y="383717"/>
                </a:lnTo>
                <a:lnTo>
                  <a:pt x="299796" y="423710"/>
                </a:lnTo>
                <a:lnTo>
                  <a:pt x="260324" y="448627"/>
                </a:lnTo>
                <a:lnTo>
                  <a:pt x="213372" y="457276"/>
                </a:lnTo>
                <a:lnTo>
                  <a:pt x="201523" y="456755"/>
                </a:lnTo>
                <a:lnTo>
                  <a:pt x="156070" y="444169"/>
                </a:lnTo>
                <a:lnTo>
                  <a:pt x="119087" y="415366"/>
                </a:lnTo>
                <a:lnTo>
                  <a:pt x="95377" y="371944"/>
                </a:lnTo>
                <a:lnTo>
                  <a:pt x="89662" y="330669"/>
                </a:lnTo>
                <a:lnTo>
                  <a:pt x="89662" y="0"/>
                </a:lnTo>
                <a:lnTo>
                  <a:pt x="0" y="0"/>
                </a:lnTo>
                <a:lnTo>
                  <a:pt x="0" y="332867"/>
                </a:lnTo>
                <a:lnTo>
                  <a:pt x="1689" y="363372"/>
                </a:lnTo>
                <a:lnTo>
                  <a:pt x="15163" y="418287"/>
                </a:lnTo>
                <a:lnTo>
                  <a:pt x="41757" y="464680"/>
                </a:lnTo>
                <a:lnTo>
                  <a:pt x="79311" y="500900"/>
                </a:lnTo>
                <a:lnTo>
                  <a:pt x="127012" y="526415"/>
                </a:lnTo>
                <a:lnTo>
                  <a:pt x="182676" y="539381"/>
                </a:lnTo>
                <a:lnTo>
                  <a:pt x="213372" y="540994"/>
                </a:lnTo>
                <a:lnTo>
                  <a:pt x="244068" y="539381"/>
                </a:lnTo>
                <a:lnTo>
                  <a:pt x="299745" y="526415"/>
                </a:lnTo>
                <a:lnTo>
                  <a:pt x="347446" y="500900"/>
                </a:lnTo>
                <a:lnTo>
                  <a:pt x="385000" y="464680"/>
                </a:lnTo>
                <a:lnTo>
                  <a:pt x="411619" y="418287"/>
                </a:lnTo>
                <a:lnTo>
                  <a:pt x="425196" y="363372"/>
                </a:lnTo>
                <a:lnTo>
                  <a:pt x="426910" y="332867"/>
                </a:lnTo>
                <a:lnTo>
                  <a:pt x="426910" y="0"/>
                </a:lnTo>
                <a:close/>
              </a:path>
              <a:path w="935355" h="541020">
                <a:moveTo>
                  <a:pt x="935151" y="529818"/>
                </a:moveTo>
                <a:lnTo>
                  <a:pt x="898969" y="415074"/>
                </a:lnTo>
                <a:lnTo>
                  <a:pt x="872820" y="332193"/>
                </a:lnTo>
                <a:lnTo>
                  <a:pt x="795045" y="85585"/>
                </a:lnTo>
                <a:lnTo>
                  <a:pt x="780770" y="40322"/>
                </a:lnTo>
                <a:lnTo>
                  <a:pt x="780770" y="332193"/>
                </a:lnTo>
                <a:lnTo>
                  <a:pt x="624509" y="332193"/>
                </a:lnTo>
                <a:lnTo>
                  <a:pt x="702144" y="85585"/>
                </a:lnTo>
                <a:lnTo>
                  <a:pt x="780770" y="332193"/>
                </a:lnTo>
                <a:lnTo>
                  <a:pt x="780770" y="40322"/>
                </a:lnTo>
                <a:lnTo>
                  <a:pt x="768057" y="0"/>
                </a:lnTo>
                <a:lnTo>
                  <a:pt x="638073" y="0"/>
                </a:lnTo>
                <a:lnTo>
                  <a:pt x="470966" y="529818"/>
                </a:lnTo>
                <a:lnTo>
                  <a:pt x="562317" y="529818"/>
                </a:lnTo>
                <a:lnTo>
                  <a:pt x="598424" y="415074"/>
                </a:lnTo>
                <a:lnTo>
                  <a:pt x="807212" y="415074"/>
                </a:lnTo>
                <a:lnTo>
                  <a:pt x="843813" y="529818"/>
                </a:lnTo>
                <a:lnTo>
                  <a:pt x="935151" y="529818"/>
                </a:lnTo>
                <a:close/>
              </a:path>
            </a:pathLst>
          </a:custGeom>
          <a:solidFill>
            <a:srgbClr val="1D1D1D"/>
          </a:solidFill>
        </p:spPr>
        <p:txBody>
          <a:bodyPr wrap="square" lIns="0" tIns="0" rIns="0" bIns="0" rtlCol="0"/>
          <a:lstStyle/>
          <a:p>
            <a:endParaRPr/>
          </a:p>
        </p:txBody>
      </p:sp>
      <p:sp>
        <p:nvSpPr>
          <p:cNvPr id="17" name="bg object 17"/>
          <p:cNvSpPr/>
          <p:nvPr/>
        </p:nvSpPr>
        <p:spPr>
          <a:xfrm>
            <a:off x="1110070" y="165748"/>
            <a:ext cx="467995" cy="530225"/>
          </a:xfrm>
          <a:custGeom>
            <a:avLst/>
            <a:gdLst/>
            <a:ahLst/>
            <a:cxnLst/>
            <a:rect l="l" t="t" r="r" b="b"/>
            <a:pathLst>
              <a:path w="467994" h="530225">
                <a:moveTo>
                  <a:pt x="109307" y="0"/>
                </a:moveTo>
                <a:lnTo>
                  <a:pt x="0" y="0"/>
                </a:lnTo>
                <a:lnTo>
                  <a:pt x="124558" y="264912"/>
                </a:lnTo>
                <a:lnTo>
                  <a:pt x="0" y="529818"/>
                </a:lnTo>
                <a:lnTo>
                  <a:pt x="109307" y="529818"/>
                </a:lnTo>
                <a:lnTo>
                  <a:pt x="233866" y="264912"/>
                </a:lnTo>
                <a:lnTo>
                  <a:pt x="109307" y="0"/>
                </a:lnTo>
                <a:close/>
              </a:path>
              <a:path w="467994" h="530225">
                <a:moveTo>
                  <a:pt x="467732" y="0"/>
                </a:moveTo>
                <a:lnTo>
                  <a:pt x="358424" y="0"/>
                </a:lnTo>
                <a:lnTo>
                  <a:pt x="233866" y="264912"/>
                </a:lnTo>
                <a:lnTo>
                  <a:pt x="358424" y="529818"/>
                </a:lnTo>
                <a:lnTo>
                  <a:pt x="467732" y="529819"/>
                </a:lnTo>
                <a:lnTo>
                  <a:pt x="343174" y="264912"/>
                </a:lnTo>
                <a:lnTo>
                  <a:pt x="467732" y="0"/>
                </a:lnTo>
                <a:close/>
              </a:path>
            </a:pathLst>
          </a:custGeom>
          <a:solidFill>
            <a:srgbClr val="005FAE"/>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1687291" y="430661"/>
            <a:ext cx="1324933" cy="267279"/>
          </a:xfrm>
          <a:prstGeom prst="rect">
            <a:avLst/>
          </a:prstGeom>
        </p:spPr>
      </p:pic>
      <p:sp>
        <p:nvSpPr>
          <p:cNvPr id="19" name="bg object 19"/>
          <p:cNvSpPr/>
          <p:nvPr/>
        </p:nvSpPr>
        <p:spPr>
          <a:xfrm>
            <a:off x="9232900" y="0"/>
            <a:ext cx="2959100" cy="6858000"/>
          </a:xfrm>
          <a:custGeom>
            <a:avLst/>
            <a:gdLst/>
            <a:ahLst/>
            <a:cxnLst/>
            <a:rect l="l" t="t" r="r" b="b"/>
            <a:pathLst>
              <a:path w="2959100" h="6858000">
                <a:moveTo>
                  <a:pt x="1606550" y="3430651"/>
                </a:moveTo>
                <a:lnTo>
                  <a:pt x="1600835" y="3417824"/>
                </a:lnTo>
                <a:lnTo>
                  <a:pt x="34798" y="0"/>
                </a:lnTo>
                <a:lnTo>
                  <a:pt x="0" y="0"/>
                </a:lnTo>
                <a:lnTo>
                  <a:pt x="1571752" y="3430651"/>
                </a:lnTo>
                <a:lnTo>
                  <a:pt x="2171" y="6858000"/>
                </a:lnTo>
                <a:lnTo>
                  <a:pt x="36969" y="6858000"/>
                </a:lnTo>
                <a:lnTo>
                  <a:pt x="1600835" y="3443986"/>
                </a:lnTo>
                <a:lnTo>
                  <a:pt x="1606550" y="3430651"/>
                </a:lnTo>
                <a:close/>
              </a:path>
              <a:path w="2959100" h="6858000">
                <a:moveTo>
                  <a:pt x="2959100" y="3420630"/>
                </a:moveTo>
                <a:lnTo>
                  <a:pt x="1392161" y="0"/>
                </a:lnTo>
                <a:lnTo>
                  <a:pt x="1357376" y="0"/>
                </a:lnTo>
                <a:lnTo>
                  <a:pt x="2929001" y="3431159"/>
                </a:lnTo>
                <a:lnTo>
                  <a:pt x="1359547" y="6858000"/>
                </a:lnTo>
                <a:lnTo>
                  <a:pt x="1394345" y="6858000"/>
                </a:lnTo>
                <a:lnTo>
                  <a:pt x="2959100" y="3441700"/>
                </a:lnTo>
                <a:lnTo>
                  <a:pt x="2959100" y="3420630"/>
                </a:lnTo>
                <a:close/>
              </a:path>
            </a:pathLst>
          </a:custGeom>
          <a:solidFill>
            <a:srgbClr val="005FAB"/>
          </a:solidFill>
        </p:spPr>
        <p:txBody>
          <a:bodyPr wrap="square" lIns="0" tIns="0" rIns="0" bIns="0" rtlCol="0"/>
          <a:lstStyle/>
          <a:p>
            <a:endParaRPr/>
          </a:p>
        </p:txBody>
      </p:sp>
      <p:pic>
        <p:nvPicPr>
          <p:cNvPr id="20" name="bg object 20"/>
          <p:cNvPicPr/>
          <p:nvPr/>
        </p:nvPicPr>
        <p:blipFill>
          <a:blip r:embed="rId3" cstate="print"/>
          <a:stretch>
            <a:fillRect/>
          </a:stretch>
        </p:blipFill>
        <p:spPr>
          <a:xfrm>
            <a:off x="66977" y="6631482"/>
            <a:ext cx="79441" cy="180002"/>
          </a:xfrm>
          <a:prstGeom prst="rect">
            <a:avLst/>
          </a:prstGeom>
        </p:spPr>
      </p:pic>
      <p:sp>
        <p:nvSpPr>
          <p:cNvPr id="21" name="bg object 21"/>
          <p:cNvSpPr/>
          <p:nvPr/>
        </p:nvSpPr>
        <p:spPr>
          <a:xfrm>
            <a:off x="11641455" y="6537058"/>
            <a:ext cx="0" cy="276860"/>
          </a:xfrm>
          <a:custGeom>
            <a:avLst/>
            <a:gdLst/>
            <a:ahLst/>
            <a:cxnLst/>
            <a:rect l="l" t="t" r="r" b="b"/>
            <a:pathLst>
              <a:path h="276859">
                <a:moveTo>
                  <a:pt x="0" y="0"/>
                </a:moveTo>
                <a:lnTo>
                  <a:pt x="0" y="276759"/>
                </a:lnTo>
              </a:path>
            </a:pathLst>
          </a:custGeom>
          <a:ln w="28575">
            <a:solidFill>
              <a:srgbClr val="005FAB"/>
            </a:solidFill>
          </a:ln>
        </p:spPr>
        <p:txBody>
          <a:bodyPr wrap="square" lIns="0" tIns="0" rIns="0" bIns="0" rtlCol="0"/>
          <a:lstStyle/>
          <a:p>
            <a:endParaRPr/>
          </a:p>
        </p:txBody>
      </p:sp>
      <p:pic>
        <p:nvPicPr>
          <p:cNvPr id="22" name="bg object 22"/>
          <p:cNvPicPr/>
          <p:nvPr/>
        </p:nvPicPr>
        <p:blipFill>
          <a:blip r:embed="rId4" cstate="print"/>
          <a:stretch>
            <a:fillRect/>
          </a:stretch>
        </p:blipFill>
        <p:spPr>
          <a:xfrm>
            <a:off x="4562848" y="1267951"/>
            <a:ext cx="3656087" cy="5134380"/>
          </a:xfrm>
          <a:prstGeom prst="rect">
            <a:avLst/>
          </a:prstGeom>
        </p:spPr>
      </p:pic>
      <p:pic>
        <p:nvPicPr>
          <p:cNvPr id="23" name="bg object 23"/>
          <p:cNvPicPr/>
          <p:nvPr/>
        </p:nvPicPr>
        <p:blipFill>
          <a:blip r:embed="rId5" cstate="print"/>
          <a:stretch>
            <a:fillRect/>
          </a:stretch>
        </p:blipFill>
        <p:spPr>
          <a:xfrm>
            <a:off x="4581017" y="1285900"/>
            <a:ext cx="3562477" cy="5039995"/>
          </a:xfrm>
          <a:prstGeom prst="rect">
            <a:avLst/>
          </a:prstGeom>
        </p:spPr>
      </p:pic>
      <p:sp>
        <p:nvSpPr>
          <p:cNvPr id="24" name="bg object 24"/>
          <p:cNvSpPr/>
          <p:nvPr/>
        </p:nvSpPr>
        <p:spPr>
          <a:xfrm>
            <a:off x="4576191" y="1281137"/>
            <a:ext cx="3572510" cy="5049520"/>
          </a:xfrm>
          <a:custGeom>
            <a:avLst/>
            <a:gdLst/>
            <a:ahLst/>
            <a:cxnLst/>
            <a:rect l="l" t="t" r="r" b="b"/>
            <a:pathLst>
              <a:path w="3572509" h="5049520">
                <a:moveTo>
                  <a:pt x="0" y="5049520"/>
                </a:moveTo>
                <a:lnTo>
                  <a:pt x="3572001" y="5049520"/>
                </a:lnTo>
                <a:lnTo>
                  <a:pt x="3572001" y="0"/>
                </a:lnTo>
                <a:lnTo>
                  <a:pt x="0" y="0"/>
                </a:lnTo>
                <a:lnTo>
                  <a:pt x="0" y="5049520"/>
                </a:lnTo>
                <a:close/>
              </a:path>
            </a:pathLst>
          </a:custGeom>
          <a:ln w="9525">
            <a:solidFill>
              <a:srgbClr val="000000"/>
            </a:solidFill>
          </a:ln>
        </p:spPr>
        <p:txBody>
          <a:bodyPr wrap="square" lIns="0" tIns="0" rIns="0" bIns="0" rtlCol="0"/>
          <a:lstStyle/>
          <a:p>
            <a:endParaRPr/>
          </a:p>
        </p:txBody>
      </p:sp>
      <p:pic>
        <p:nvPicPr>
          <p:cNvPr id="25" name="bg object 25"/>
          <p:cNvPicPr/>
          <p:nvPr/>
        </p:nvPicPr>
        <p:blipFill>
          <a:blip r:embed="rId6" cstate="print"/>
          <a:stretch>
            <a:fillRect/>
          </a:stretch>
        </p:blipFill>
        <p:spPr>
          <a:xfrm>
            <a:off x="8349995" y="1249680"/>
            <a:ext cx="3681984" cy="5161788"/>
          </a:xfrm>
          <a:prstGeom prst="rect">
            <a:avLst/>
          </a:prstGeom>
        </p:spPr>
      </p:pic>
      <p:pic>
        <p:nvPicPr>
          <p:cNvPr id="26" name="bg object 26"/>
          <p:cNvPicPr/>
          <p:nvPr/>
        </p:nvPicPr>
        <p:blipFill>
          <a:blip r:embed="rId7" cstate="print"/>
          <a:stretch>
            <a:fillRect/>
          </a:stretch>
        </p:blipFill>
        <p:spPr>
          <a:xfrm>
            <a:off x="8386698" y="1285900"/>
            <a:ext cx="3560064" cy="5039995"/>
          </a:xfrm>
          <a:prstGeom prst="rect">
            <a:avLst/>
          </a:prstGeom>
        </p:spPr>
      </p:pic>
      <p:sp>
        <p:nvSpPr>
          <p:cNvPr id="27" name="bg object 27"/>
          <p:cNvSpPr/>
          <p:nvPr/>
        </p:nvSpPr>
        <p:spPr>
          <a:xfrm>
            <a:off x="8381872" y="1281137"/>
            <a:ext cx="3569970" cy="5049520"/>
          </a:xfrm>
          <a:custGeom>
            <a:avLst/>
            <a:gdLst/>
            <a:ahLst/>
            <a:cxnLst/>
            <a:rect l="l" t="t" r="r" b="b"/>
            <a:pathLst>
              <a:path w="3569970" h="5049520">
                <a:moveTo>
                  <a:pt x="0" y="5049520"/>
                </a:moveTo>
                <a:lnTo>
                  <a:pt x="3569715" y="5049520"/>
                </a:lnTo>
                <a:lnTo>
                  <a:pt x="3569715" y="0"/>
                </a:lnTo>
                <a:lnTo>
                  <a:pt x="0" y="0"/>
                </a:lnTo>
                <a:lnTo>
                  <a:pt x="0" y="5049520"/>
                </a:lnTo>
                <a:close/>
              </a:path>
            </a:pathLst>
          </a:custGeom>
          <a:ln w="9525">
            <a:solidFill>
              <a:srgbClr val="000000"/>
            </a:solidFill>
          </a:ln>
        </p:spPr>
        <p:txBody>
          <a:bodyPr wrap="square" lIns="0" tIns="0" rIns="0" bIns="0" rtlCol="0"/>
          <a:lstStyle/>
          <a:p>
            <a:endParaRPr/>
          </a:p>
        </p:txBody>
      </p:sp>
      <p:sp>
        <p:nvSpPr>
          <p:cNvPr id="28" name="bg object 28"/>
          <p:cNvSpPr/>
          <p:nvPr/>
        </p:nvSpPr>
        <p:spPr>
          <a:xfrm>
            <a:off x="3827907" y="132587"/>
            <a:ext cx="5674995" cy="594360"/>
          </a:xfrm>
          <a:custGeom>
            <a:avLst/>
            <a:gdLst/>
            <a:ahLst/>
            <a:cxnLst/>
            <a:rect l="l" t="t" r="r" b="b"/>
            <a:pathLst>
              <a:path w="5674995" h="594360">
                <a:moveTo>
                  <a:pt x="5674995" y="0"/>
                </a:moveTo>
                <a:lnTo>
                  <a:pt x="0" y="0"/>
                </a:lnTo>
                <a:lnTo>
                  <a:pt x="0" y="594232"/>
                </a:lnTo>
                <a:lnTo>
                  <a:pt x="5674995" y="594232"/>
                </a:lnTo>
                <a:lnTo>
                  <a:pt x="5674995" y="0"/>
                </a:lnTo>
                <a:close/>
              </a:path>
            </a:pathLst>
          </a:custGeom>
          <a:solidFill>
            <a:srgbClr val="FFFFFF">
              <a:alpha val="69802"/>
            </a:srgbClr>
          </a:solidFill>
        </p:spPr>
        <p:txBody>
          <a:bodyPr wrap="square" lIns="0" tIns="0" rIns="0" bIns="0" rtlCol="0"/>
          <a:lstStyle/>
          <a:p>
            <a:endParaRPr/>
          </a:p>
        </p:txBody>
      </p:sp>
      <p:sp>
        <p:nvSpPr>
          <p:cNvPr id="29" name="bg object 29"/>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FAB"/>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857" y="165760"/>
            <a:ext cx="935355" cy="541020"/>
          </a:xfrm>
          <a:custGeom>
            <a:avLst/>
            <a:gdLst/>
            <a:ahLst/>
            <a:cxnLst/>
            <a:rect l="l" t="t" r="r" b="b"/>
            <a:pathLst>
              <a:path w="935355" h="541020">
                <a:moveTo>
                  <a:pt x="426910" y="0"/>
                </a:moveTo>
                <a:lnTo>
                  <a:pt x="337083" y="0"/>
                </a:lnTo>
                <a:lnTo>
                  <a:pt x="337083" y="330669"/>
                </a:lnTo>
                <a:lnTo>
                  <a:pt x="336448" y="345059"/>
                </a:lnTo>
                <a:lnTo>
                  <a:pt x="327088" y="383717"/>
                </a:lnTo>
                <a:lnTo>
                  <a:pt x="299796" y="423710"/>
                </a:lnTo>
                <a:lnTo>
                  <a:pt x="260324" y="448627"/>
                </a:lnTo>
                <a:lnTo>
                  <a:pt x="213372" y="457276"/>
                </a:lnTo>
                <a:lnTo>
                  <a:pt x="201523" y="456755"/>
                </a:lnTo>
                <a:lnTo>
                  <a:pt x="156070" y="444169"/>
                </a:lnTo>
                <a:lnTo>
                  <a:pt x="119087" y="415366"/>
                </a:lnTo>
                <a:lnTo>
                  <a:pt x="95377" y="371944"/>
                </a:lnTo>
                <a:lnTo>
                  <a:pt x="89662" y="330669"/>
                </a:lnTo>
                <a:lnTo>
                  <a:pt x="89662" y="0"/>
                </a:lnTo>
                <a:lnTo>
                  <a:pt x="0" y="0"/>
                </a:lnTo>
                <a:lnTo>
                  <a:pt x="0" y="332867"/>
                </a:lnTo>
                <a:lnTo>
                  <a:pt x="1689" y="363372"/>
                </a:lnTo>
                <a:lnTo>
                  <a:pt x="15163" y="418287"/>
                </a:lnTo>
                <a:lnTo>
                  <a:pt x="41757" y="464680"/>
                </a:lnTo>
                <a:lnTo>
                  <a:pt x="79311" y="500900"/>
                </a:lnTo>
                <a:lnTo>
                  <a:pt x="127012" y="526415"/>
                </a:lnTo>
                <a:lnTo>
                  <a:pt x="182676" y="539381"/>
                </a:lnTo>
                <a:lnTo>
                  <a:pt x="213372" y="540994"/>
                </a:lnTo>
                <a:lnTo>
                  <a:pt x="244068" y="539381"/>
                </a:lnTo>
                <a:lnTo>
                  <a:pt x="299745" y="526415"/>
                </a:lnTo>
                <a:lnTo>
                  <a:pt x="347446" y="500900"/>
                </a:lnTo>
                <a:lnTo>
                  <a:pt x="385000" y="464680"/>
                </a:lnTo>
                <a:lnTo>
                  <a:pt x="411619" y="418287"/>
                </a:lnTo>
                <a:lnTo>
                  <a:pt x="425196" y="363372"/>
                </a:lnTo>
                <a:lnTo>
                  <a:pt x="426910" y="332867"/>
                </a:lnTo>
                <a:lnTo>
                  <a:pt x="426910" y="0"/>
                </a:lnTo>
                <a:close/>
              </a:path>
              <a:path w="935355" h="541020">
                <a:moveTo>
                  <a:pt x="935151" y="529818"/>
                </a:moveTo>
                <a:lnTo>
                  <a:pt x="898969" y="415074"/>
                </a:lnTo>
                <a:lnTo>
                  <a:pt x="872820" y="332193"/>
                </a:lnTo>
                <a:lnTo>
                  <a:pt x="795045" y="85585"/>
                </a:lnTo>
                <a:lnTo>
                  <a:pt x="780770" y="40322"/>
                </a:lnTo>
                <a:lnTo>
                  <a:pt x="780770" y="332193"/>
                </a:lnTo>
                <a:lnTo>
                  <a:pt x="624509" y="332193"/>
                </a:lnTo>
                <a:lnTo>
                  <a:pt x="702144" y="85585"/>
                </a:lnTo>
                <a:lnTo>
                  <a:pt x="780770" y="332193"/>
                </a:lnTo>
                <a:lnTo>
                  <a:pt x="780770" y="40322"/>
                </a:lnTo>
                <a:lnTo>
                  <a:pt x="768057" y="0"/>
                </a:lnTo>
                <a:lnTo>
                  <a:pt x="638073" y="0"/>
                </a:lnTo>
                <a:lnTo>
                  <a:pt x="470966" y="529818"/>
                </a:lnTo>
                <a:lnTo>
                  <a:pt x="562317" y="529818"/>
                </a:lnTo>
                <a:lnTo>
                  <a:pt x="598424" y="415074"/>
                </a:lnTo>
                <a:lnTo>
                  <a:pt x="807212" y="415074"/>
                </a:lnTo>
                <a:lnTo>
                  <a:pt x="843813" y="529818"/>
                </a:lnTo>
                <a:lnTo>
                  <a:pt x="935151" y="529818"/>
                </a:lnTo>
                <a:close/>
              </a:path>
            </a:pathLst>
          </a:custGeom>
          <a:solidFill>
            <a:srgbClr val="1D1D1D"/>
          </a:solidFill>
        </p:spPr>
        <p:txBody>
          <a:bodyPr wrap="square" lIns="0" tIns="0" rIns="0" bIns="0" rtlCol="0"/>
          <a:lstStyle/>
          <a:p>
            <a:endParaRPr/>
          </a:p>
        </p:txBody>
      </p:sp>
      <p:sp>
        <p:nvSpPr>
          <p:cNvPr id="17" name="bg object 17"/>
          <p:cNvSpPr/>
          <p:nvPr/>
        </p:nvSpPr>
        <p:spPr>
          <a:xfrm>
            <a:off x="1110070" y="165748"/>
            <a:ext cx="467995" cy="530225"/>
          </a:xfrm>
          <a:custGeom>
            <a:avLst/>
            <a:gdLst/>
            <a:ahLst/>
            <a:cxnLst/>
            <a:rect l="l" t="t" r="r" b="b"/>
            <a:pathLst>
              <a:path w="467994" h="530225">
                <a:moveTo>
                  <a:pt x="109307" y="0"/>
                </a:moveTo>
                <a:lnTo>
                  <a:pt x="0" y="0"/>
                </a:lnTo>
                <a:lnTo>
                  <a:pt x="124558" y="264912"/>
                </a:lnTo>
                <a:lnTo>
                  <a:pt x="0" y="529818"/>
                </a:lnTo>
                <a:lnTo>
                  <a:pt x="109307" y="529818"/>
                </a:lnTo>
                <a:lnTo>
                  <a:pt x="233866" y="264912"/>
                </a:lnTo>
                <a:lnTo>
                  <a:pt x="109307" y="0"/>
                </a:lnTo>
                <a:close/>
              </a:path>
              <a:path w="467994" h="530225">
                <a:moveTo>
                  <a:pt x="467732" y="0"/>
                </a:moveTo>
                <a:lnTo>
                  <a:pt x="358424" y="0"/>
                </a:lnTo>
                <a:lnTo>
                  <a:pt x="233866" y="264912"/>
                </a:lnTo>
                <a:lnTo>
                  <a:pt x="358424" y="529818"/>
                </a:lnTo>
                <a:lnTo>
                  <a:pt x="467732" y="529819"/>
                </a:lnTo>
                <a:lnTo>
                  <a:pt x="343174" y="264912"/>
                </a:lnTo>
                <a:lnTo>
                  <a:pt x="467732" y="0"/>
                </a:lnTo>
                <a:close/>
              </a:path>
            </a:pathLst>
          </a:custGeom>
          <a:solidFill>
            <a:srgbClr val="005FAE"/>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1687291" y="430661"/>
            <a:ext cx="1324933" cy="267279"/>
          </a:xfrm>
          <a:prstGeom prst="rect">
            <a:avLst/>
          </a:prstGeom>
        </p:spPr>
      </p:pic>
      <p:sp>
        <p:nvSpPr>
          <p:cNvPr id="19" name="bg object 19"/>
          <p:cNvSpPr/>
          <p:nvPr/>
        </p:nvSpPr>
        <p:spPr>
          <a:xfrm>
            <a:off x="9232900" y="0"/>
            <a:ext cx="2959100" cy="6858000"/>
          </a:xfrm>
          <a:custGeom>
            <a:avLst/>
            <a:gdLst/>
            <a:ahLst/>
            <a:cxnLst/>
            <a:rect l="l" t="t" r="r" b="b"/>
            <a:pathLst>
              <a:path w="2959100" h="6858000">
                <a:moveTo>
                  <a:pt x="1606550" y="3430651"/>
                </a:moveTo>
                <a:lnTo>
                  <a:pt x="1600835" y="3417824"/>
                </a:lnTo>
                <a:lnTo>
                  <a:pt x="34798" y="0"/>
                </a:lnTo>
                <a:lnTo>
                  <a:pt x="0" y="0"/>
                </a:lnTo>
                <a:lnTo>
                  <a:pt x="1571752" y="3430651"/>
                </a:lnTo>
                <a:lnTo>
                  <a:pt x="2171" y="6858000"/>
                </a:lnTo>
                <a:lnTo>
                  <a:pt x="36969" y="6858000"/>
                </a:lnTo>
                <a:lnTo>
                  <a:pt x="1600835" y="3443986"/>
                </a:lnTo>
                <a:lnTo>
                  <a:pt x="1606550" y="3430651"/>
                </a:lnTo>
                <a:close/>
              </a:path>
              <a:path w="2959100" h="6858000">
                <a:moveTo>
                  <a:pt x="2959100" y="3420630"/>
                </a:moveTo>
                <a:lnTo>
                  <a:pt x="1392161" y="0"/>
                </a:lnTo>
                <a:lnTo>
                  <a:pt x="1357376" y="0"/>
                </a:lnTo>
                <a:lnTo>
                  <a:pt x="2929001" y="3431159"/>
                </a:lnTo>
                <a:lnTo>
                  <a:pt x="1359547" y="6858000"/>
                </a:lnTo>
                <a:lnTo>
                  <a:pt x="1394345" y="6858000"/>
                </a:lnTo>
                <a:lnTo>
                  <a:pt x="2959100" y="3441700"/>
                </a:lnTo>
                <a:lnTo>
                  <a:pt x="2959100" y="3420630"/>
                </a:lnTo>
                <a:close/>
              </a:path>
            </a:pathLst>
          </a:custGeom>
          <a:solidFill>
            <a:srgbClr val="005FAB"/>
          </a:solidFill>
        </p:spPr>
        <p:txBody>
          <a:bodyPr wrap="square" lIns="0" tIns="0" rIns="0" bIns="0" rtlCol="0"/>
          <a:lstStyle/>
          <a:p>
            <a:endParaRPr/>
          </a:p>
        </p:txBody>
      </p:sp>
      <p:sp>
        <p:nvSpPr>
          <p:cNvPr id="2" name="Holder 2"/>
          <p:cNvSpPr>
            <a:spLocks noGrp="1"/>
          </p:cNvSpPr>
          <p:nvPr>
            <p:ph type="title"/>
          </p:nvPr>
        </p:nvSpPr>
        <p:spPr>
          <a:xfrm>
            <a:off x="3960367" y="43052"/>
            <a:ext cx="5683250" cy="696595"/>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body" idx="1"/>
          </p:nvPr>
        </p:nvSpPr>
        <p:spPr>
          <a:xfrm>
            <a:off x="330200" y="1243024"/>
            <a:ext cx="9149080" cy="2148204"/>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1389633" y="6646874"/>
            <a:ext cx="1143635" cy="177800"/>
          </a:xfrm>
          <a:prstGeom prst="rect">
            <a:avLst/>
          </a:prstGeom>
        </p:spPr>
        <p:txBody>
          <a:bodyPr wrap="square" lIns="0" tIns="0" rIns="0" bIns="0">
            <a:spAutoFit/>
          </a:bodyPr>
          <a:lstStyle>
            <a:lvl1pPr>
              <a:defRPr sz="1200" b="1" i="0">
                <a:solidFill>
                  <a:srgbClr val="4471C4"/>
                </a:solidFill>
                <a:latin typeface="Calibri"/>
                <a:cs typeface="Calibri"/>
              </a:defRPr>
            </a:lvl1p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8/25/2026</a:t>
            </a:fld>
            <a:endParaRPr lang="en-US"/>
          </a:p>
        </p:txBody>
      </p:sp>
      <p:sp>
        <p:nvSpPr>
          <p:cNvPr id="6" name="Holder 6"/>
          <p:cNvSpPr>
            <a:spLocks noGrp="1"/>
          </p:cNvSpPr>
          <p:nvPr>
            <p:ph type="sldNum" sz="quarter" idx="7"/>
          </p:nvPr>
        </p:nvSpPr>
        <p:spPr>
          <a:xfrm>
            <a:off x="11658854" y="6601764"/>
            <a:ext cx="244475" cy="177800"/>
          </a:xfrm>
          <a:prstGeom prst="rect">
            <a:avLst/>
          </a:prstGeom>
        </p:spPr>
        <p:txBody>
          <a:bodyPr wrap="square" lIns="0" tIns="0" rIns="0" bIns="0">
            <a:spAutoFit/>
          </a:bodyPr>
          <a:lstStyle>
            <a:lvl1pPr>
              <a:defRPr sz="1200" b="0" i="0">
                <a:solidFill>
                  <a:schemeClr val="tx1"/>
                </a:solidFill>
                <a:latin typeface="Calibri"/>
                <a:cs typeface="Calibri"/>
              </a:defRPr>
            </a:lvl1pPr>
          </a:lstStyle>
          <a:p>
            <a:pPr marL="38100">
              <a:lnSpc>
                <a:spcPts val="1240"/>
              </a:lnSpc>
            </a:pPr>
            <a:fld id="{81D60167-4931-47E6-BA6A-407CBD079E47}" type="slidenum">
              <a:rPr spc="-50" dirty="0">
                <a:solidFill>
                  <a:srgbClr val="F1F1F1"/>
                </a:solidFill>
              </a:rPr>
              <a:t>‹Nº›</a:t>
            </a:fld>
            <a:endParaRPr spc="-50" dirty="0">
              <a:solidFill>
                <a:srgbClr val="F1F1F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455033" y="2058289"/>
            <a:ext cx="1002665" cy="1268095"/>
            <a:chOff x="4455033" y="2058289"/>
            <a:chExt cx="1002665" cy="1268095"/>
          </a:xfrm>
        </p:grpSpPr>
        <p:sp>
          <p:nvSpPr>
            <p:cNvPr id="3" name="object 3"/>
            <p:cNvSpPr/>
            <p:nvPr/>
          </p:nvSpPr>
          <p:spPr>
            <a:xfrm>
              <a:off x="4459097" y="2062353"/>
              <a:ext cx="994410" cy="1260475"/>
            </a:xfrm>
            <a:custGeom>
              <a:avLst/>
              <a:gdLst/>
              <a:ahLst/>
              <a:cxnLst/>
              <a:rect l="l" t="t" r="r" b="b"/>
              <a:pathLst>
                <a:path w="994410" h="1260475">
                  <a:moveTo>
                    <a:pt x="994282" y="0"/>
                  </a:moveTo>
                  <a:lnTo>
                    <a:pt x="785113" y="0"/>
                  </a:lnTo>
                  <a:lnTo>
                    <a:pt x="785113" y="770636"/>
                  </a:lnTo>
                  <a:lnTo>
                    <a:pt x="783681" y="804015"/>
                  </a:lnTo>
                  <a:lnTo>
                    <a:pt x="772148" y="865772"/>
                  </a:lnTo>
                  <a:lnTo>
                    <a:pt x="749329" y="920464"/>
                  </a:lnTo>
                  <a:lnTo>
                    <a:pt x="717655" y="966946"/>
                  </a:lnTo>
                  <a:lnTo>
                    <a:pt x="677719" y="1005046"/>
                  </a:lnTo>
                  <a:lnTo>
                    <a:pt x="631618" y="1034192"/>
                  </a:lnTo>
                  <a:lnTo>
                    <a:pt x="580159" y="1054171"/>
                  </a:lnTo>
                  <a:lnTo>
                    <a:pt x="525486" y="1064267"/>
                  </a:lnTo>
                  <a:lnTo>
                    <a:pt x="497077" y="1065530"/>
                  </a:lnTo>
                  <a:lnTo>
                    <a:pt x="468995" y="1064293"/>
                  </a:lnTo>
                  <a:lnTo>
                    <a:pt x="415353" y="1054439"/>
                  </a:lnTo>
                  <a:lnTo>
                    <a:pt x="363714" y="1034813"/>
                  </a:lnTo>
                  <a:lnTo>
                    <a:pt x="317458" y="1005893"/>
                  </a:lnTo>
                  <a:lnTo>
                    <a:pt x="277475" y="967833"/>
                  </a:lnTo>
                  <a:lnTo>
                    <a:pt x="245574" y="921299"/>
                  </a:lnTo>
                  <a:lnTo>
                    <a:pt x="222436" y="866558"/>
                  </a:lnTo>
                  <a:lnTo>
                    <a:pt x="210538" y="804419"/>
                  </a:lnTo>
                  <a:lnTo>
                    <a:pt x="209041" y="770636"/>
                  </a:lnTo>
                  <a:lnTo>
                    <a:pt x="209041" y="0"/>
                  </a:lnTo>
                  <a:lnTo>
                    <a:pt x="0" y="0"/>
                  </a:lnTo>
                  <a:lnTo>
                    <a:pt x="0" y="775716"/>
                  </a:lnTo>
                  <a:lnTo>
                    <a:pt x="2527" y="832818"/>
                  </a:lnTo>
                  <a:lnTo>
                    <a:pt x="10103" y="886921"/>
                  </a:lnTo>
                  <a:lnTo>
                    <a:pt x="22713" y="938012"/>
                  </a:lnTo>
                  <a:lnTo>
                    <a:pt x="40347" y="986080"/>
                  </a:lnTo>
                  <a:lnTo>
                    <a:pt x="62991" y="1031113"/>
                  </a:lnTo>
                  <a:lnTo>
                    <a:pt x="90116" y="1072734"/>
                  </a:lnTo>
                  <a:lnTo>
                    <a:pt x="121184" y="1110430"/>
                  </a:lnTo>
                  <a:lnTo>
                    <a:pt x="156178" y="1144205"/>
                  </a:lnTo>
                  <a:lnTo>
                    <a:pt x="195080" y="1174068"/>
                  </a:lnTo>
                  <a:lnTo>
                    <a:pt x="237870" y="1200023"/>
                  </a:lnTo>
                  <a:lnTo>
                    <a:pt x="284018" y="1221619"/>
                  </a:lnTo>
                  <a:lnTo>
                    <a:pt x="333007" y="1238405"/>
                  </a:lnTo>
                  <a:lnTo>
                    <a:pt x="384842" y="1250388"/>
                  </a:lnTo>
                  <a:lnTo>
                    <a:pt x="439530" y="1257573"/>
                  </a:lnTo>
                  <a:lnTo>
                    <a:pt x="497077" y="1259967"/>
                  </a:lnTo>
                  <a:lnTo>
                    <a:pt x="554638" y="1257573"/>
                  </a:lnTo>
                  <a:lnTo>
                    <a:pt x="609358" y="1250388"/>
                  </a:lnTo>
                  <a:lnTo>
                    <a:pt x="661231" y="1238405"/>
                  </a:lnTo>
                  <a:lnTo>
                    <a:pt x="710251" y="1221619"/>
                  </a:lnTo>
                  <a:lnTo>
                    <a:pt x="756412" y="1200023"/>
                  </a:lnTo>
                  <a:lnTo>
                    <a:pt x="799251" y="1174068"/>
                  </a:lnTo>
                  <a:lnTo>
                    <a:pt x="838159" y="1144205"/>
                  </a:lnTo>
                  <a:lnTo>
                    <a:pt x="873135" y="1110430"/>
                  </a:lnTo>
                  <a:lnTo>
                    <a:pt x="904179" y="1072734"/>
                  </a:lnTo>
                  <a:lnTo>
                    <a:pt x="931290" y="1031113"/>
                  </a:lnTo>
                  <a:lnTo>
                    <a:pt x="953984" y="986032"/>
                  </a:lnTo>
                  <a:lnTo>
                    <a:pt x="971624" y="937957"/>
                  </a:lnTo>
                  <a:lnTo>
                    <a:pt x="984216" y="886884"/>
                  </a:lnTo>
                  <a:lnTo>
                    <a:pt x="991767" y="832806"/>
                  </a:lnTo>
                  <a:lnTo>
                    <a:pt x="994282" y="775716"/>
                  </a:lnTo>
                  <a:lnTo>
                    <a:pt x="994282" y="0"/>
                  </a:lnTo>
                  <a:close/>
                </a:path>
              </a:pathLst>
            </a:custGeom>
            <a:solidFill>
              <a:srgbClr val="FFFFFF"/>
            </a:solidFill>
          </p:spPr>
          <p:txBody>
            <a:bodyPr wrap="square" lIns="0" tIns="0" rIns="0" bIns="0" rtlCol="0"/>
            <a:lstStyle/>
            <a:p>
              <a:endParaRPr/>
            </a:p>
          </p:txBody>
        </p:sp>
        <p:sp>
          <p:nvSpPr>
            <p:cNvPr id="4" name="object 4"/>
            <p:cNvSpPr/>
            <p:nvPr/>
          </p:nvSpPr>
          <p:spPr>
            <a:xfrm>
              <a:off x="4459097" y="2062353"/>
              <a:ext cx="994410" cy="1260475"/>
            </a:xfrm>
            <a:custGeom>
              <a:avLst/>
              <a:gdLst/>
              <a:ahLst/>
              <a:cxnLst/>
              <a:rect l="l" t="t" r="r" b="b"/>
              <a:pathLst>
                <a:path w="994410" h="1260475">
                  <a:moveTo>
                    <a:pt x="785113" y="770636"/>
                  </a:moveTo>
                  <a:lnTo>
                    <a:pt x="779367" y="835739"/>
                  </a:lnTo>
                  <a:lnTo>
                    <a:pt x="762000" y="894080"/>
                  </a:lnTo>
                  <a:lnTo>
                    <a:pt x="734552" y="944753"/>
                  </a:lnTo>
                  <a:lnTo>
                    <a:pt x="698626" y="987044"/>
                  </a:lnTo>
                  <a:lnTo>
                    <a:pt x="655383" y="1020762"/>
                  </a:lnTo>
                  <a:lnTo>
                    <a:pt x="606425" y="1045337"/>
                  </a:lnTo>
                  <a:lnTo>
                    <a:pt x="553180" y="1060481"/>
                  </a:lnTo>
                  <a:lnTo>
                    <a:pt x="497077" y="1065530"/>
                  </a:lnTo>
                  <a:lnTo>
                    <a:pt x="468995" y="1064293"/>
                  </a:lnTo>
                  <a:lnTo>
                    <a:pt x="415353" y="1054439"/>
                  </a:lnTo>
                  <a:lnTo>
                    <a:pt x="363714" y="1034813"/>
                  </a:lnTo>
                  <a:lnTo>
                    <a:pt x="317458" y="1005893"/>
                  </a:lnTo>
                  <a:lnTo>
                    <a:pt x="277475" y="967833"/>
                  </a:lnTo>
                  <a:lnTo>
                    <a:pt x="245574" y="921299"/>
                  </a:lnTo>
                  <a:lnTo>
                    <a:pt x="222436" y="866558"/>
                  </a:lnTo>
                  <a:lnTo>
                    <a:pt x="210538" y="804419"/>
                  </a:lnTo>
                  <a:lnTo>
                    <a:pt x="209041" y="770636"/>
                  </a:lnTo>
                  <a:lnTo>
                    <a:pt x="209041" y="0"/>
                  </a:lnTo>
                  <a:lnTo>
                    <a:pt x="0" y="0"/>
                  </a:lnTo>
                  <a:lnTo>
                    <a:pt x="0" y="775716"/>
                  </a:lnTo>
                  <a:lnTo>
                    <a:pt x="2527" y="832818"/>
                  </a:lnTo>
                  <a:lnTo>
                    <a:pt x="10103" y="886921"/>
                  </a:lnTo>
                  <a:lnTo>
                    <a:pt x="22713" y="938012"/>
                  </a:lnTo>
                  <a:lnTo>
                    <a:pt x="40347" y="986080"/>
                  </a:lnTo>
                  <a:lnTo>
                    <a:pt x="62991" y="1031113"/>
                  </a:lnTo>
                  <a:lnTo>
                    <a:pt x="90116" y="1072734"/>
                  </a:lnTo>
                  <a:lnTo>
                    <a:pt x="121184" y="1110430"/>
                  </a:lnTo>
                  <a:lnTo>
                    <a:pt x="156178" y="1144205"/>
                  </a:lnTo>
                  <a:lnTo>
                    <a:pt x="195080" y="1174068"/>
                  </a:lnTo>
                  <a:lnTo>
                    <a:pt x="237870" y="1200023"/>
                  </a:lnTo>
                  <a:lnTo>
                    <a:pt x="284018" y="1221619"/>
                  </a:lnTo>
                  <a:lnTo>
                    <a:pt x="333007" y="1238405"/>
                  </a:lnTo>
                  <a:lnTo>
                    <a:pt x="384842" y="1250388"/>
                  </a:lnTo>
                  <a:lnTo>
                    <a:pt x="439530" y="1257573"/>
                  </a:lnTo>
                  <a:lnTo>
                    <a:pt x="497077" y="1259967"/>
                  </a:lnTo>
                  <a:lnTo>
                    <a:pt x="554638" y="1257573"/>
                  </a:lnTo>
                  <a:lnTo>
                    <a:pt x="609358" y="1250388"/>
                  </a:lnTo>
                  <a:lnTo>
                    <a:pt x="661231" y="1238405"/>
                  </a:lnTo>
                  <a:lnTo>
                    <a:pt x="710251" y="1221619"/>
                  </a:lnTo>
                  <a:lnTo>
                    <a:pt x="756412" y="1200023"/>
                  </a:lnTo>
                  <a:lnTo>
                    <a:pt x="799251" y="1174068"/>
                  </a:lnTo>
                  <a:lnTo>
                    <a:pt x="838159" y="1144205"/>
                  </a:lnTo>
                  <a:lnTo>
                    <a:pt x="873135" y="1110430"/>
                  </a:lnTo>
                  <a:lnTo>
                    <a:pt x="904179" y="1072734"/>
                  </a:lnTo>
                  <a:lnTo>
                    <a:pt x="931290" y="1031113"/>
                  </a:lnTo>
                  <a:lnTo>
                    <a:pt x="953984" y="986032"/>
                  </a:lnTo>
                  <a:lnTo>
                    <a:pt x="971624" y="937957"/>
                  </a:lnTo>
                  <a:lnTo>
                    <a:pt x="984216" y="886884"/>
                  </a:lnTo>
                  <a:lnTo>
                    <a:pt x="991767" y="832806"/>
                  </a:lnTo>
                  <a:lnTo>
                    <a:pt x="994282" y="775716"/>
                  </a:lnTo>
                  <a:lnTo>
                    <a:pt x="994282" y="0"/>
                  </a:lnTo>
                  <a:lnTo>
                    <a:pt x="785113" y="0"/>
                  </a:lnTo>
                  <a:lnTo>
                    <a:pt x="785113" y="770636"/>
                  </a:lnTo>
                  <a:close/>
                </a:path>
              </a:pathLst>
            </a:custGeom>
            <a:ln w="8128">
              <a:solidFill>
                <a:srgbClr val="FFFFFF"/>
              </a:solidFill>
            </a:ln>
          </p:spPr>
          <p:txBody>
            <a:bodyPr wrap="square" lIns="0" tIns="0" rIns="0" bIns="0" rtlCol="0"/>
            <a:lstStyle/>
            <a:p>
              <a:endParaRPr/>
            </a:p>
          </p:txBody>
        </p:sp>
      </p:grpSp>
      <p:grpSp>
        <p:nvGrpSpPr>
          <p:cNvPr id="5" name="object 5"/>
          <p:cNvGrpSpPr/>
          <p:nvPr/>
        </p:nvGrpSpPr>
        <p:grpSpPr>
          <a:xfrm>
            <a:off x="5552185" y="2058289"/>
            <a:ext cx="1089025" cy="1242695"/>
            <a:chOff x="5552185" y="2058289"/>
            <a:chExt cx="1089025" cy="1242695"/>
          </a:xfrm>
        </p:grpSpPr>
        <p:sp>
          <p:nvSpPr>
            <p:cNvPr id="6" name="object 6"/>
            <p:cNvSpPr/>
            <p:nvPr/>
          </p:nvSpPr>
          <p:spPr>
            <a:xfrm>
              <a:off x="5556249" y="2062353"/>
              <a:ext cx="1081405" cy="1234440"/>
            </a:xfrm>
            <a:custGeom>
              <a:avLst/>
              <a:gdLst/>
              <a:ahLst/>
              <a:cxnLst/>
              <a:rect l="l" t="t" r="r" b="b"/>
              <a:pathLst>
                <a:path w="1081404" h="1234439">
                  <a:moveTo>
                    <a:pt x="691769" y="0"/>
                  </a:moveTo>
                  <a:lnTo>
                    <a:pt x="389127" y="0"/>
                  </a:lnTo>
                  <a:lnTo>
                    <a:pt x="0" y="1234313"/>
                  </a:lnTo>
                  <a:lnTo>
                    <a:pt x="212598" y="1234313"/>
                  </a:lnTo>
                  <a:lnTo>
                    <a:pt x="296799" y="966851"/>
                  </a:lnTo>
                  <a:lnTo>
                    <a:pt x="996577" y="966851"/>
                  </a:lnTo>
                  <a:lnTo>
                    <a:pt x="935799" y="774064"/>
                  </a:lnTo>
                  <a:lnTo>
                    <a:pt x="357632" y="774064"/>
                  </a:lnTo>
                  <a:lnTo>
                    <a:pt x="538479" y="199898"/>
                  </a:lnTo>
                  <a:lnTo>
                    <a:pt x="754788" y="199898"/>
                  </a:lnTo>
                  <a:lnTo>
                    <a:pt x="691769" y="0"/>
                  </a:lnTo>
                  <a:close/>
                </a:path>
                <a:path w="1081404" h="1234439">
                  <a:moveTo>
                    <a:pt x="996577" y="966851"/>
                  </a:moveTo>
                  <a:lnTo>
                    <a:pt x="782954" y="966851"/>
                  </a:lnTo>
                  <a:lnTo>
                    <a:pt x="868299" y="1234313"/>
                  </a:lnTo>
                  <a:lnTo>
                    <a:pt x="1080897" y="1234313"/>
                  </a:lnTo>
                  <a:lnTo>
                    <a:pt x="996577" y="966851"/>
                  </a:lnTo>
                  <a:close/>
                </a:path>
                <a:path w="1081404" h="1234439">
                  <a:moveTo>
                    <a:pt x="754788" y="199898"/>
                  </a:moveTo>
                  <a:lnTo>
                    <a:pt x="538479" y="199898"/>
                  </a:lnTo>
                  <a:lnTo>
                    <a:pt x="721487" y="774064"/>
                  </a:lnTo>
                  <a:lnTo>
                    <a:pt x="935799" y="774064"/>
                  </a:lnTo>
                  <a:lnTo>
                    <a:pt x="754788" y="199898"/>
                  </a:lnTo>
                  <a:close/>
                </a:path>
              </a:pathLst>
            </a:custGeom>
            <a:solidFill>
              <a:srgbClr val="FFFFFF"/>
            </a:solidFill>
          </p:spPr>
          <p:txBody>
            <a:bodyPr wrap="square" lIns="0" tIns="0" rIns="0" bIns="0" rtlCol="0"/>
            <a:lstStyle/>
            <a:p>
              <a:endParaRPr/>
            </a:p>
          </p:txBody>
        </p:sp>
        <p:sp>
          <p:nvSpPr>
            <p:cNvPr id="7" name="object 7"/>
            <p:cNvSpPr/>
            <p:nvPr/>
          </p:nvSpPr>
          <p:spPr>
            <a:xfrm>
              <a:off x="5556249" y="2062353"/>
              <a:ext cx="1081405" cy="1234440"/>
            </a:xfrm>
            <a:custGeom>
              <a:avLst/>
              <a:gdLst/>
              <a:ahLst/>
              <a:cxnLst/>
              <a:rect l="l" t="t" r="r" b="b"/>
              <a:pathLst>
                <a:path w="1081404" h="1234439">
                  <a:moveTo>
                    <a:pt x="389127" y="0"/>
                  </a:moveTo>
                  <a:lnTo>
                    <a:pt x="0" y="1234313"/>
                  </a:lnTo>
                  <a:lnTo>
                    <a:pt x="212598" y="1234313"/>
                  </a:lnTo>
                  <a:lnTo>
                    <a:pt x="296799" y="966851"/>
                  </a:lnTo>
                  <a:lnTo>
                    <a:pt x="782954" y="966851"/>
                  </a:lnTo>
                  <a:lnTo>
                    <a:pt x="868299" y="1234313"/>
                  </a:lnTo>
                  <a:lnTo>
                    <a:pt x="1080897" y="1234313"/>
                  </a:lnTo>
                  <a:lnTo>
                    <a:pt x="691769" y="0"/>
                  </a:lnTo>
                  <a:lnTo>
                    <a:pt x="389254" y="0"/>
                  </a:lnTo>
                  <a:close/>
                </a:path>
                <a:path w="1081404" h="1234439">
                  <a:moveTo>
                    <a:pt x="357632" y="774064"/>
                  </a:moveTo>
                  <a:lnTo>
                    <a:pt x="538479" y="199898"/>
                  </a:lnTo>
                  <a:lnTo>
                    <a:pt x="721487" y="774064"/>
                  </a:lnTo>
                  <a:lnTo>
                    <a:pt x="357632" y="774064"/>
                  </a:lnTo>
                  <a:close/>
                </a:path>
              </a:pathLst>
            </a:custGeom>
            <a:ln w="8128">
              <a:solidFill>
                <a:srgbClr val="FFFFFF"/>
              </a:solidFill>
            </a:ln>
          </p:spPr>
          <p:txBody>
            <a:bodyPr wrap="square" lIns="0" tIns="0" rIns="0" bIns="0" rtlCol="0"/>
            <a:lstStyle/>
            <a:p>
              <a:endParaRPr/>
            </a:p>
          </p:txBody>
        </p:sp>
      </p:grpSp>
      <p:grpSp>
        <p:nvGrpSpPr>
          <p:cNvPr id="8" name="object 8"/>
          <p:cNvGrpSpPr/>
          <p:nvPr/>
        </p:nvGrpSpPr>
        <p:grpSpPr>
          <a:xfrm>
            <a:off x="2914121" y="992148"/>
            <a:ext cx="5146675" cy="3138170"/>
            <a:chOff x="2944241" y="1010411"/>
            <a:chExt cx="5146675" cy="3138170"/>
          </a:xfrm>
        </p:grpSpPr>
        <p:sp>
          <p:nvSpPr>
            <p:cNvPr id="9" name="object 9"/>
            <p:cNvSpPr/>
            <p:nvPr/>
          </p:nvSpPr>
          <p:spPr>
            <a:xfrm>
              <a:off x="6688455" y="2062352"/>
              <a:ext cx="1089660" cy="1234440"/>
            </a:xfrm>
            <a:custGeom>
              <a:avLst/>
              <a:gdLst/>
              <a:ahLst/>
              <a:cxnLst/>
              <a:rect l="l" t="t" r="r" b="b"/>
              <a:pathLst>
                <a:path w="1089659" h="1234439">
                  <a:moveTo>
                    <a:pt x="254508" y="0"/>
                  </a:moveTo>
                  <a:lnTo>
                    <a:pt x="0" y="0"/>
                  </a:lnTo>
                  <a:lnTo>
                    <a:pt x="290195" y="617220"/>
                  </a:lnTo>
                  <a:lnTo>
                    <a:pt x="0" y="1234313"/>
                  </a:lnTo>
                  <a:lnTo>
                    <a:pt x="254508" y="1234313"/>
                  </a:lnTo>
                  <a:lnTo>
                    <a:pt x="544702" y="617220"/>
                  </a:lnTo>
                  <a:lnTo>
                    <a:pt x="254508" y="0"/>
                  </a:lnTo>
                  <a:close/>
                </a:path>
                <a:path w="1089659" h="1234439">
                  <a:moveTo>
                    <a:pt x="1089405" y="0"/>
                  </a:moveTo>
                  <a:lnTo>
                    <a:pt x="834898" y="0"/>
                  </a:lnTo>
                  <a:lnTo>
                    <a:pt x="544702" y="617220"/>
                  </a:lnTo>
                  <a:lnTo>
                    <a:pt x="834898" y="1234313"/>
                  </a:lnTo>
                  <a:lnTo>
                    <a:pt x="1089405" y="1234313"/>
                  </a:lnTo>
                  <a:lnTo>
                    <a:pt x="799338" y="617220"/>
                  </a:lnTo>
                  <a:lnTo>
                    <a:pt x="1089405" y="0"/>
                  </a:lnTo>
                  <a:close/>
                </a:path>
              </a:pathLst>
            </a:custGeom>
            <a:solidFill>
              <a:srgbClr val="FFFFFF"/>
            </a:solidFill>
          </p:spPr>
          <p:txBody>
            <a:bodyPr wrap="square" lIns="0" tIns="0" rIns="0" bIns="0" rtlCol="0"/>
            <a:lstStyle/>
            <a:p>
              <a:endParaRPr/>
            </a:p>
          </p:txBody>
        </p:sp>
        <p:sp>
          <p:nvSpPr>
            <p:cNvPr id="10" name="object 10"/>
            <p:cNvSpPr/>
            <p:nvPr/>
          </p:nvSpPr>
          <p:spPr>
            <a:xfrm>
              <a:off x="6688455" y="2062352"/>
              <a:ext cx="1089660" cy="1234440"/>
            </a:xfrm>
            <a:custGeom>
              <a:avLst/>
              <a:gdLst/>
              <a:ahLst/>
              <a:cxnLst/>
              <a:rect l="l" t="t" r="r" b="b"/>
              <a:pathLst>
                <a:path w="1089659" h="1234439">
                  <a:moveTo>
                    <a:pt x="1089405" y="0"/>
                  </a:moveTo>
                  <a:lnTo>
                    <a:pt x="834898" y="0"/>
                  </a:lnTo>
                  <a:lnTo>
                    <a:pt x="544702" y="617220"/>
                  </a:lnTo>
                  <a:lnTo>
                    <a:pt x="254508" y="0"/>
                  </a:lnTo>
                  <a:lnTo>
                    <a:pt x="0" y="0"/>
                  </a:lnTo>
                  <a:lnTo>
                    <a:pt x="290195" y="617220"/>
                  </a:lnTo>
                  <a:lnTo>
                    <a:pt x="0" y="1234313"/>
                  </a:lnTo>
                  <a:lnTo>
                    <a:pt x="254508" y="1234313"/>
                  </a:lnTo>
                  <a:lnTo>
                    <a:pt x="544702" y="617220"/>
                  </a:lnTo>
                  <a:lnTo>
                    <a:pt x="834898" y="1234313"/>
                  </a:lnTo>
                  <a:lnTo>
                    <a:pt x="1089405" y="1234313"/>
                  </a:lnTo>
                  <a:lnTo>
                    <a:pt x="799338" y="617220"/>
                  </a:lnTo>
                  <a:lnTo>
                    <a:pt x="1089405" y="0"/>
                  </a:lnTo>
                  <a:close/>
                </a:path>
              </a:pathLst>
            </a:custGeom>
            <a:ln w="8128">
              <a:solidFill>
                <a:srgbClr val="FFFFFF"/>
              </a:solidFill>
            </a:ln>
          </p:spPr>
          <p:txBody>
            <a:bodyPr wrap="square" lIns="0" tIns="0" rIns="0" bIns="0" rtlCol="0"/>
            <a:lstStyle/>
            <a:p>
              <a:endParaRPr/>
            </a:p>
          </p:txBody>
        </p:sp>
        <p:sp>
          <p:nvSpPr>
            <p:cNvPr id="11" name="object 11"/>
            <p:cNvSpPr/>
            <p:nvPr/>
          </p:nvSpPr>
          <p:spPr>
            <a:xfrm>
              <a:off x="2944241" y="1010411"/>
              <a:ext cx="5146675" cy="3138170"/>
            </a:xfrm>
            <a:custGeom>
              <a:avLst/>
              <a:gdLst/>
              <a:ahLst/>
              <a:cxnLst/>
              <a:rect l="l" t="t" r="r" b="b"/>
              <a:pathLst>
                <a:path w="5146675" h="3138170">
                  <a:moveTo>
                    <a:pt x="5146293" y="0"/>
                  </a:moveTo>
                  <a:lnTo>
                    <a:pt x="0" y="0"/>
                  </a:lnTo>
                  <a:lnTo>
                    <a:pt x="0" y="457200"/>
                  </a:lnTo>
                  <a:lnTo>
                    <a:pt x="418972" y="457200"/>
                  </a:lnTo>
                  <a:lnTo>
                    <a:pt x="941705" y="1568958"/>
                  </a:lnTo>
                  <a:lnTo>
                    <a:pt x="418972" y="2680716"/>
                  </a:lnTo>
                  <a:lnTo>
                    <a:pt x="0" y="2680716"/>
                  </a:lnTo>
                  <a:lnTo>
                    <a:pt x="0" y="3137916"/>
                  </a:lnTo>
                  <a:lnTo>
                    <a:pt x="5146293" y="3137916"/>
                  </a:lnTo>
                  <a:lnTo>
                    <a:pt x="5146293" y="0"/>
                  </a:lnTo>
                  <a:close/>
                </a:path>
              </a:pathLst>
            </a:custGeom>
            <a:solidFill>
              <a:srgbClr val="005FAB"/>
            </a:solidFill>
          </p:spPr>
          <p:txBody>
            <a:bodyPr wrap="square" lIns="0" tIns="0" rIns="0" bIns="0" rtlCol="0"/>
            <a:lstStyle/>
            <a:p>
              <a:endParaRPr/>
            </a:p>
          </p:txBody>
        </p:sp>
      </p:grpSp>
      <p:sp>
        <p:nvSpPr>
          <p:cNvPr id="15" name="CuadroTexto 14">
            <a:extLst>
              <a:ext uri="{FF2B5EF4-FFF2-40B4-BE49-F238E27FC236}">
                <a16:creationId xmlns:a16="http://schemas.microsoft.com/office/drawing/2014/main" id="{3E1A82FC-D9B6-D477-7C82-91B2539990C8}"/>
              </a:ext>
            </a:extLst>
          </p:cNvPr>
          <p:cNvSpPr txBox="1"/>
          <p:nvPr/>
        </p:nvSpPr>
        <p:spPr>
          <a:xfrm>
            <a:off x="1828800" y="1914327"/>
            <a:ext cx="8916296" cy="2585323"/>
          </a:xfrm>
          <a:prstGeom prst="rect">
            <a:avLst/>
          </a:prstGeom>
          <a:noFill/>
        </p:spPr>
        <p:txBody>
          <a:bodyPr wrap="square">
            <a:spAutoFit/>
          </a:bodyPr>
          <a:lstStyle/>
          <a:p>
            <a:pPr algn="ctr"/>
            <a:r>
              <a:rPr lang="es-ES" sz="5400" dirty="0">
                <a:solidFill>
                  <a:schemeClr val="bg1"/>
                </a:solidFill>
              </a:rPr>
              <a:t>Impacto de la Arquitectura RAG en las Alucinaciones de los LLMs</a:t>
            </a:r>
          </a:p>
        </p:txBody>
      </p:sp>
      <p:sp>
        <p:nvSpPr>
          <p:cNvPr id="19" name="CuadroTexto 18">
            <a:extLst>
              <a:ext uri="{FF2B5EF4-FFF2-40B4-BE49-F238E27FC236}">
                <a16:creationId xmlns:a16="http://schemas.microsoft.com/office/drawing/2014/main" id="{23CD61E9-C0F6-2AA4-F506-212C3A27CF08}"/>
              </a:ext>
            </a:extLst>
          </p:cNvPr>
          <p:cNvSpPr txBox="1"/>
          <p:nvPr/>
        </p:nvSpPr>
        <p:spPr>
          <a:xfrm>
            <a:off x="381000" y="5708865"/>
            <a:ext cx="6094206" cy="369332"/>
          </a:xfrm>
          <a:prstGeom prst="rect">
            <a:avLst/>
          </a:prstGeom>
          <a:noFill/>
        </p:spPr>
        <p:txBody>
          <a:bodyPr wrap="square">
            <a:spAutoFit/>
          </a:bodyPr>
          <a:lstStyle/>
          <a:p>
            <a:r>
              <a:rPr lang="es-ES" dirty="0">
                <a:solidFill>
                  <a:schemeClr val="bg1"/>
                </a:solidFill>
              </a:rPr>
              <a:t>Producto: </a:t>
            </a:r>
            <a:r>
              <a:rPr lang="es-ES" dirty="0" err="1">
                <a:solidFill>
                  <a:schemeClr val="bg1"/>
                </a:solidFill>
              </a:rPr>
              <a:t>AgroPS</a:t>
            </a:r>
            <a:r>
              <a:rPr lang="es-ES" dirty="0">
                <a:solidFill>
                  <a:schemeClr val="bg1"/>
                </a:solidFill>
              </a:rPr>
              <a:t> (asistente documental agrícola).</a:t>
            </a:r>
          </a:p>
        </p:txBody>
      </p:sp>
      <p:sp>
        <p:nvSpPr>
          <p:cNvPr id="21" name="CuadroTexto 20">
            <a:extLst>
              <a:ext uri="{FF2B5EF4-FFF2-40B4-BE49-F238E27FC236}">
                <a16:creationId xmlns:a16="http://schemas.microsoft.com/office/drawing/2014/main" id="{5404CBD4-0E23-C6B1-E167-DDEDFE7280CF}"/>
              </a:ext>
            </a:extLst>
          </p:cNvPr>
          <p:cNvSpPr txBox="1"/>
          <p:nvPr/>
        </p:nvSpPr>
        <p:spPr>
          <a:xfrm>
            <a:off x="381000" y="6078197"/>
            <a:ext cx="6094206" cy="369332"/>
          </a:xfrm>
          <a:prstGeom prst="rect">
            <a:avLst/>
          </a:prstGeom>
          <a:noFill/>
        </p:spPr>
        <p:txBody>
          <a:bodyPr wrap="square">
            <a:spAutoFit/>
          </a:bodyPr>
          <a:lstStyle/>
          <a:p>
            <a:r>
              <a:rPr lang="es-ES" dirty="0">
                <a:solidFill>
                  <a:schemeClr val="bg1"/>
                </a:solidFill>
              </a:rPr>
              <a:t>Autor: Samuel Lorenzo Sánchez</a:t>
            </a:r>
          </a:p>
        </p:txBody>
      </p:sp>
      <p:sp>
        <p:nvSpPr>
          <p:cNvPr id="23" name="CuadroTexto 22">
            <a:extLst>
              <a:ext uri="{FF2B5EF4-FFF2-40B4-BE49-F238E27FC236}">
                <a16:creationId xmlns:a16="http://schemas.microsoft.com/office/drawing/2014/main" id="{2F6DCEF5-8E4B-008C-F860-64F1EF4C69A8}"/>
              </a:ext>
            </a:extLst>
          </p:cNvPr>
          <p:cNvSpPr txBox="1"/>
          <p:nvPr/>
        </p:nvSpPr>
        <p:spPr>
          <a:xfrm>
            <a:off x="8060796" y="6078197"/>
            <a:ext cx="6094206" cy="369332"/>
          </a:xfrm>
          <a:prstGeom prst="rect">
            <a:avLst/>
          </a:prstGeom>
          <a:noFill/>
        </p:spPr>
        <p:txBody>
          <a:bodyPr wrap="square">
            <a:spAutoFit/>
          </a:bodyPr>
          <a:lstStyle/>
          <a:p>
            <a:r>
              <a:rPr lang="es-ES" dirty="0">
                <a:solidFill>
                  <a:schemeClr val="bg1"/>
                </a:solidFill>
              </a:rPr>
              <a:t>Tutor: Carlos Granados Aguilar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3175"/>
            <a:ext cx="12192000" cy="6864350"/>
            <a:chOff x="0" y="-3175"/>
            <a:chExt cx="12192000" cy="6864350"/>
          </a:xfrm>
        </p:grpSpPr>
        <p:sp>
          <p:nvSpPr>
            <p:cNvPr id="3" name="object 3"/>
            <p:cNvSpPr/>
            <p:nvPr/>
          </p:nvSpPr>
          <p:spPr>
            <a:xfrm>
              <a:off x="6513163" y="0"/>
              <a:ext cx="4590415" cy="6858000"/>
            </a:xfrm>
            <a:custGeom>
              <a:avLst/>
              <a:gdLst/>
              <a:ahLst/>
              <a:cxnLst/>
              <a:rect l="l" t="t" r="r" b="b"/>
              <a:pathLst>
                <a:path w="4590414" h="6858000">
                  <a:moveTo>
                    <a:pt x="4590229" y="0"/>
                  </a:moveTo>
                  <a:lnTo>
                    <a:pt x="1366405" y="6858000"/>
                  </a:lnTo>
                </a:path>
                <a:path w="4590414" h="6858000">
                  <a:moveTo>
                    <a:pt x="3907305" y="0"/>
                  </a:moveTo>
                  <a:lnTo>
                    <a:pt x="682895" y="6858000"/>
                  </a:lnTo>
                </a:path>
                <a:path w="4590414" h="6858000">
                  <a:moveTo>
                    <a:pt x="0" y="6858000"/>
                  </a:moveTo>
                  <a:lnTo>
                    <a:pt x="3224088" y="0"/>
                  </a:lnTo>
                </a:path>
                <a:path w="4590414" h="6858000">
                  <a:moveTo>
                    <a:pt x="77" y="0"/>
                  </a:moveTo>
                  <a:lnTo>
                    <a:pt x="3223881" y="6858000"/>
                  </a:lnTo>
                </a:path>
                <a:path w="4590414" h="6858000">
                  <a:moveTo>
                    <a:pt x="682848" y="0"/>
                  </a:moveTo>
                  <a:lnTo>
                    <a:pt x="3907385" y="6857999"/>
                  </a:lnTo>
                </a:path>
                <a:path w="4590414" h="6858000">
                  <a:moveTo>
                    <a:pt x="4590247" y="6858000"/>
                  </a:moveTo>
                  <a:lnTo>
                    <a:pt x="1366225" y="0"/>
                  </a:lnTo>
                </a:path>
                <a:path w="4590414" h="6858000">
                  <a:moveTo>
                    <a:pt x="2979451" y="3433317"/>
                  </a:moveTo>
                  <a:lnTo>
                    <a:pt x="3757961" y="5089144"/>
                  </a:lnTo>
                </a:path>
                <a:path w="4590414" h="6858000">
                  <a:moveTo>
                    <a:pt x="1513490" y="1767966"/>
                  </a:moveTo>
                  <a:lnTo>
                    <a:pt x="3070637" y="5079873"/>
                  </a:lnTo>
                </a:path>
                <a:path w="4590414" h="6858000">
                  <a:moveTo>
                    <a:pt x="831627" y="1767966"/>
                  </a:moveTo>
                  <a:lnTo>
                    <a:pt x="1610137" y="3423920"/>
                  </a:lnTo>
                </a:path>
                <a:path w="4590414" h="6858000">
                  <a:moveTo>
                    <a:pt x="3755548" y="1773047"/>
                  </a:moveTo>
                  <a:lnTo>
                    <a:pt x="2977038" y="3429127"/>
                  </a:lnTo>
                </a:path>
                <a:path w="4590414" h="6858000">
                  <a:moveTo>
                    <a:pt x="3074955" y="1767966"/>
                  </a:moveTo>
                  <a:lnTo>
                    <a:pt x="1517681" y="5079873"/>
                  </a:lnTo>
                </a:path>
                <a:path w="4590414" h="6858000">
                  <a:moveTo>
                    <a:pt x="1610772" y="3429127"/>
                  </a:moveTo>
                  <a:lnTo>
                    <a:pt x="832389" y="5084953"/>
                  </a:lnTo>
                </a:path>
              </a:pathLst>
            </a:custGeom>
            <a:ln w="6350">
              <a:solidFill>
                <a:srgbClr val="BEBEBE"/>
              </a:solidFill>
            </a:ln>
          </p:spPr>
          <p:txBody>
            <a:bodyPr wrap="square" lIns="0" tIns="0" rIns="0" bIns="0" rtlCol="0"/>
            <a:lstStyle/>
            <a:p>
              <a:endParaRPr/>
            </a:p>
          </p:txBody>
        </p:sp>
        <p:sp>
          <p:nvSpPr>
            <p:cNvPr id="4" name="object 4"/>
            <p:cNvSpPr/>
            <p:nvPr/>
          </p:nvSpPr>
          <p:spPr>
            <a:xfrm>
              <a:off x="0" y="1764791"/>
              <a:ext cx="12192000" cy="3322320"/>
            </a:xfrm>
            <a:custGeom>
              <a:avLst/>
              <a:gdLst/>
              <a:ahLst/>
              <a:cxnLst/>
              <a:rect l="l" t="t" r="r" b="b"/>
              <a:pathLst>
                <a:path w="12192000" h="3322320">
                  <a:moveTo>
                    <a:pt x="12192000" y="3315716"/>
                  </a:moveTo>
                  <a:lnTo>
                    <a:pt x="0" y="3315716"/>
                  </a:lnTo>
                  <a:lnTo>
                    <a:pt x="0" y="3322066"/>
                  </a:lnTo>
                  <a:lnTo>
                    <a:pt x="12192000" y="3322066"/>
                  </a:lnTo>
                  <a:lnTo>
                    <a:pt x="12192000" y="3315716"/>
                  </a:lnTo>
                  <a:close/>
                </a:path>
                <a:path w="12192000" h="3322320">
                  <a:moveTo>
                    <a:pt x="12192000" y="1662049"/>
                  </a:moveTo>
                  <a:lnTo>
                    <a:pt x="0" y="1662049"/>
                  </a:lnTo>
                  <a:lnTo>
                    <a:pt x="0" y="1668399"/>
                  </a:lnTo>
                  <a:lnTo>
                    <a:pt x="12192000" y="1668399"/>
                  </a:lnTo>
                  <a:lnTo>
                    <a:pt x="12192000" y="1662049"/>
                  </a:lnTo>
                  <a:close/>
                </a:path>
                <a:path w="12192000" h="3322320">
                  <a:moveTo>
                    <a:pt x="12192000" y="0"/>
                  </a:moveTo>
                  <a:lnTo>
                    <a:pt x="0" y="0"/>
                  </a:lnTo>
                  <a:lnTo>
                    <a:pt x="0" y="6350"/>
                  </a:lnTo>
                  <a:lnTo>
                    <a:pt x="12192000" y="6350"/>
                  </a:lnTo>
                  <a:lnTo>
                    <a:pt x="12192000" y="0"/>
                  </a:lnTo>
                  <a:close/>
                </a:path>
              </a:pathLst>
            </a:custGeom>
            <a:solidFill>
              <a:srgbClr val="BEBEBE"/>
            </a:solidFill>
          </p:spPr>
          <p:txBody>
            <a:bodyPr wrap="square" lIns="0" tIns="0" rIns="0" bIns="0" rtlCol="0"/>
            <a:lstStyle/>
            <a:p>
              <a:endParaRPr/>
            </a:p>
          </p:txBody>
        </p:sp>
        <p:sp>
          <p:nvSpPr>
            <p:cNvPr id="5" name="object 5"/>
            <p:cNvSpPr/>
            <p:nvPr/>
          </p:nvSpPr>
          <p:spPr>
            <a:xfrm>
              <a:off x="7345553" y="1773047"/>
              <a:ext cx="2923540" cy="3312160"/>
            </a:xfrm>
            <a:custGeom>
              <a:avLst/>
              <a:gdLst/>
              <a:ahLst/>
              <a:cxnLst/>
              <a:rect l="l" t="t" r="r" b="b"/>
              <a:pathLst>
                <a:path w="2923539" h="3312160">
                  <a:moveTo>
                    <a:pt x="683005" y="0"/>
                  </a:moveTo>
                  <a:lnTo>
                    <a:pt x="0" y="0"/>
                  </a:lnTo>
                </a:path>
                <a:path w="2923539" h="3312160">
                  <a:moveTo>
                    <a:pt x="2240153" y="0"/>
                  </a:moveTo>
                  <a:lnTo>
                    <a:pt x="2923158" y="0"/>
                  </a:lnTo>
                </a:path>
                <a:path w="2923539" h="3312160">
                  <a:moveTo>
                    <a:pt x="2923158" y="3311905"/>
                  </a:moveTo>
                  <a:lnTo>
                    <a:pt x="2240153" y="3311905"/>
                  </a:lnTo>
                </a:path>
                <a:path w="2923539" h="3312160">
                  <a:moveTo>
                    <a:pt x="683005" y="3311905"/>
                  </a:moveTo>
                  <a:lnTo>
                    <a:pt x="0" y="3311905"/>
                  </a:lnTo>
                </a:path>
              </a:pathLst>
            </a:custGeom>
            <a:ln w="6350">
              <a:solidFill>
                <a:srgbClr val="BEBEBE"/>
              </a:solidFill>
            </a:ln>
          </p:spPr>
          <p:txBody>
            <a:bodyPr wrap="square" lIns="0" tIns="0" rIns="0" bIns="0" rtlCol="0"/>
            <a:lstStyle/>
            <a:p>
              <a:endParaRPr/>
            </a:p>
          </p:txBody>
        </p:sp>
        <p:sp>
          <p:nvSpPr>
            <p:cNvPr id="6" name="object 6"/>
            <p:cNvSpPr/>
            <p:nvPr/>
          </p:nvSpPr>
          <p:spPr>
            <a:xfrm>
              <a:off x="7345553" y="1773047"/>
              <a:ext cx="2923540" cy="3312160"/>
            </a:xfrm>
            <a:custGeom>
              <a:avLst/>
              <a:gdLst/>
              <a:ahLst/>
              <a:cxnLst/>
              <a:rect l="l" t="t" r="r" b="b"/>
              <a:pathLst>
                <a:path w="2923539" h="3312160">
                  <a:moveTo>
                    <a:pt x="683005" y="0"/>
                  </a:moveTo>
                  <a:lnTo>
                    <a:pt x="0" y="0"/>
                  </a:lnTo>
                  <a:lnTo>
                    <a:pt x="778382" y="1656079"/>
                  </a:lnTo>
                  <a:lnTo>
                    <a:pt x="0" y="3311905"/>
                  </a:lnTo>
                  <a:lnTo>
                    <a:pt x="683005" y="3311905"/>
                  </a:lnTo>
                  <a:lnTo>
                    <a:pt x="1461516" y="1656079"/>
                  </a:lnTo>
                  <a:lnTo>
                    <a:pt x="683005" y="0"/>
                  </a:lnTo>
                  <a:close/>
                </a:path>
                <a:path w="2923539" h="3312160">
                  <a:moveTo>
                    <a:pt x="2923158" y="0"/>
                  </a:moveTo>
                  <a:lnTo>
                    <a:pt x="2240153" y="0"/>
                  </a:lnTo>
                  <a:lnTo>
                    <a:pt x="1461516" y="1656079"/>
                  </a:lnTo>
                  <a:lnTo>
                    <a:pt x="2240153" y="3311905"/>
                  </a:lnTo>
                  <a:lnTo>
                    <a:pt x="2923158" y="3311905"/>
                  </a:lnTo>
                  <a:lnTo>
                    <a:pt x="2144649" y="1656079"/>
                  </a:lnTo>
                  <a:lnTo>
                    <a:pt x="2923158" y="0"/>
                  </a:lnTo>
                  <a:close/>
                </a:path>
              </a:pathLst>
            </a:custGeom>
            <a:solidFill>
              <a:srgbClr val="005FAB"/>
            </a:solidFill>
          </p:spPr>
          <p:txBody>
            <a:bodyPr wrap="square" lIns="0" tIns="0" rIns="0" bIns="0" rtlCol="0"/>
            <a:lstStyle/>
            <a:p>
              <a:endParaRPr/>
            </a:p>
          </p:txBody>
        </p:sp>
        <p:sp>
          <p:nvSpPr>
            <p:cNvPr id="7" name="object 7"/>
            <p:cNvSpPr/>
            <p:nvPr/>
          </p:nvSpPr>
          <p:spPr>
            <a:xfrm>
              <a:off x="11088611" y="166128"/>
              <a:ext cx="624205" cy="360680"/>
            </a:xfrm>
            <a:custGeom>
              <a:avLst/>
              <a:gdLst/>
              <a:ahLst/>
              <a:cxnLst/>
              <a:rect l="l" t="t" r="r" b="b"/>
              <a:pathLst>
                <a:path w="624204" h="360680">
                  <a:moveTo>
                    <a:pt x="284759" y="0"/>
                  </a:moveTo>
                  <a:lnTo>
                    <a:pt x="224840" y="0"/>
                  </a:lnTo>
                  <a:lnTo>
                    <a:pt x="224840" y="220446"/>
                  </a:lnTo>
                  <a:lnTo>
                    <a:pt x="224421" y="230047"/>
                  </a:lnTo>
                  <a:lnTo>
                    <a:pt x="210312" y="270332"/>
                  </a:lnTo>
                  <a:lnTo>
                    <a:pt x="180822" y="295897"/>
                  </a:lnTo>
                  <a:lnTo>
                    <a:pt x="142328" y="304850"/>
                  </a:lnTo>
                  <a:lnTo>
                    <a:pt x="134416" y="304507"/>
                  </a:lnTo>
                  <a:lnTo>
                    <a:pt x="97282" y="292290"/>
                  </a:lnTo>
                  <a:lnTo>
                    <a:pt x="70281" y="263613"/>
                  </a:lnTo>
                  <a:lnTo>
                    <a:pt x="59804" y="220446"/>
                  </a:lnTo>
                  <a:lnTo>
                    <a:pt x="59804" y="0"/>
                  </a:lnTo>
                  <a:lnTo>
                    <a:pt x="0" y="0"/>
                  </a:lnTo>
                  <a:lnTo>
                    <a:pt x="0" y="221919"/>
                  </a:lnTo>
                  <a:lnTo>
                    <a:pt x="1130" y="242252"/>
                  </a:lnTo>
                  <a:lnTo>
                    <a:pt x="17983" y="295135"/>
                  </a:lnTo>
                  <a:lnTo>
                    <a:pt x="52908" y="333933"/>
                  </a:lnTo>
                  <a:lnTo>
                    <a:pt x="102654" y="356349"/>
                  </a:lnTo>
                  <a:lnTo>
                    <a:pt x="142328" y="360667"/>
                  </a:lnTo>
                  <a:lnTo>
                    <a:pt x="162801" y="359587"/>
                  </a:lnTo>
                  <a:lnTo>
                    <a:pt x="199936" y="350951"/>
                  </a:lnTo>
                  <a:lnTo>
                    <a:pt x="245160" y="322732"/>
                  </a:lnTo>
                  <a:lnTo>
                    <a:pt x="274561" y="278866"/>
                  </a:lnTo>
                  <a:lnTo>
                    <a:pt x="284759" y="221919"/>
                  </a:lnTo>
                  <a:lnTo>
                    <a:pt x="284759" y="0"/>
                  </a:lnTo>
                  <a:close/>
                </a:path>
                <a:path w="624204" h="360680">
                  <a:moveTo>
                    <a:pt x="623785" y="353212"/>
                  </a:moveTo>
                  <a:lnTo>
                    <a:pt x="599643" y="276720"/>
                  </a:lnTo>
                  <a:lnTo>
                    <a:pt x="582206" y="221462"/>
                  </a:lnTo>
                  <a:lnTo>
                    <a:pt x="530313" y="57061"/>
                  </a:lnTo>
                  <a:lnTo>
                    <a:pt x="520788" y="26885"/>
                  </a:lnTo>
                  <a:lnTo>
                    <a:pt x="520788" y="221462"/>
                  </a:lnTo>
                  <a:lnTo>
                    <a:pt x="416572" y="221462"/>
                  </a:lnTo>
                  <a:lnTo>
                    <a:pt x="468337" y="57061"/>
                  </a:lnTo>
                  <a:lnTo>
                    <a:pt x="520788" y="221462"/>
                  </a:lnTo>
                  <a:lnTo>
                    <a:pt x="520788" y="26885"/>
                  </a:lnTo>
                  <a:lnTo>
                    <a:pt x="512305" y="0"/>
                  </a:lnTo>
                  <a:lnTo>
                    <a:pt x="425615" y="0"/>
                  </a:lnTo>
                  <a:lnTo>
                    <a:pt x="314147" y="353212"/>
                  </a:lnTo>
                  <a:lnTo>
                    <a:pt x="375081" y="353212"/>
                  </a:lnTo>
                  <a:lnTo>
                    <a:pt x="399173" y="276720"/>
                  </a:lnTo>
                  <a:lnTo>
                    <a:pt x="538429" y="276720"/>
                  </a:lnTo>
                  <a:lnTo>
                    <a:pt x="562851" y="353212"/>
                  </a:lnTo>
                  <a:lnTo>
                    <a:pt x="623785" y="353212"/>
                  </a:lnTo>
                  <a:close/>
                </a:path>
              </a:pathLst>
            </a:custGeom>
            <a:solidFill>
              <a:srgbClr val="1D1D1D"/>
            </a:solidFill>
          </p:spPr>
          <p:txBody>
            <a:bodyPr wrap="square" lIns="0" tIns="0" rIns="0" bIns="0" rtlCol="0"/>
            <a:lstStyle/>
            <a:p>
              <a:endParaRPr dirty="0"/>
            </a:p>
          </p:txBody>
        </p:sp>
        <p:sp>
          <p:nvSpPr>
            <p:cNvPr id="8" name="object 8"/>
            <p:cNvSpPr/>
            <p:nvPr/>
          </p:nvSpPr>
          <p:spPr>
            <a:xfrm>
              <a:off x="11727090" y="166125"/>
              <a:ext cx="312420" cy="353695"/>
            </a:xfrm>
            <a:custGeom>
              <a:avLst/>
              <a:gdLst/>
              <a:ahLst/>
              <a:cxnLst/>
              <a:rect l="l" t="t" r="r" b="b"/>
              <a:pathLst>
                <a:path w="312420" h="353695">
                  <a:moveTo>
                    <a:pt x="72906" y="0"/>
                  </a:moveTo>
                  <a:lnTo>
                    <a:pt x="0" y="0"/>
                  </a:lnTo>
                  <a:lnTo>
                    <a:pt x="83093" y="176608"/>
                  </a:lnTo>
                  <a:lnTo>
                    <a:pt x="0" y="353212"/>
                  </a:lnTo>
                  <a:lnTo>
                    <a:pt x="72907" y="353212"/>
                  </a:lnTo>
                  <a:lnTo>
                    <a:pt x="156000" y="176608"/>
                  </a:lnTo>
                  <a:lnTo>
                    <a:pt x="72906" y="0"/>
                  </a:lnTo>
                  <a:close/>
                </a:path>
                <a:path w="312420" h="353695">
                  <a:moveTo>
                    <a:pt x="312000" y="0"/>
                  </a:moveTo>
                  <a:lnTo>
                    <a:pt x="239093" y="0"/>
                  </a:lnTo>
                  <a:lnTo>
                    <a:pt x="156000" y="176608"/>
                  </a:lnTo>
                  <a:lnTo>
                    <a:pt x="239094" y="353212"/>
                  </a:lnTo>
                  <a:lnTo>
                    <a:pt x="312000" y="353212"/>
                  </a:lnTo>
                  <a:lnTo>
                    <a:pt x="228906" y="176608"/>
                  </a:lnTo>
                  <a:lnTo>
                    <a:pt x="312000" y="0"/>
                  </a:lnTo>
                  <a:close/>
                </a:path>
              </a:pathLst>
            </a:custGeom>
            <a:solidFill>
              <a:srgbClr val="005FAE"/>
            </a:solidFill>
          </p:spPr>
          <p:txBody>
            <a:bodyPr wrap="square" lIns="0" tIns="0" rIns="0" bIns="0" rtlCol="0"/>
            <a:lstStyle/>
            <a:p>
              <a:endParaRPr/>
            </a:p>
          </p:txBody>
        </p:sp>
        <p:sp>
          <p:nvSpPr>
            <p:cNvPr id="9" name="object 9"/>
            <p:cNvSpPr/>
            <p:nvPr/>
          </p:nvSpPr>
          <p:spPr>
            <a:xfrm>
              <a:off x="309499" y="6364985"/>
              <a:ext cx="159385" cy="360045"/>
            </a:xfrm>
            <a:custGeom>
              <a:avLst/>
              <a:gdLst/>
              <a:ahLst/>
              <a:cxnLst/>
              <a:rect l="l" t="t" r="r" b="b"/>
              <a:pathLst>
                <a:path w="159384" h="360045">
                  <a:moveTo>
                    <a:pt x="74244" y="0"/>
                  </a:moveTo>
                  <a:lnTo>
                    <a:pt x="0" y="0"/>
                  </a:lnTo>
                  <a:lnTo>
                    <a:pt x="84620" y="180009"/>
                  </a:lnTo>
                  <a:lnTo>
                    <a:pt x="0" y="360006"/>
                  </a:lnTo>
                  <a:lnTo>
                    <a:pt x="74244" y="360006"/>
                  </a:lnTo>
                  <a:lnTo>
                    <a:pt x="158877" y="180009"/>
                  </a:lnTo>
                  <a:lnTo>
                    <a:pt x="74244" y="0"/>
                  </a:lnTo>
                  <a:close/>
                </a:path>
              </a:pathLst>
            </a:custGeom>
            <a:solidFill>
              <a:srgbClr val="005FAB"/>
            </a:solidFill>
          </p:spPr>
          <p:txBody>
            <a:bodyPr wrap="square" lIns="0" tIns="0" rIns="0" bIns="0" rtlCol="0"/>
            <a:lstStyle/>
            <a:p>
              <a:endParaRPr/>
            </a:p>
          </p:txBody>
        </p:sp>
      </p:grpSp>
      <p:sp>
        <p:nvSpPr>
          <p:cNvPr id="15" name="Título 14">
            <a:extLst>
              <a:ext uri="{FF2B5EF4-FFF2-40B4-BE49-F238E27FC236}">
                <a16:creationId xmlns:a16="http://schemas.microsoft.com/office/drawing/2014/main" id="{78C61505-5DA4-513D-D964-CCCD2087DC88}"/>
              </a:ext>
            </a:extLst>
          </p:cNvPr>
          <p:cNvSpPr>
            <a:spLocks noGrp="1"/>
          </p:cNvSpPr>
          <p:nvPr>
            <p:ph type="title"/>
          </p:nvPr>
        </p:nvSpPr>
        <p:spPr>
          <a:xfrm>
            <a:off x="309499" y="2083341"/>
            <a:ext cx="5683250" cy="3016210"/>
          </a:xfrm>
        </p:spPr>
        <p:txBody>
          <a:bodyPr/>
          <a:lstStyle/>
          <a:p>
            <a:r>
              <a:rPr lang="es-ES" sz="2800" b="0" i="1" dirty="0">
                <a:latin typeface="Montserrat" panose="00000500000000000000" pitchFamily="2" charset="0"/>
              </a:rPr>
              <a:t>¿En qué medida un RAG híbrido reduce las alucinaciones y mejora la calidad frente a un LLM sin recuperación, en dominio normativo agrícola PAC/POSEI / asesoría canaria?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FAB"/>
          </a:solidFill>
        </p:spPr>
        <p:txBody>
          <a:bodyPr wrap="square" lIns="0" tIns="0" rIns="0" bIns="0" rtlCol="0"/>
          <a:lstStyle/>
          <a:p>
            <a:endParaRPr/>
          </a:p>
        </p:txBody>
      </p:sp>
      <p:sp>
        <p:nvSpPr>
          <p:cNvPr id="3" name="object 3"/>
          <p:cNvSpPr/>
          <p:nvPr/>
        </p:nvSpPr>
        <p:spPr>
          <a:xfrm>
            <a:off x="9232900" y="0"/>
            <a:ext cx="2959100" cy="6858000"/>
          </a:xfrm>
          <a:custGeom>
            <a:avLst/>
            <a:gdLst/>
            <a:ahLst/>
            <a:cxnLst/>
            <a:rect l="l" t="t" r="r" b="b"/>
            <a:pathLst>
              <a:path w="2959100" h="6858000">
                <a:moveTo>
                  <a:pt x="1606550" y="3430651"/>
                </a:moveTo>
                <a:lnTo>
                  <a:pt x="1600835" y="3417824"/>
                </a:lnTo>
                <a:lnTo>
                  <a:pt x="34798" y="0"/>
                </a:lnTo>
                <a:lnTo>
                  <a:pt x="0" y="0"/>
                </a:lnTo>
                <a:lnTo>
                  <a:pt x="1571752" y="3430651"/>
                </a:lnTo>
                <a:lnTo>
                  <a:pt x="2171" y="6858000"/>
                </a:lnTo>
                <a:lnTo>
                  <a:pt x="36969" y="6858000"/>
                </a:lnTo>
                <a:lnTo>
                  <a:pt x="1600835" y="3443986"/>
                </a:lnTo>
                <a:lnTo>
                  <a:pt x="1606550" y="3430651"/>
                </a:lnTo>
                <a:close/>
              </a:path>
              <a:path w="2959100" h="6858000">
                <a:moveTo>
                  <a:pt x="2959100" y="3420630"/>
                </a:moveTo>
                <a:lnTo>
                  <a:pt x="1392161" y="0"/>
                </a:lnTo>
                <a:lnTo>
                  <a:pt x="1357376" y="0"/>
                </a:lnTo>
                <a:lnTo>
                  <a:pt x="2929001" y="3431159"/>
                </a:lnTo>
                <a:lnTo>
                  <a:pt x="1359547" y="6858000"/>
                </a:lnTo>
                <a:lnTo>
                  <a:pt x="1394345" y="6858000"/>
                </a:lnTo>
                <a:lnTo>
                  <a:pt x="2959100" y="3441700"/>
                </a:lnTo>
                <a:lnTo>
                  <a:pt x="2959100" y="3420630"/>
                </a:lnTo>
                <a:close/>
              </a:path>
            </a:pathLst>
          </a:custGeom>
          <a:solidFill>
            <a:srgbClr val="F5F5F5"/>
          </a:solidFill>
        </p:spPr>
        <p:txBody>
          <a:bodyPr wrap="square" lIns="0" tIns="0" rIns="0" bIns="0" rtlCol="0"/>
          <a:lstStyle/>
          <a:p>
            <a:endParaRPr/>
          </a:p>
        </p:txBody>
      </p:sp>
      <p:sp>
        <p:nvSpPr>
          <p:cNvPr id="4" name="object 4"/>
          <p:cNvSpPr/>
          <p:nvPr/>
        </p:nvSpPr>
        <p:spPr>
          <a:xfrm>
            <a:off x="152857" y="165760"/>
            <a:ext cx="1424940" cy="541020"/>
          </a:xfrm>
          <a:custGeom>
            <a:avLst/>
            <a:gdLst/>
            <a:ahLst/>
            <a:cxnLst/>
            <a:rect l="l" t="t" r="r" b="b"/>
            <a:pathLst>
              <a:path w="1424940" h="541020">
                <a:moveTo>
                  <a:pt x="426910" y="0"/>
                </a:moveTo>
                <a:lnTo>
                  <a:pt x="337083" y="0"/>
                </a:lnTo>
                <a:lnTo>
                  <a:pt x="337083" y="330669"/>
                </a:lnTo>
                <a:lnTo>
                  <a:pt x="336448" y="345059"/>
                </a:lnTo>
                <a:lnTo>
                  <a:pt x="327088" y="383717"/>
                </a:lnTo>
                <a:lnTo>
                  <a:pt x="299796" y="423710"/>
                </a:lnTo>
                <a:lnTo>
                  <a:pt x="260324" y="448627"/>
                </a:lnTo>
                <a:lnTo>
                  <a:pt x="213372" y="457276"/>
                </a:lnTo>
                <a:lnTo>
                  <a:pt x="201523" y="456755"/>
                </a:lnTo>
                <a:lnTo>
                  <a:pt x="156070" y="444169"/>
                </a:lnTo>
                <a:lnTo>
                  <a:pt x="119087" y="415366"/>
                </a:lnTo>
                <a:lnTo>
                  <a:pt x="95377" y="371944"/>
                </a:lnTo>
                <a:lnTo>
                  <a:pt x="89662" y="330669"/>
                </a:lnTo>
                <a:lnTo>
                  <a:pt x="89662" y="0"/>
                </a:lnTo>
                <a:lnTo>
                  <a:pt x="0" y="0"/>
                </a:lnTo>
                <a:lnTo>
                  <a:pt x="0" y="332867"/>
                </a:lnTo>
                <a:lnTo>
                  <a:pt x="1689" y="363372"/>
                </a:lnTo>
                <a:lnTo>
                  <a:pt x="15163" y="418287"/>
                </a:lnTo>
                <a:lnTo>
                  <a:pt x="41757" y="464680"/>
                </a:lnTo>
                <a:lnTo>
                  <a:pt x="79311" y="500900"/>
                </a:lnTo>
                <a:lnTo>
                  <a:pt x="127012" y="526415"/>
                </a:lnTo>
                <a:lnTo>
                  <a:pt x="182676" y="539381"/>
                </a:lnTo>
                <a:lnTo>
                  <a:pt x="213372" y="540994"/>
                </a:lnTo>
                <a:lnTo>
                  <a:pt x="244068" y="539381"/>
                </a:lnTo>
                <a:lnTo>
                  <a:pt x="299745" y="526415"/>
                </a:lnTo>
                <a:lnTo>
                  <a:pt x="347446" y="500900"/>
                </a:lnTo>
                <a:lnTo>
                  <a:pt x="385000" y="464680"/>
                </a:lnTo>
                <a:lnTo>
                  <a:pt x="411619" y="418287"/>
                </a:lnTo>
                <a:lnTo>
                  <a:pt x="425196" y="363372"/>
                </a:lnTo>
                <a:lnTo>
                  <a:pt x="426910" y="332867"/>
                </a:lnTo>
                <a:lnTo>
                  <a:pt x="426910" y="0"/>
                </a:lnTo>
                <a:close/>
              </a:path>
              <a:path w="1424940" h="541020">
                <a:moveTo>
                  <a:pt x="935151" y="529818"/>
                </a:moveTo>
                <a:lnTo>
                  <a:pt x="898969" y="415074"/>
                </a:lnTo>
                <a:lnTo>
                  <a:pt x="872820" y="332193"/>
                </a:lnTo>
                <a:lnTo>
                  <a:pt x="795045" y="85585"/>
                </a:lnTo>
                <a:lnTo>
                  <a:pt x="780770" y="40322"/>
                </a:lnTo>
                <a:lnTo>
                  <a:pt x="780770" y="332193"/>
                </a:lnTo>
                <a:lnTo>
                  <a:pt x="624509" y="332193"/>
                </a:lnTo>
                <a:lnTo>
                  <a:pt x="702144" y="85585"/>
                </a:lnTo>
                <a:lnTo>
                  <a:pt x="780770" y="332193"/>
                </a:lnTo>
                <a:lnTo>
                  <a:pt x="780770" y="40322"/>
                </a:lnTo>
                <a:lnTo>
                  <a:pt x="768057" y="0"/>
                </a:lnTo>
                <a:lnTo>
                  <a:pt x="638073" y="0"/>
                </a:lnTo>
                <a:lnTo>
                  <a:pt x="470966" y="529818"/>
                </a:lnTo>
                <a:lnTo>
                  <a:pt x="562317" y="529818"/>
                </a:lnTo>
                <a:lnTo>
                  <a:pt x="598424" y="415074"/>
                </a:lnTo>
                <a:lnTo>
                  <a:pt x="807212" y="415074"/>
                </a:lnTo>
                <a:lnTo>
                  <a:pt x="843813" y="529818"/>
                </a:lnTo>
                <a:lnTo>
                  <a:pt x="935151" y="529818"/>
                </a:lnTo>
                <a:close/>
              </a:path>
              <a:path w="1424940" h="541020">
                <a:moveTo>
                  <a:pt x="1191069" y="264909"/>
                </a:moveTo>
                <a:lnTo>
                  <a:pt x="1066520" y="0"/>
                </a:lnTo>
                <a:lnTo>
                  <a:pt x="957211" y="0"/>
                </a:lnTo>
                <a:lnTo>
                  <a:pt x="1081760" y="264909"/>
                </a:lnTo>
                <a:lnTo>
                  <a:pt x="957211" y="529818"/>
                </a:lnTo>
                <a:lnTo>
                  <a:pt x="1066520" y="529818"/>
                </a:lnTo>
                <a:lnTo>
                  <a:pt x="1191069" y="264909"/>
                </a:lnTo>
                <a:close/>
              </a:path>
              <a:path w="1424940" h="541020">
                <a:moveTo>
                  <a:pt x="1424940" y="0"/>
                </a:moveTo>
                <a:lnTo>
                  <a:pt x="1315631" y="0"/>
                </a:lnTo>
                <a:lnTo>
                  <a:pt x="1191069" y="264909"/>
                </a:lnTo>
                <a:lnTo>
                  <a:pt x="1315631" y="529818"/>
                </a:lnTo>
                <a:lnTo>
                  <a:pt x="1424940" y="529818"/>
                </a:lnTo>
                <a:lnTo>
                  <a:pt x="1300378" y="264909"/>
                </a:lnTo>
                <a:lnTo>
                  <a:pt x="1424940" y="0"/>
                </a:lnTo>
                <a:close/>
              </a:path>
            </a:pathLst>
          </a:custGeom>
          <a:solidFill>
            <a:srgbClr val="F5F5F5"/>
          </a:solidFill>
        </p:spPr>
        <p:txBody>
          <a:bodyPr wrap="square" lIns="0" tIns="0" rIns="0" bIns="0" rtlCol="0"/>
          <a:lstStyle/>
          <a:p>
            <a:endParaRPr/>
          </a:p>
        </p:txBody>
      </p:sp>
      <p:pic>
        <p:nvPicPr>
          <p:cNvPr id="5" name="object 5"/>
          <p:cNvPicPr/>
          <p:nvPr/>
        </p:nvPicPr>
        <p:blipFill>
          <a:blip r:embed="rId2" cstate="print"/>
          <a:stretch>
            <a:fillRect/>
          </a:stretch>
        </p:blipFill>
        <p:spPr>
          <a:xfrm>
            <a:off x="1687291" y="430661"/>
            <a:ext cx="1324933" cy="267279"/>
          </a:xfrm>
          <a:prstGeom prst="rect">
            <a:avLst/>
          </a:prstGeom>
        </p:spPr>
      </p:pic>
      <p:pic>
        <p:nvPicPr>
          <p:cNvPr id="6" name="object 6"/>
          <p:cNvPicPr/>
          <p:nvPr/>
        </p:nvPicPr>
        <p:blipFill>
          <a:blip r:embed="rId3" cstate="print"/>
          <a:stretch>
            <a:fillRect/>
          </a:stretch>
        </p:blipFill>
        <p:spPr>
          <a:xfrm>
            <a:off x="66977" y="6631482"/>
            <a:ext cx="79441" cy="180002"/>
          </a:xfrm>
          <a:prstGeom prst="rect">
            <a:avLst/>
          </a:prstGeom>
        </p:spPr>
      </p:pic>
      <p:grpSp>
        <p:nvGrpSpPr>
          <p:cNvPr id="7" name="object 7"/>
          <p:cNvGrpSpPr/>
          <p:nvPr/>
        </p:nvGrpSpPr>
        <p:grpSpPr>
          <a:xfrm>
            <a:off x="7212710" y="1679190"/>
            <a:ext cx="4475480" cy="5179060"/>
            <a:chOff x="7212710" y="1679190"/>
            <a:chExt cx="4475480" cy="5179060"/>
          </a:xfrm>
        </p:grpSpPr>
        <p:sp>
          <p:nvSpPr>
            <p:cNvPr id="8" name="object 8"/>
            <p:cNvSpPr/>
            <p:nvPr/>
          </p:nvSpPr>
          <p:spPr>
            <a:xfrm>
              <a:off x="11641454" y="6537058"/>
              <a:ext cx="0" cy="276860"/>
            </a:xfrm>
            <a:custGeom>
              <a:avLst/>
              <a:gdLst/>
              <a:ahLst/>
              <a:cxnLst/>
              <a:rect l="l" t="t" r="r" b="b"/>
              <a:pathLst>
                <a:path h="276859">
                  <a:moveTo>
                    <a:pt x="0" y="0"/>
                  </a:moveTo>
                  <a:lnTo>
                    <a:pt x="0" y="276759"/>
                  </a:lnTo>
                </a:path>
              </a:pathLst>
            </a:custGeom>
            <a:ln w="28575">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7212710" y="1679190"/>
              <a:ext cx="4474972" cy="5178806"/>
            </a:xfrm>
            <a:prstGeom prst="rect">
              <a:avLst/>
            </a:prstGeom>
          </p:spPr>
        </p:pic>
      </p:grpSp>
      <p:sp>
        <p:nvSpPr>
          <p:cNvPr id="10" name="object 10"/>
          <p:cNvSpPr txBox="1"/>
          <p:nvPr/>
        </p:nvSpPr>
        <p:spPr>
          <a:xfrm>
            <a:off x="1687291" y="3124200"/>
            <a:ext cx="5416550" cy="4217180"/>
          </a:xfrm>
          <a:prstGeom prst="rect">
            <a:avLst/>
          </a:prstGeom>
        </p:spPr>
        <p:txBody>
          <a:bodyPr vert="horz" wrap="square" lIns="0" tIns="150495" rIns="0" bIns="0" numCol="2" rtlCol="0">
            <a:spAutoFit/>
          </a:bodyPr>
          <a:lstStyle/>
          <a:p>
            <a:pPr marL="299085" indent="-286385">
              <a:lnSpc>
                <a:spcPct val="100000"/>
              </a:lnSpc>
              <a:spcBef>
                <a:spcPts val="1185"/>
              </a:spcBef>
              <a:buClr>
                <a:srgbClr val="FFFFFF"/>
              </a:buClr>
              <a:buFont typeface="Wingdings"/>
              <a:buChar char=""/>
              <a:tabLst>
                <a:tab pos="299085" algn="l"/>
              </a:tabLst>
            </a:pPr>
            <a:r>
              <a:rPr lang="es-ES" sz="1800" b="1" spc="-10" dirty="0">
                <a:solidFill>
                  <a:srgbClr val="FFFFFF"/>
                </a:solidFill>
                <a:latin typeface="Calibri"/>
                <a:cs typeface="Calibri"/>
              </a:rPr>
              <a:t>¿QUÉ ES UN TFM?</a:t>
            </a:r>
          </a:p>
          <a:p>
            <a:pPr marL="299085" indent="-286385">
              <a:lnSpc>
                <a:spcPct val="100000"/>
              </a:lnSpc>
              <a:spcBef>
                <a:spcPts val="1185"/>
              </a:spcBef>
              <a:buClr>
                <a:srgbClr val="FFFFFF"/>
              </a:buClr>
              <a:buFont typeface="Wingdings"/>
              <a:buChar char=""/>
              <a:tabLst>
                <a:tab pos="299085" algn="l"/>
              </a:tabLst>
            </a:pPr>
            <a:r>
              <a:rPr sz="1800" b="1" spc="-10" dirty="0">
                <a:solidFill>
                  <a:srgbClr val="FFFFFF"/>
                </a:solidFill>
                <a:latin typeface="Calibri"/>
                <a:cs typeface="Calibri"/>
              </a:rPr>
              <a:t>DESARROLLO</a:t>
            </a:r>
            <a:endParaRPr sz="1800" dirty="0">
              <a:latin typeface="Calibri"/>
              <a:cs typeface="Calibri"/>
            </a:endParaRPr>
          </a:p>
          <a:p>
            <a:pPr marL="299085" indent="-286385">
              <a:lnSpc>
                <a:spcPct val="100000"/>
              </a:lnSpc>
              <a:spcBef>
                <a:spcPts val="1080"/>
              </a:spcBef>
              <a:buFont typeface="Wingdings"/>
              <a:buChar char=""/>
              <a:tabLst>
                <a:tab pos="299085" algn="l"/>
              </a:tabLst>
            </a:pPr>
            <a:r>
              <a:rPr sz="1800" b="1" spc="-10" dirty="0">
                <a:solidFill>
                  <a:srgbClr val="FFFFFF"/>
                </a:solidFill>
                <a:latin typeface="Calibri"/>
                <a:cs typeface="Calibri"/>
              </a:rPr>
              <a:t>SOLICITUD</a:t>
            </a:r>
            <a:endParaRPr sz="1800" dirty="0">
              <a:latin typeface="Calibri"/>
              <a:cs typeface="Calibri"/>
            </a:endParaRPr>
          </a:p>
          <a:p>
            <a:pPr marL="299085" indent="-286385">
              <a:lnSpc>
                <a:spcPct val="100000"/>
              </a:lnSpc>
              <a:spcBef>
                <a:spcPts val="1080"/>
              </a:spcBef>
              <a:buFont typeface="Wingdings"/>
              <a:buChar char=""/>
              <a:tabLst>
                <a:tab pos="299085" algn="l"/>
              </a:tabLst>
            </a:pPr>
            <a:r>
              <a:rPr sz="1800" b="1" spc="-10" dirty="0">
                <a:solidFill>
                  <a:srgbClr val="FFFFFF"/>
                </a:solidFill>
                <a:latin typeface="Calibri"/>
                <a:cs typeface="Calibri"/>
              </a:rPr>
              <a:t>FORMATOS</a:t>
            </a:r>
            <a:endParaRPr sz="1800" dirty="0">
              <a:latin typeface="Calibri"/>
              <a:cs typeface="Calibri"/>
            </a:endParaRPr>
          </a:p>
          <a:p>
            <a:pPr marL="299085" indent="-286385">
              <a:spcBef>
                <a:spcPts val="1080"/>
              </a:spcBef>
              <a:buFont typeface="Wingdings"/>
              <a:buChar char=""/>
              <a:tabLst>
                <a:tab pos="299085" algn="l"/>
              </a:tabLst>
            </a:pPr>
            <a:r>
              <a:rPr lang="es-ES" sz="1800" b="1" dirty="0">
                <a:solidFill>
                  <a:srgbClr val="FFFFFF"/>
                </a:solidFill>
                <a:latin typeface="Calibri"/>
                <a:cs typeface="Calibri"/>
              </a:rPr>
              <a:t>DEPÓSITO</a:t>
            </a:r>
            <a:r>
              <a:rPr lang="es-ES" sz="1800" b="1" spc="-60" dirty="0">
                <a:solidFill>
                  <a:srgbClr val="FFFFFF"/>
                </a:solidFill>
                <a:latin typeface="Calibri"/>
                <a:cs typeface="Calibri"/>
              </a:rPr>
              <a:t> </a:t>
            </a:r>
            <a:r>
              <a:rPr lang="es-ES" sz="1800" b="1" dirty="0">
                <a:solidFill>
                  <a:srgbClr val="FFFFFF"/>
                </a:solidFill>
                <a:latin typeface="Calibri"/>
                <a:cs typeface="Calibri"/>
              </a:rPr>
              <a:t>Y</a:t>
            </a:r>
            <a:r>
              <a:rPr lang="es-ES" sz="1800" b="1" spc="-55" dirty="0">
                <a:solidFill>
                  <a:srgbClr val="FFFFFF"/>
                </a:solidFill>
                <a:latin typeface="Calibri"/>
                <a:cs typeface="Calibri"/>
              </a:rPr>
              <a:t> </a:t>
            </a:r>
            <a:r>
              <a:rPr lang="es-ES" sz="1800" b="1" spc="-10" dirty="0">
                <a:solidFill>
                  <a:srgbClr val="FFFFFF"/>
                </a:solidFill>
                <a:latin typeface="Calibri"/>
                <a:cs typeface="Calibri"/>
              </a:rPr>
              <a:t>DEFENSA</a:t>
            </a:r>
            <a:endParaRPr lang="es-ES" sz="1800" dirty="0">
              <a:latin typeface="Calibri"/>
              <a:cs typeface="Calibri"/>
            </a:endParaRPr>
          </a:p>
          <a:p>
            <a:pPr marL="12700">
              <a:lnSpc>
                <a:spcPct val="100000"/>
              </a:lnSpc>
              <a:spcBef>
                <a:spcPts val="1080"/>
              </a:spcBef>
              <a:tabLst>
                <a:tab pos="299085" algn="l"/>
              </a:tabLst>
            </a:pPr>
            <a:endParaRPr lang="es-ES" sz="1800" b="1" spc="-10" dirty="0">
              <a:solidFill>
                <a:srgbClr val="FFFFFF"/>
              </a:solidFill>
              <a:latin typeface="Calibri"/>
              <a:cs typeface="Calibri"/>
            </a:endParaRPr>
          </a:p>
          <a:p>
            <a:pPr marL="299085" indent="-286385">
              <a:lnSpc>
                <a:spcPct val="100000"/>
              </a:lnSpc>
              <a:spcBef>
                <a:spcPts val="1080"/>
              </a:spcBef>
              <a:buFont typeface="Wingdings"/>
              <a:buChar char=""/>
              <a:tabLst>
                <a:tab pos="299085" algn="l"/>
              </a:tabLst>
            </a:pPr>
            <a:endParaRPr lang="es-ES" b="1" spc="-10" dirty="0">
              <a:solidFill>
                <a:srgbClr val="FFFFFF"/>
              </a:solidFill>
              <a:latin typeface="Calibri"/>
              <a:cs typeface="Calibri"/>
            </a:endParaRPr>
          </a:p>
          <a:p>
            <a:pPr marL="299085" indent="-286385">
              <a:lnSpc>
                <a:spcPct val="100000"/>
              </a:lnSpc>
              <a:spcBef>
                <a:spcPts val="1080"/>
              </a:spcBef>
              <a:buFont typeface="Wingdings"/>
              <a:buChar char=""/>
              <a:tabLst>
                <a:tab pos="299085" algn="l"/>
              </a:tabLst>
            </a:pPr>
            <a:endParaRPr lang="es-ES" sz="1800" b="1" spc="-10" dirty="0">
              <a:solidFill>
                <a:srgbClr val="FFFFFF"/>
              </a:solidFill>
              <a:latin typeface="Calibri"/>
              <a:cs typeface="Calibri"/>
            </a:endParaRPr>
          </a:p>
          <a:p>
            <a:pPr marL="299085" indent="-286385">
              <a:lnSpc>
                <a:spcPct val="100000"/>
              </a:lnSpc>
              <a:spcBef>
                <a:spcPts val="1080"/>
              </a:spcBef>
              <a:buFont typeface="Wingdings"/>
              <a:buChar char=""/>
              <a:tabLst>
                <a:tab pos="299085" algn="l"/>
              </a:tabLst>
            </a:pPr>
            <a:endParaRPr lang="es-ES" b="1" spc="-10" dirty="0">
              <a:solidFill>
                <a:srgbClr val="FFFFFF"/>
              </a:solidFill>
              <a:latin typeface="Calibri"/>
              <a:cs typeface="Calibri"/>
            </a:endParaRPr>
          </a:p>
          <a:p>
            <a:pPr marL="299085" indent="-286385">
              <a:lnSpc>
                <a:spcPct val="100000"/>
              </a:lnSpc>
              <a:spcBef>
                <a:spcPts val="1080"/>
              </a:spcBef>
              <a:buFont typeface="Wingdings"/>
              <a:buChar char=""/>
              <a:tabLst>
                <a:tab pos="299085" algn="l"/>
              </a:tabLst>
            </a:pPr>
            <a:endParaRPr lang="es-ES" sz="1800" b="1" spc="-10" dirty="0">
              <a:solidFill>
                <a:srgbClr val="FFFFFF"/>
              </a:solidFill>
              <a:latin typeface="Calibri"/>
              <a:cs typeface="Calibri"/>
            </a:endParaRPr>
          </a:p>
          <a:p>
            <a:pPr marL="299085" indent="-286385">
              <a:lnSpc>
                <a:spcPct val="100000"/>
              </a:lnSpc>
              <a:spcBef>
                <a:spcPts val="1080"/>
              </a:spcBef>
              <a:buFont typeface="Wingdings"/>
              <a:buChar char=""/>
              <a:tabLst>
                <a:tab pos="299085" algn="l"/>
              </a:tabLst>
            </a:pPr>
            <a:r>
              <a:rPr sz="1800" b="1" spc="-10" dirty="0">
                <a:solidFill>
                  <a:srgbClr val="FFFFFF"/>
                </a:solidFill>
                <a:latin typeface="Calibri"/>
                <a:cs typeface="Calibri"/>
              </a:rPr>
              <a:t>SEGUIMIENTO</a:t>
            </a:r>
            <a:endParaRPr sz="1800" dirty="0">
              <a:latin typeface="Calibri"/>
              <a:cs typeface="Calibri"/>
            </a:endParaRPr>
          </a:p>
          <a:p>
            <a:pPr marL="299085" indent="-286385" algn="l">
              <a:lnSpc>
                <a:spcPct val="100000"/>
              </a:lnSpc>
              <a:spcBef>
                <a:spcPts val="1080"/>
              </a:spcBef>
              <a:buFont typeface="Wingdings"/>
              <a:buChar char=""/>
              <a:tabLst>
                <a:tab pos="299085" algn="l"/>
              </a:tabLst>
            </a:pPr>
            <a:r>
              <a:rPr sz="1800" b="1" spc="-10" dirty="0">
                <a:solidFill>
                  <a:srgbClr val="FFFFFF"/>
                </a:solidFill>
                <a:latin typeface="Calibri"/>
                <a:cs typeface="Calibri"/>
              </a:rPr>
              <a:t>EVALUACIÓN</a:t>
            </a:r>
            <a:endParaRPr lang="es-ES" sz="1800" b="1" spc="-10" dirty="0">
              <a:solidFill>
                <a:srgbClr val="FFFFFF"/>
              </a:solidFill>
              <a:latin typeface="Calibri"/>
              <a:cs typeface="Calibri"/>
            </a:endParaRPr>
          </a:p>
          <a:p>
            <a:pPr marL="299085" indent="-286385" algn="l">
              <a:lnSpc>
                <a:spcPct val="100000"/>
              </a:lnSpc>
              <a:spcBef>
                <a:spcPts val="1080"/>
              </a:spcBef>
              <a:buFont typeface="Wingdings"/>
              <a:buChar char=""/>
              <a:tabLst>
                <a:tab pos="299085" algn="l"/>
              </a:tabLst>
            </a:pPr>
            <a:r>
              <a:rPr lang="es-ES" b="1" spc="-10" dirty="0">
                <a:solidFill>
                  <a:srgbClr val="FFFFFF"/>
                </a:solidFill>
                <a:latin typeface="Calibri"/>
                <a:cs typeface="Calibri"/>
              </a:rPr>
              <a:t>RESUMEN</a:t>
            </a:r>
          </a:p>
          <a:p>
            <a:pPr marL="299085" indent="-286385" algn="l">
              <a:spcBef>
                <a:spcPts val="1080"/>
              </a:spcBef>
              <a:buFont typeface="Wingdings"/>
              <a:buChar char=""/>
              <a:tabLst>
                <a:tab pos="299085" algn="l"/>
              </a:tabLst>
            </a:pPr>
            <a:r>
              <a:rPr lang="es-ES" b="1" spc="-10" dirty="0">
                <a:solidFill>
                  <a:srgbClr val="FFFFFF"/>
                </a:solidFill>
                <a:latin typeface="Calibri"/>
                <a:cs typeface="Calibri"/>
              </a:rPr>
              <a:t>ESTADO DEL ARTE</a:t>
            </a:r>
            <a:endParaRPr lang="es-ES" sz="1800" b="1" spc="-10" dirty="0">
              <a:solidFill>
                <a:srgbClr val="FFFFFF"/>
              </a:solidFill>
              <a:latin typeface="Calibri"/>
              <a:cs typeface="Calibri"/>
            </a:endParaRPr>
          </a:p>
          <a:p>
            <a:pPr marL="299085" indent="-286385" algn="l">
              <a:lnSpc>
                <a:spcPct val="100000"/>
              </a:lnSpc>
              <a:spcBef>
                <a:spcPts val="1080"/>
              </a:spcBef>
              <a:buFont typeface="Wingdings"/>
              <a:buChar char=""/>
              <a:tabLst>
                <a:tab pos="299085" algn="l"/>
              </a:tabLst>
            </a:pPr>
            <a:r>
              <a:rPr lang="es-ES" sz="1800" b="1" spc="-10" dirty="0">
                <a:solidFill>
                  <a:srgbClr val="FFFFFF"/>
                </a:solidFill>
                <a:latin typeface="Calibri"/>
                <a:cs typeface="Calibri"/>
              </a:rPr>
              <a:t>FAQ</a:t>
            </a:r>
            <a:endParaRPr sz="1800" dirty="0">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3</a:t>
            </a:fld>
            <a:endParaRPr spc="-50" dirty="0">
              <a:solidFill>
                <a:srgbClr val="F1F1F1"/>
              </a:solidFill>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11" name="object 11"/>
          <p:cNvSpPr txBox="1">
            <a:spLocks noGrp="1"/>
          </p:cNvSpPr>
          <p:nvPr>
            <p:ph type="title"/>
          </p:nvPr>
        </p:nvSpPr>
        <p:spPr>
          <a:xfrm>
            <a:off x="1074521" y="2044064"/>
            <a:ext cx="1614170" cy="696595"/>
          </a:xfrm>
          <a:prstGeom prst="rect">
            <a:avLst/>
          </a:prstGeom>
        </p:spPr>
        <p:txBody>
          <a:bodyPr vert="horz" wrap="square" lIns="0" tIns="13335" rIns="0" bIns="0" rtlCol="0">
            <a:spAutoFit/>
          </a:bodyPr>
          <a:lstStyle/>
          <a:p>
            <a:pPr marL="12700">
              <a:lnSpc>
                <a:spcPct val="100000"/>
              </a:lnSpc>
              <a:spcBef>
                <a:spcPts val="105"/>
              </a:spcBef>
            </a:pPr>
            <a:r>
              <a:rPr spc="-10" dirty="0">
                <a:solidFill>
                  <a:srgbClr val="FFFFFF"/>
                </a:solidFill>
              </a:rPr>
              <a:t>ÍNDICE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569461" y="286164"/>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xfrm>
            <a:off x="3733800" y="49496"/>
            <a:ext cx="5683250" cy="689932"/>
          </a:xfrm>
          <a:prstGeom prst="rect">
            <a:avLst/>
          </a:prstGeom>
        </p:spPr>
        <p:txBody>
          <a:bodyPr vert="horz" wrap="square" lIns="0" tIns="12700" rIns="0" bIns="0" rtlCol="0">
            <a:spAutoFit/>
          </a:bodyPr>
          <a:lstStyle/>
          <a:p>
            <a:pPr marL="12700">
              <a:lnSpc>
                <a:spcPct val="100000"/>
              </a:lnSpc>
              <a:spcBef>
                <a:spcPts val="100"/>
              </a:spcBef>
            </a:pPr>
            <a:r>
              <a:rPr lang="es-ES" spc="-25" dirty="0"/>
              <a:t>Problema y Motivación</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4</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2" name="CuadroTexto 1">
            <a:extLst>
              <a:ext uri="{FF2B5EF4-FFF2-40B4-BE49-F238E27FC236}">
                <a16:creationId xmlns:a16="http://schemas.microsoft.com/office/drawing/2014/main" id="{B29CF2B3-8C81-40D3-E95A-E4768F7B7E3F}"/>
              </a:ext>
            </a:extLst>
          </p:cNvPr>
          <p:cNvSpPr txBox="1"/>
          <p:nvPr/>
        </p:nvSpPr>
        <p:spPr>
          <a:xfrm>
            <a:off x="533400" y="1371600"/>
            <a:ext cx="8077200" cy="2585323"/>
          </a:xfrm>
          <a:prstGeom prst="rect">
            <a:avLst/>
          </a:prstGeom>
          <a:noFill/>
        </p:spPr>
        <p:txBody>
          <a:bodyPr wrap="square" rtlCol="0">
            <a:spAutoFit/>
          </a:bodyPr>
          <a:lstStyle/>
          <a:p>
            <a:r>
              <a:rPr lang="es-ES" dirty="0"/>
              <a:t>Los LLM generan texto fluido pero pueden inventar importes, plazos, ayudas o referencias no relacionadas al expediente — crítico en normativa agraria (POSEI, PAC, GIP, dossiers de cultivo). </a:t>
            </a:r>
          </a:p>
          <a:p>
            <a:endParaRPr lang="es-ES" dirty="0"/>
          </a:p>
          <a:p>
            <a:r>
              <a:rPr lang="es-ES" dirty="0"/>
              <a:t>Un modelo aislado no se actualiza con boletines ni corpus interno; reentrenar no es viable. </a:t>
            </a:r>
          </a:p>
          <a:p>
            <a:endParaRPr lang="es-ES" dirty="0"/>
          </a:p>
          <a:p>
            <a:r>
              <a:rPr lang="es-ES" dirty="0" err="1"/>
              <a:t>AgroPS</a:t>
            </a:r>
            <a:r>
              <a:rPr lang="es-ES" dirty="0"/>
              <a:t> ancla la generación a fragmentos recuperados del corpus asesor-canarias y mide si eso mitiga (no elimina) las alucinaciones.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869B2-D96C-6B54-CE8F-16C08F2C44A1}"/>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5F23A2C0-C802-583C-C281-78285D4FC341}"/>
              </a:ext>
            </a:extLst>
          </p:cNvPr>
          <p:cNvPicPr/>
          <p:nvPr/>
        </p:nvPicPr>
        <p:blipFill>
          <a:blip r:embed="rId2" cstate="print"/>
          <a:stretch>
            <a:fillRect/>
          </a:stretch>
        </p:blipFill>
        <p:spPr>
          <a:xfrm>
            <a:off x="66977" y="6631482"/>
            <a:ext cx="79441" cy="180002"/>
          </a:xfrm>
          <a:prstGeom prst="rect">
            <a:avLst/>
          </a:prstGeom>
        </p:spPr>
      </p:pic>
      <p:sp>
        <p:nvSpPr>
          <p:cNvPr id="57" name="object 57">
            <a:extLst>
              <a:ext uri="{FF2B5EF4-FFF2-40B4-BE49-F238E27FC236}">
                <a16:creationId xmlns:a16="http://schemas.microsoft.com/office/drawing/2014/main" id="{0441E117-926C-89C3-407D-0A472340AED9}"/>
              </a:ext>
            </a:extLst>
          </p:cNvPr>
          <p:cNvSpPr/>
          <p:nvPr/>
        </p:nvSpPr>
        <p:spPr>
          <a:xfrm>
            <a:off x="3569461" y="286164"/>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a:extLst>
              <a:ext uri="{FF2B5EF4-FFF2-40B4-BE49-F238E27FC236}">
                <a16:creationId xmlns:a16="http://schemas.microsoft.com/office/drawing/2014/main" id="{8427D248-293F-38B5-F0FA-B4ED37506322}"/>
              </a:ext>
            </a:extLst>
          </p:cNvPr>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a:extLst>
              <a:ext uri="{FF2B5EF4-FFF2-40B4-BE49-F238E27FC236}">
                <a16:creationId xmlns:a16="http://schemas.microsoft.com/office/drawing/2014/main" id="{F9B6AC86-E9AD-7599-3A50-359BE49194D0}"/>
              </a:ext>
            </a:extLst>
          </p:cNvPr>
          <p:cNvSpPr txBox="1">
            <a:spLocks noGrp="1"/>
          </p:cNvSpPr>
          <p:nvPr>
            <p:ph type="title"/>
          </p:nvPr>
        </p:nvSpPr>
        <p:spPr>
          <a:xfrm>
            <a:off x="3822191" y="91164"/>
            <a:ext cx="5683250" cy="689932"/>
          </a:xfrm>
          <a:prstGeom prst="rect">
            <a:avLst/>
          </a:prstGeom>
        </p:spPr>
        <p:txBody>
          <a:bodyPr vert="horz" wrap="square" lIns="0" tIns="12700" rIns="0" bIns="0" rtlCol="0">
            <a:spAutoFit/>
          </a:bodyPr>
          <a:lstStyle/>
          <a:p>
            <a:pPr marL="12700">
              <a:lnSpc>
                <a:spcPct val="100000"/>
              </a:lnSpc>
              <a:spcBef>
                <a:spcPts val="100"/>
              </a:spcBef>
            </a:pPr>
            <a:r>
              <a:rPr lang="es-ES" spc="-25" dirty="0" err="1"/>
              <a:t>AgroPS</a:t>
            </a:r>
            <a:endParaRPr spc="-25" dirty="0"/>
          </a:p>
        </p:txBody>
      </p:sp>
      <p:sp>
        <p:nvSpPr>
          <p:cNvPr id="60" name="object 60">
            <a:extLst>
              <a:ext uri="{FF2B5EF4-FFF2-40B4-BE49-F238E27FC236}">
                <a16:creationId xmlns:a16="http://schemas.microsoft.com/office/drawing/2014/main" id="{EE41D368-1974-7AB5-97FE-B074DA324985}"/>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5</a:t>
            </a:fld>
            <a:endParaRPr spc="-50" dirty="0">
              <a:solidFill>
                <a:srgbClr val="F1F1F1"/>
              </a:solidFill>
            </a:endParaRPr>
          </a:p>
        </p:txBody>
      </p:sp>
      <p:sp>
        <p:nvSpPr>
          <p:cNvPr id="61" name="object 61">
            <a:extLst>
              <a:ext uri="{FF2B5EF4-FFF2-40B4-BE49-F238E27FC236}">
                <a16:creationId xmlns:a16="http://schemas.microsoft.com/office/drawing/2014/main" id="{BF587044-0B66-E356-447D-E6084CE70BD2}"/>
              </a:ext>
            </a:extLst>
          </p:cNvPr>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2" name="CuadroTexto 1">
            <a:extLst>
              <a:ext uri="{FF2B5EF4-FFF2-40B4-BE49-F238E27FC236}">
                <a16:creationId xmlns:a16="http://schemas.microsoft.com/office/drawing/2014/main" id="{736BEE2C-FD39-12DA-296E-40AF594F2E9A}"/>
              </a:ext>
            </a:extLst>
          </p:cNvPr>
          <p:cNvSpPr txBox="1"/>
          <p:nvPr/>
        </p:nvSpPr>
        <p:spPr>
          <a:xfrm>
            <a:off x="533400" y="1371600"/>
            <a:ext cx="8077200" cy="2585323"/>
          </a:xfrm>
          <a:prstGeom prst="rect">
            <a:avLst/>
          </a:prstGeom>
          <a:noFill/>
        </p:spPr>
        <p:txBody>
          <a:bodyPr wrap="square" rtlCol="0">
            <a:spAutoFit/>
          </a:bodyPr>
          <a:lstStyle/>
          <a:p>
            <a:r>
              <a:rPr lang="es-ES" dirty="0"/>
              <a:t>Los LLM generan texto fluido pero pueden inventar importes, plazos, ayudas o referencias no relacionadas al expediente — crítico en normativa agraria (POSEI, PAC, GIP, dossiers de cultivo). </a:t>
            </a:r>
          </a:p>
          <a:p>
            <a:endParaRPr lang="es-ES" dirty="0"/>
          </a:p>
          <a:p>
            <a:r>
              <a:rPr lang="es-ES" dirty="0"/>
              <a:t>Un modelo aislado no se actualiza con boletines ni corpus interno; reentrenar no es viable. </a:t>
            </a:r>
          </a:p>
          <a:p>
            <a:endParaRPr lang="es-ES" dirty="0"/>
          </a:p>
          <a:p>
            <a:r>
              <a:rPr lang="es-ES" dirty="0" err="1"/>
              <a:t>AgroPS</a:t>
            </a:r>
            <a:r>
              <a:rPr lang="es-ES" dirty="0"/>
              <a:t> ancla la generación a fragmentos recuperados del corpus asesor-canarias y mide si eso mitiga (no elimina) las alucinaciones.</a:t>
            </a:r>
          </a:p>
        </p:txBody>
      </p:sp>
    </p:spTree>
    <p:extLst>
      <p:ext uri="{BB962C8B-B14F-4D97-AF65-F5344CB8AC3E}">
        <p14:creationId xmlns:p14="http://schemas.microsoft.com/office/powerpoint/2010/main" val="3788255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26700-C6BD-EA95-FDFD-29105D8B0AAF}"/>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97183390-AB7C-1CD9-D9BF-A0CF8954905E}"/>
              </a:ext>
            </a:extLst>
          </p:cNvPr>
          <p:cNvPicPr/>
          <p:nvPr/>
        </p:nvPicPr>
        <p:blipFill>
          <a:blip r:embed="rId2" cstate="print"/>
          <a:stretch>
            <a:fillRect/>
          </a:stretch>
        </p:blipFill>
        <p:spPr>
          <a:xfrm>
            <a:off x="66977" y="6631482"/>
            <a:ext cx="79441" cy="180002"/>
          </a:xfrm>
          <a:prstGeom prst="rect">
            <a:avLst/>
          </a:prstGeom>
        </p:spPr>
      </p:pic>
      <p:sp>
        <p:nvSpPr>
          <p:cNvPr id="51" name="object 51">
            <a:extLst>
              <a:ext uri="{FF2B5EF4-FFF2-40B4-BE49-F238E27FC236}">
                <a16:creationId xmlns:a16="http://schemas.microsoft.com/office/drawing/2014/main" id="{B224DD55-6CCC-F05D-36EB-A4BA97F71D23}"/>
              </a:ext>
            </a:extLst>
          </p:cNvPr>
          <p:cNvSpPr txBox="1"/>
          <p:nvPr/>
        </p:nvSpPr>
        <p:spPr>
          <a:xfrm>
            <a:off x="9209658" y="2510739"/>
            <a:ext cx="333375" cy="391795"/>
          </a:xfrm>
          <a:prstGeom prst="rect">
            <a:avLst/>
          </a:prstGeom>
        </p:spPr>
        <p:txBody>
          <a:bodyPr vert="horz" wrap="square" lIns="0" tIns="12700" rIns="0" bIns="0" rtlCol="0">
            <a:spAutoFit/>
          </a:bodyPr>
          <a:lstStyle/>
          <a:p>
            <a:pPr marL="12700">
              <a:lnSpc>
                <a:spcPct val="100000"/>
              </a:lnSpc>
              <a:spcBef>
                <a:spcPts val="100"/>
              </a:spcBef>
            </a:pPr>
            <a:r>
              <a:rPr sz="2400" b="1" spc="-25" dirty="0">
                <a:solidFill>
                  <a:srgbClr val="FFFFFF"/>
                </a:solidFill>
                <a:latin typeface="Calibri"/>
                <a:cs typeface="Calibri"/>
              </a:rPr>
              <a:t>04</a:t>
            </a:r>
            <a:endParaRPr sz="2400" dirty="0">
              <a:latin typeface="Calibri"/>
              <a:cs typeface="Calibri"/>
            </a:endParaRPr>
          </a:p>
        </p:txBody>
      </p:sp>
      <p:sp>
        <p:nvSpPr>
          <p:cNvPr id="52" name="object 52">
            <a:extLst>
              <a:ext uri="{FF2B5EF4-FFF2-40B4-BE49-F238E27FC236}">
                <a16:creationId xmlns:a16="http://schemas.microsoft.com/office/drawing/2014/main" id="{EF0ED149-A34C-2282-16D6-6222EDE525C9}"/>
              </a:ext>
            </a:extLst>
          </p:cNvPr>
          <p:cNvSpPr txBox="1"/>
          <p:nvPr/>
        </p:nvSpPr>
        <p:spPr>
          <a:xfrm>
            <a:off x="9670542" y="2580258"/>
            <a:ext cx="1809114" cy="258404"/>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FFFFFF"/>
                </a:solidFill>
                <a:latin typeface="Calibri"/>
                <a:cs typeface="Calibri"/>
              </a:rPr>
              <a:t>DEPÓSITO </a:t>
            </a:r>
            <a:r>
              <a:rPr sz="1600" dirty="0">
                <a:solidFill>
                  <a:srgbClr val="FFFFFF"/>
                </a:solidFill>
                <a:latin typeface="Calibri"/>
                <a:cs typeface="Calibri"/>
              </a:rPr>
              <a:t>Y</a:t>
            </a:r>
            <a:r>
              <a:rPr sz="1600" spc="-35" dirty="0">
                <a:solidFill>
                  <a:srgbClr val="FFFFFF"/>
                </a:solidFill>
                <a:latin typeface="Calibri"/>
                <a:cs typeface="Calibri"/>
              </a:rPr>
              <a:t> </a:t>
            </a:r>
            <a:r>
              <a:rPr sz="1600" spc="-10" dirty="0">
                <a:solidFill>
                  <a:srgbClr val="FFFFFF"/>
                </a:solidFill>
                <a:latin typeface="Calibri"/>
                <a:cs typeface="Calibri"/>
              </a:rPr>
              <a:t>DEFENSA</a:t>
            </a:r>
            <a:endParaRPr sz="1600">
              <a:latin typeface="Calibri"/>
              <a:cs typeface="Calibri"/>
            </a:endParaRPr>
          </a:p>
        </p:txBody>
      </p:sp>
      <p:sp>
        <p:nvSpPr>
          <p:cNvPr id="57" name="object 57">
            <a:extLst>
              <a:ext uri="{FF2B5EF4-FFF2-40B4-BE49-F238E27FC236}">
                <a16:creationId xmlns:a16="http://schemas.microsoft.com/office/drawing/2014/main" id="{50B74C0F-02B5-346C-2A24-2085B76EE95E}"/>
              </a:ext>
            </a:extLst>
          </p:cNvPr>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a:extLst>
              <a:ext uri="{FF2B5EF4-FFF2-40B4-BE49-F238E27FC236}">
                <a16:creationId xmlns:a16="http://schemas.microsoft.com/office/drawing/2014/main" id="{6DD1AF5E-6DE7-4078-45FB-6675963A0670}"/>
              </a:ext>
            </a:extLst>
          </p:cNvPr>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a:extLst>
              <a:ext uri="{FF2B5EF4-FFF2-40B4-BE49-F238E27FC236}">
                <a16:creationId xmlns:a16="http://schemas.microsoft.com/office/drawing/2014/main" id="{5F8EB7D9-7466-8F62-62B6-763A1B0EA184}"/>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Técnicas de AI</a:t>
            </a:r>
            <a:endParaRPr spc="-25" dirty="0"/>
          </a:p>
        </p:txBody>
      </p:sp>
      <p:sp>
        <p:nvSpPr>
          <p:cNvPr id="60" name="object 60">
            <a:extLst>
              <a:ext uri="{FF2B5EF4-FFF2-40B4-BE49-F238E27FC236}">
                <a16:creationId xmlns:a16="http://schemas.microsoft.com/office/drawing/2014/main" id="{52F2DBF2-372B-60BB-5E46-6AFB741F2A4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6</a:t>
            </a:fld>
            <a:endParaRPr spc="-50" dirty="0">
              <a:solidFill>
                <a:srgbClr val="F1F1F1"/>
              </a:solidFill>
            </a:endParaRPr>
          </a:p>
        </p:txBody>
      </p:sp>
      <p:sp>
        <p:nvSpPr>
          <p:cNvPr id="61" name="object 61">
            <a:extLst>
              <a:ext uri="{FF2B5EF4-FFF2-40B4-BE49-F238E27FC236}">
                <a16:creationId xmlns:a16="http://schemas.microsoft.com/office/drawing/2014/main" id="{C69D8669-8B0E-D967-4324-2849176532AE}"/>
              </a:ext>
            </a:extLst>
          </p:cNvPr>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graphicFrame>
        <p:nvGraphicFramePr>
          <p:cNvPr id="62" name="Tabla 61">
            <a:extLst>
              <a:ext uri="{FF2B5EF4-FFF2-40B4-BE49-F238E27FC236}">
                <a16:creationId xmlns:a16="http://schemas.microsoft.com/office/drawing/2014/main" id="{E04F3A0C-C687-0E14-825E-0DBD88FE7CD3}"/>
              </a:ext>
            </a:extLst>
          </p:cNvPr>
          <p:cNvGraphicFramePr>
            <a:graphicFrameLocks noGrp="1"/>
          </p:cNvGraphicFramePr>
          <p:nvPr/>
        </p:nvGraphicFramePr>
        <p:xfrm>
          <a:off x="1389632" y="1447800"/>
          <a:ext cx="6611367" cy="4190998"/>
        </p:xfrm>
        <a:graphic>
          <a:graphicData uri="http://schemas.openxmlformats.org/drawingml/2006/table">
            <a:tbl>
              <a:tblPr>
                <a:tableStyleId>{5C22544A-7EE6-4342-B048-85BDC9FD1C3A}</a:tableStyleId>
              </a:tblPr>
              <a:tblGrid>
                <a:gridCol w="2639307">
                  <a:extLst>
                    <a:ext uri="{9D8B030D-6E8A-4147-A177-3AD203B41FA5}">
                      <a16:colId xmlns:a16="http://schemas.microsoft.com/office/drawing/2014/main" val="3137280904"/>
                    </a:ext>
                  </a:extLst>
                </a:gridCol>
                <a:gridCol w="3972060">
                  <a:extLst>
                    <a:ext uri="{9D8B030D-6E8A-4147-A177-3AD203B41FA5}">
                      <a16:colId xmlns:a16="http://schemas.microsoft.com/office/drawing/2014/main" val="842284583"/>
                    </a:ext>
                  </a:extLst>
                </a:gridCol>
              </a:tblGrid>
              <a:tr h="287578">
                <a:tc>
                  <a:txBody>
                    <a:bodyPr/>
                    <a:lstStyle/>
                    <a:p>
                      <a:pPr algn="l" fontAlgn="t">
                        <a:buNone/>
                      </a:pPr>
                      <a:r>
                        <a:rPr lang="es-ES" sz="1400" dirty="0">
                          <a:effectLst/>
                        </a:rPr>
                        <a:t>Técnica</a:t>
                      </a:r>
                      <a:endParaRPr lang="es-ES" sz="1400" b="0" i="0" dirty="0">
                        <a:solidFill>
                          <a:srgbClr val="141414"/>
                        </a:solidFill>
                        <a:effectLst/>
                        <a:latin typeface="Segoe WPC"/>
                      </a:endParaRPr>
                    </a:p>
                  </a:txBody>
                  <a:tcPr marL="29585" marR="29585" marT="17751" marB="17751"/>
                </a:tc>
                <a:tc>
                  <a:txBody>
                    <a:bodyPr/>
                    <a:lstStyle/>
                    <a:p>
                      <a:pPr algn="l" fontAlgn="t">
                        <a:buNone/>
                      </a:pPr>
                      <a:r>
                        <a:rPr lang="es-ES" sz="1400" dirty="0">
                          <a:effectLst/>
                        </a:rPr>
                        <a:t>Rol concreto en </a:t>
                      </a:r>
                      <a:r>
                        <a:rPr lang="es-ES" sz="1400" dirty="0" err="1">
                          <a:effectLst/>
                        </a:rPr>
                        <a:t>AgroPS</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1099487301"/>
                  </a:ext>
                </a:extLst>
              </a:tr>
              <a:tr h="780684">
                <a:tc>
                  <a:txBody>
                    <a:bodyPr/>
                    <a:lstStyle/>
                    <a:p>
                      <a:pPr algn="l" fontAlgn="t" latinLnBrk="0">
                        <a:buNone/>
                      </a:pPr>
                      <a:r>
                        <a:rPr lang="es-ES" sz="1400" dirty="0">
                          <a:effectLst/>
                        </a:rPr>
                        <a:t>RAG</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a:effectLst/>
                        </a:rPr>
                        <a:t>Recupera chunks del corpus y los inyecta en el prompt antes de generar (AnswerQuestion).</a:t>
                      </a:r>
                      <a:endParaRPr lang="es-ES" sz="1400" b="0" i="0">
                        <a:solidFill>
                          <a:srgbClr val="141414"/>
                        </a:solidFill>
                        <a:effectLst/>
                        <a:latin typeface="Segoe WPC"/>
                      </a:endParaRPr>
                    </a:p>
                  </a:txBody>
                  <a:tcPr marL="29585" marR="29585" marT="17751" marB="17751"/>
                </a:tc>
                <a:extLst>
                  <a:ext uri="{0D108BD9-81ED-4DB2-BD59-A6C34878D82A}">
                    <a16:rowId xmlns:a16="http://schemas.microsoft.com/office/drawing/2014/main" val="192399960"/>
                  </a:ext>
                </a:extLst>
              </a:tr>
              <a:tr h="780684">
                <a:tc>
                  <a:txBody>
                    <a:bodyPr/>
                    <a:lstStyle/>
                    <a:p>
                      <a:pPr algn="l" fontAlgn="t" latinLnBrk="0">
                        <a:buNone/>
                      </a:pPr>
                      <a:r>
                        <a:rPr lang="es-ES" sz="1400" dirty="0">
                          <a:effectLst/>
                        </a:rPr>
                        <a:t>Embeddings densos</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a:effectLst/>
                        </a:rPr>
                        <a:t>nomic-embed-text → vectores en PostgreSQL/pgvector (pad a 4096); búsqueda kNN (coseno por defecto).</a:t>
                      </a:r>
                      <a:endParaRPr lang="es-ES" sz="1400" b="0" i="0">
                        <a:solidFill>
                          <a:srgbClr val="141414"/>
                        </a:solidFill>
                        <a:effectLst/>
                        <a:latin typeface="Segoe WPC"/>
                      </a:endParaRPr>
                    </a:p>
                  </a:txBody>
                  <a:tcPr marL="29585" marR="29585" marT="17751" marB="17751"/>
                </a:tc>
                <a:extLst>
                  <a:ext uri="{0D108BD9-81ED-4DB2-BD59-A6C34878D82A}">
                    <a16:rowId xmlns:a16="http://schemas.microsoft.com/office/drawing/2014/main" val="3801121978"/>
                  </a:ext>
                </a:extLst>
              </a:tr>
              <a:tr h="780684">
                <a:tc>
                  <a:txBody>
                    <a:bodyPr/>
                    <a:lstStyle/>
                    <a:p>
                      <a:pPr algn="l" fontAlgn="t" latinLnBrk="0">
                        <a:buNone/>
                      </a:pPr>
                      <a:r>
                        <a:rPr lang="es-ES" sz="1400" dirty="0">
                          <a:effectLst/>
                        </a:rPr>
                        <a:t>BM25</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Índice léxico por </a:t>
                      </a:r>
                      <a:r>
                        <a:rPr lang="es-ES" sz="1400" dirty="0" err="1">
                          <a:effectLst/>
                        </a:rPr>
                        <a:t>tenant</a:t>
                      </a:r>
                      <a:r>
                        <a:rPr lang="es-ES" sz="1400" dirty="0">
                          <a:effectLst/>
                        </a:rPr>
                        <a:t>; captura términos exactos (códigos, ayudas, nombres de norma).</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1828075718"/>
                  </a:ext>
                </a:extLst>
              </a:tr>
              <a:tr h="780684">
                <a:tc>
                  <a:txBody>
                    <a:bodyPr/>
                    <a:lstStyle/>
                    <a:p>
                      <a:pPr algn="l" fontAlgn="t" latinLnBrk="0">
                        <a:buNone/>
                      </a:pPr>
                      <a:r>
                        <a:rPr lang="es-ES" sz="1400" dirty="0">
                          <a:effectLst/>
                        </a:rPr>
                        <a:t>RRF (k=60)</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Fusiona listas densas + BM25 (y variantes con </a:t>
                      </a:r>
                      <a:r>
                        <a:rPr lang="es-ES" sz="1400" dirty="0" err="1">
                          <a:effectLst/>
                        </a:rPr>
                        <a:t>query</a:t>
                      </a:r>
                      <a:r>
                        <a:rPr lang="es-ES" sz="1400" dirty="0">
                          <a:effectLst/>
                        </a:rPr>
                        <a:t> expandida) en un ranking único.</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2913533745"/>
                  </a:ext>
                </a:extLst>
              </a:tr>
              <a:tr h="780684">
                <a:tc>
                  <a:txBody>
                    <a:bodyPr/>
                    <a:lstStyle/>
                    <a:p>
                      <a:pPr algn="l" fontAlgn="t" latinLnBrk="0">
                        <a:buNone/>
                      </a:pPr>
                      <a:r>
                        <a:rPr lang="es-ES" sz="1400">
                          <a:effectLst/>
                        </a:rPr>
                        <a:t>RAGAS</a:t>
                      </a:r>
                      <a:endParaRPr lang="es-ES" sz="1400" b="0" i="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Adaptador/</a:t>
                      </a:r>
                      <a:r>
                        <a:rPr lang="es-ES" sz="1400" dirty="0" err="1">
                          <a:effectLst/>
                        </a:rPr>
                        <a:t>endpoint</a:t>
                      </a:r>
                      <a:r>
                        <a:rPr lang="es-ES" sz="1400" dirty="0">
                          <a:effectLst/>
                        </a:rPr>
                        <a:t> existe; no ejecutado en corridas congeladas citadas.</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794148515"/>
                  </a:ext>
                </a:extLst>
              </a:tr>
            </a:tbl>
          </a:graphicData>
        </a:graphic>
      </p:graphicFrame>
    </p:spTree>
    <p:extLst>
      <p:ext uri="{BB962C8B-B14F-4D97-AF65-F5344CB8AC3E}">
        <p14:creationId xmlns:p14="http://schemas.microsoft.com/office/powerpoint/2010/main" val="2875095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1" name="object 51"/>
          <p:cNvSpPr txBox="1"/>
          <p:nvPr/>
        </p:nvSpPr>
        <p:spPr>
          <a:xfrm>
            <a:off x="9209658" y="2510739"/>
            <a:ext cx="333375" cy="391795"/>
          </a:xfrm>
          <a:prstGeom prst="rect">
            <a:avLst/>
          </a:prstGeom>
        </p:spPr>
        <p:txBody>
          <a:bodyPr vert="horz" wrap="square" lIns="0" tIns="12700" rIns="0" bIns="0" rtlCol="0">
            <a:spAutoFit/>
          </a:bodyPr>
          <a:lstStyle/>
          <a:p>
            <a:pPr marL="12700">
              <a:lnSpc>
                <a:spcPct val="100000"/>
              </a:lnSpc>
              <a:spcBef>
                <a:spcPts val="100"/>
              </a:spcBef>
            </a:pPr>
            <a:r>
              <a:rPr sz="2400" b="1" spc="-25" dirty="0">
                <a:solidFill>
                  <a:srgbClr val="FFFFFF"/>
                </a:solidFill>
                <a:latin typeface="Calibri"/>
                <a:cs typeface="Calibri"/>
              </a:rPr>
              <a:t>04</a:t>
            </a:r>
            <a:endParaRPr sz="2400" dirty="0">
              <a:latin typeface="Calibri"/>
              <a:cs typeface="Calibri"/>
            </a:endParaRPr>
          </a:p>
        </p:txBody>
      </p:sp>
      <p:sp>
        <p:nvSpPr>
          <p:cNvPr id="52" name="object 52"/>
          <p:cNvSpPr txBox="1"/>
          <p:nvPr/>
        </p:nvSpPr>
        <p:spPr>
          <a:xfrm>
            <a:off x="9670542" y="2580258"/>
            <a:ext cx="1809114" cy="258404"/>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FFFFFF"/>
                </a:solidFill>
                <a:latin typeface="Calibri"/>
                <a:cs typeface="Calibri"/>
              </a:rPr>
              <a:t>DEPÓSITO </a:t>
            </a:r>
            <a:r>
              <a:rPr sz="1600" dirty="0">
                <a:solidFill>
                  <a:srgbClr val="FFFFFF"/>
                </a:solidFill>
                <a:latin typeface="Calibri"/>
                <a:cs typeface="Calibri"/>
              </a:rPr>
              <a:t>Y</a:t>
            </a:r>
            <a:r>
              <a:rPr sz="1600" spc="-35" dirty="0">
                <a:solidFill>
                  <a:srgbClr val="FFFFFF"/>
                </a:solidFill>
                <a:latin typeface="Calibri"/>
                <a:cs typeface="Calibri"/>
              </a:rPr>
              <a:t> </a:t>
            </a:r>
            <a:r>
              <a:rPr sz="1600" spc="-10" dirty="0">
                <a:solidFill>
                  <a:srgbClr val="FFFFFF"/>
                </a:solidFill>
                <a:latin typeface="Calibri"/>
                <a:cs typeface="Calibri"/>
              </a:rPr>
              <a:t>DEFENSA</a:t>
            </a:r>
            <a:endParaRPr sz="1600">
              <a:latin typeface="Calibri"/>
              <a:cs typeface="Calibri"/>
            </a:endParaRPr>
          </a:p>
        </p:txBody>
      </p:sp>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Técnicas de AI</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7</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graphicFrame>
        <p:nvGraphicFramePr>
          <p:cNvPr id="62" name="Tabla 61">
            <a:extLst>
              <a:ext uri="{FF2B5EF4-FFF2-40B4-BE49-F238E27FC236}">
                <a16:creationId xmlns:a16="http://schemas.microsoft.com/office/drawing/2014/main" id="{5650263D-2933-D85D-EB21-F53A7A8317A0}"/>
              </a:ext>
            </a:extLst>
          </p:cNvPr>
          <p:cNvGraphicFramePr>
            <a:graphicFrameLocks noGrp="1"/>
          </p:cNvGraphicFramePr>
          <p:nvPr>
            <p:extLst>
              <p:ext uri="{D42A27DB-BD31-4B8C-83A1-F6EECF244321}">
                <p14:modId xmlns:p14="http://schemas.microsoft.com/office/powerpoint/2010/main" val="2548544695"/>
              </p:ext>
            </p:extLst>
          </p:nvPr>
        </p:nvGraphicFramePr>
        <p:xfrm>
          <a:off x="1389632" y="1447800"/>
          <a:ext cx="6611367" cy="4190998"/>
        </p:xfrm>
        <a:graphic>
          <a:graphicData uri="http://schemas.openxmlformats.org/drawingml/2006/table">
            <a:tbl>
              <a:tblPr>
                <a:tableStyleId>{5C22544A-7EE6-4342-B048-85BDC9FD1C3A}</a:tableStyleId>
              </a:tblPr>
              <a:tblGrid>
                <a:gridCol w="2639307">
                  <a:extLst>
                    <a:ext uri="{9D8B030D-6E8A-4147-A177-3AD203B41FA5}">
                      <a16:colId xmlns:a16="http://schemas.microsoft.com/office/drawing/2014/main" val="3137280904"/>
                    </a:ext>
                  </a:extLst>
                </a:gridCol>
                <a:gridCol w="3972060">
                  <a:extLst>
                    <a:ext uri="{9D8B030D-6E8A-4147-A177-3AD203B41FA5}">
                      <a16:colId xmlns:a16="http://schemas.microsoft.com/office/drawing/2014/main" val="842284583"/>
                    </a:ext>
                  </a:extLst>
                </a:gridCol>
              </a:tblGrid>
              <a:tr h="287578">
                <a:tc>
                  <a:txBody>
                    <a:bodyPr/>
                    <a:lstStyle/>
                    <a:p>
                      <a:pPr algn="l" fontAlgn="t">
                        <a:buNone/>
                      </a:pPr>
                      <a:r>
                        <a:rPr lang="es-ES" sz="1400" dirty="0">
                          <a:effectLst/>
                        </a:rPr>
                        <a:t>Técnica</a:t>
                      </a:r>
                      <a:endParaRPr lang="es-ES" sz="1400" b="0" i="0" dirty="0">
                        <a:solidFill>
                          <a:srgbClr val="141414"/>
                        </a:solidFill>
                        <a:effectLst/>
                        <a:latin typeface="Segoe WPC"/>
                      </a:endParaRPr>
                    </a:p>
                  </a:txBody>
                  <a:tcPr marL="29585" marR="29585" marT="17751" marB="17751"/>
                </a:tc>
                <a:tc>
                  <a:txBody>
                    <a:bodyPr/>
                    <a:lstStyle/>
                    <a:p>
                      <a:pPr algn="l" fontAlgn="t">
                        <a:buNone/>
                      </a:pPr>
                      <a:r>
                        <a:rPr lang="es-ES" sz="1400">
                          <a:effectLst/>
                        </a:rPr>
                        <a:t>Rol concreto en AgroPS</a:t>
                      </a:r>
                      <a:endParaRPr lang="es-ES" sz="1400" b="0" i="0">
                        <a:solidFill>
                          <a:srgbClr val="141414"/>
                        </a:solidFill>
                        <a:effectLst/>
                        <a:latin typeface="Segoe WPC"/>
                      </a:endParaRPr>
                    </a:p>
                  </a:txBody>
                  <a:tcPr marL="29585" marR="29585" marT="17751" marB="17751"/>
                </a:tc>
                <a:extLst>
                  <a:ext uri="{0D108BD9-81ED-4DB2-BD59-A6C34878D82A}">
                    <a16:rowId xmlns:a16="http://schemas.microsoft.com/office/drawing/2014/main" val="1099487301"/>
                  </a:ext>
                </a:extLst>
              </a:tr>
              <a:tr h="780684">
                <a:tc>
                  <a:txBody>
                    <a:bodyPr/>
                    <a:lstStyle/>
                    <a:p>
                      <a:pPr algn="l" fontAlgn="t" latinLnBrk="0">
                        <a:buNone/>
                      </a:pPr>
                      <a:r>
                        <a:rPr lang="es-ES" sz="1400" dirty="0">
                          <a:effectLst/>
                        </a:rPr>
                        <a:t>RAG</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a:effectLst/>
                        </a:rPr>
                        <a:t>Recupera chunks del corpus y los inyecta en el prompt antes de generar (AnswerQuestion).</a:t>
                      </a:r>
                      <a:endParaRPr lang="es-ES" sz="1400" b="0" i="0">
                        <a:solidFill>
                          <a:srgbClr val="141414"/>
                        </a:solidFill>
                        <a:effectLst/>
                        <a:latin typeface="Segoe WPC"/>
                      </a:endParaRPr>
                    </a:p>
                  </a:txBody>
                  <a:tcPr marL="29585" marR="29585" marT="17751" marB="17751"/>
                </a:tc>
                <a:extLst>
                  <a:ext uri="{0D108BD9-81ED-4DB2-BD59-A6C34878D82A}">
                    <a16:rowId xmlns:a16="http://schemas.microsoft.com/office/drawing/2014/main" val="192399960"/>
                  </a:ext>
                </a:extLst>
              </a:tr>
              <a:tr h="780684">
                <a:tc>
                  <a:txBody>
                    <a:bodyPr/>
                    <a:lstStyle/>
                    <a:p>
                      <a:pPr algn="l" fontAlgn="t" latinLnBrk="0">
                        <a:buNone/>
                      </a:pPr>
                      <a:r>
                        <a:rPr lang="es-ES" sz="1400" dirty="0">
                          <a:effectLst/>
                        </a:rPr>
                        <a:t>Embeddings densos</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a:effectLst/>
                        </a:rPr>
                        <a:t>nomic-embed-text → vectores en PostgreSQL/pgvector (pad a 4096); búsqueda kNN (coseno por defecto).</a:t>
                      </a:r>
                      <a:endParaRPr lang="es-ES" sz="1400" b="0" i="0">
                        <a:solidFill>
                          <a:srgbClr val="141414"/>
                        </a:solidFill>
                        <a:effectLst/>
                        <a:latin typeface="Segoe WPC"/>
                      </a:endParaRPr>
                    </a:p>
                  </a:txBody>
                  <a:tcPr marL="29585" marR="29585" marT="17751" marB="17751"/>
                </a:tc>
                <a:extLst>
                  <a:ext uri="{0D108BD9-81ED-4DB2-BD59-A6C34878D82A}">
                    <a16:rowId xmlns:a16="http://schemas.microsoft.com/office/drawing/2014/main" val="3801121978"/>
                  </a:ext>
                </a:extLst>
              </a:tr>
              <a:tr h="780684">
                <a:tc>
                  <a:txBody>
                    <a:bodyPr/>
                    <a:lstStyle/>
                    <a:p>
                      <a:pPr algn="l" fontAlgn="t" latinLnBrk="0">
                        <a:buNone/>
                      </a:pPr>
                      <a:r>
                        <a:rPr lang="es-ES" sz="1400" dirty="0">
                          <a:effectLst/>
                        </a:rPr>
                        <a:t>BM25</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Índice léxico por </a:t>
                      </a:r>
                      <a:r>
                        <a:rPr lang="es-ES" sz="1400" dirty="0" err="1">
                          <a:effectLst/>
                        </a:rPr>
                        <a:t>tenant</a:t>
                      </a:r>
                      <a:r>
                        <a:rPr lang="es-ES" sz="1400" dirty="0">
                          <a:effectLst/>
                        </a:rPr>
                        <a:t>; captura términos exactos (códigos, ayudas, nombres de norma).</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1828075718"/>
                  </a:ext>
                </a:extLst>
              </a:tr>
              <a:tr h="780684">
                <a:tc>
                  <a:txBody>
                    <a:bodyPr/>
                    <a:lstStyle/>
                    <a:p>
                      <a:pPr algn="l" fontAlgn="t" latinLnBrk="0">
                        <a:buNone/>
                      </a:pPr>
                      <a:r>
                        <a:rPr lang="es-ES" sz="1400" dirty="0">
                          <a:effectLst/>
                        </a:rPr>
                        <a:t>RRF (k=60)</a:t>
                      </a:r>
                      <a:endParaRPr lang="es-ES" sz="1400" b="0" i="0" dirty="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Fusiona listas densas + BM25 (y variantes con </a:t>
                      </a:r>
                      <a:r>
                        <a:rPr lang="es-ES" sz="1400" dirty="0" err="1">
                          <a:effectLst/>
                        </a:rPr>
                        <a:t>query</a:t>
                      </a:r>
                      <a:r>
                        <a:rPr lang="es-ES" sz="1400" dirty="0">
                          <a:effectLst/>
                        </a:rPr>
                        <a:t> expandida) en un ranking único.</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2913533745"/>
                  </a:ext>
                </a:extLst>
              </a:tr>
              <a:tr h="780684">
                <a:tc>
                  <a:txBody>
                    <a:bodyPr/>
                    <a:lstStyle/>
                    <a:p>
                      <a:pPr algn="l" fontAlgn="t" latinLnBrk="0">
                        <a:buNone/>
                      </a:pPr>
                      <a:r>
                        <a:rPr lang="es-ES" sz="1400">
                          <a:effectLst/>
                        </a:rPr>
                        <a:t>RAGAS</a:t>
                      </a:r>
                      <a:endParaRPr lang="es-ES" sz="1400" b="0" i="0">
                        <a:solidFill>
                          <a:srgbClr val="141414"/>
                        </a:solidFill>
                        <a:effectLst/>
                        <a:latin typeface="Segoe WPC"/>
                      </a:endParaRPr>
                    </a:p>
                  </a:txBody>
                  <a:tcPr marL="29585" marR="29585" marT="17751" marB="17751"/>
                </a:tc>
                <a:tc>
                  <a:txBody>
                    <a:bodyPr/>
                    <a:lstStyle/>
                    <a:p>
                      <a:pPr algn="l" fontAlgn="t" latinLnBrk="0">
                        <a:buNone/>
                      </a:pPr>
                      <a:r>
                        <a:rPr lang="es-ES" sz="1400" dirty="0">
                          <a:effectLst/>
                        </a:rPr>
                        <a:t>Adaptador/</a:t>
                      </a:r>
                      <a:r>
                        <a:rPr lang="es-ES" sz="1400" dirty="0" err="1">
                          <a:effectLst/>
                        </a:rPr>
                        <a:t>endpoint</a:t>
                      </a:r>
                      <a:r>
                        <a:rPr lang="es-ES" sz="1400" dirty="0">
                          <a:effectLst/>
                        </a:rPr>
                        <a:t> existe; no ejecutado en corridas congeladas citadas.</a:t>
                      </a:r>
                      <a:endParaRPr lang="es-ES" sz="1400" b="0" i="0" dirty="0">
                        <a:solidFill>
                          <a:srgbClr val="141414"/>
                        </a:solidFill>
                        <a:effectLst/>
                        <a:latin typeface="Segoe WPC"/>
                      </a:endParaRPr>
                    </a:p>
                  </a:txBody>
                  <a:tcPr marL="29585" marR="29585" marT="17751" marB="17751"/>
                </a:tc>
                <a:extLst>
                  <a:ext uri="{0D108BD9-81ED-4DB2-BD59-A6C34878D82A}">
                    <a16:rowId xmlns:a16="http://schemas.microsoft.com/office/drawing/2014/main" val="794148515"/>
                  </a:ext>
                </a:extLst>
              </a:tr>
            </a:tbl>
          </a:graphicData>
        </a:graphic>
      </p:graphicFrame>
    </p:spTree>
    <p:extLst>
      <p:ext uri="{BB962C8B-B14F-4D97-AF65-F5344CB8AC3E}">
        <p14:creationId xmlns:p14="http://schemas.microsoft.com/office/powerpoint/2010/main" val="382997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66977" y="6631482"/>
            <a:ext cx="79441" cy="180002"/>
          </a:xfrm>
          <a:prstGeom prst="rect">
            <a:avLst/>
          </a:prstGeom>
        </p:spPr>
      </p:pic>
      <p:sp>
        <p:nvSpPr>
          <p:cNvPr id="7" name="object 7"/>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8" name="object 8"/>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dirty="0"/>
              <a:t>Técnicas de AI</a:t>
            </a:r>
            <a:endParaRPr spc="-25" dirty="0"/>
          </a:p>
        </p:txBody>
      </p:sp>
      <p:pic>
        <p:nvPicPr>
          <p:cNvPr id="9" name="object 9"/>
          <p:cNvPicPr/>
          <p:nvPr/>
        </p:nvPicPr>
        <p:blipFill>
          <a:blip r:embed="rId4" cstate="print"/>
          <a:stretch>
            <a:fillRect/>
          </a:stretch>
        </p:blipFill>
        <p:spPr>
          <a:xfrm>
            <a:off x="304800" y="1145189"/>
            <a:ext cx="113969" cy="251967"/>
          </a:xfrm>
          <a:prstGeom prst="rect">
            <a:avLst/>
          </a:prstGeom>
        </p:spPr>
      </p:pic>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8</a:t>
            </a:fld>
            <a:endParaRPr spc="-50" dirty="0">
              <a:solidFill>
                <a:srgbClr val="F1F1F1"/>
              </a:solidFill>
            </a:endParaRPr>
          </a:p>
        </p:txBody>
      </p:sp>
      <p:sp>
        <p:nvSpPr>
          <p:cNvPr id="17" name="object 17"/>
          <p:cNvSpPr txBox="1">
            <a:spLocks noGrp="1"/>
          </p:cNvSpPr>
          <p:nvPr>
            <p:ph type="ftr" sz="quarter" idx="5"/>
          </p:nvPr>
        </p:nvSpPr>
        <p:spPr>
          <a:xfrm>
            <a:off x="304800" y="6646874"/>
            <a:ext cx="1143635" cy="177800"/>
          </a:xfrm>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graphicFrame>
        <p:nvGraphicFramePr>
          <p:cNvPr id="20" name="Tabla 19">
            <a:extLst>
              <a:ext uri="{FF2B5EF4-FFF2-40B4-BE49-F238E27FC236}">
                <a16:creationId xmlns:a16="http://schemas.microsoft.com/office/drawing/2014/main" id="{05795076-2688-3BA5-82DC-BF986DB19F9B}"/>
              </a:ext>
            </a:extLst>
          </p:cNvPr>
          <p:cNvGraphicFramePr>
            <a:graphicFrameLocks noGrp="1"/>
          </p:cNvGraphicFramePr>
          <p:nvPr>
            <p:extLst>
              <p:ext uri="{D42A27DB-BD31-4B8C-83A1-F6EECF244321}">
                <p14:modId xmlns:p14="http://schemas.microsoft.com/office/powerpoint/2010/main" val="1424327438"/>
              </p:ext>
            </p:extLst>
          </p:nvPr>
        </p:nvGraphicFramePr>
        <p:xfrm>
          <a:off x="2209800" y="1116502"/>
          <a:ext cx="6561572" cy="5551865"/>
        </p:xfrm>
        <a:graphic>
          <a:graphicData uri="http://schemas.openxmlformats.org/drawingml/2006/table">
            <a:tbl>
              <a:tblPr>
                <a:tableStyleId>{5C22544A-7EE6-4342-B048-85BDC9FD1C3A}</a:tableStyleId>
              </a:tblPr>
              <a:tblGrid>
                <a:gridCol w="3280786">
                  <a:extLst>
                    <a:ext uri="{9D8B030D-6E8A-4147-A177-3AD203B41FA5}">
                      <a16:colId xmlns:a16="http://schemas.microsoft.com/office/drawing/2014/main" val="3173821481"/>
                    </a:ext>
                  </a:extLst>
                </a:gridCol>
                <a:gridCol w="3280786">
                  <a:extLst>
                    <a:ext uri="{9D8B030D-6E8A-4147-A177-3AD203B41FA5}">
                      <a16:colId xmlns:a16="http://schemas.microsoft.com/office/drawing/2014/main" val="4071967996"/>
                    </a:ext>
                  </a:extLst>
                </a:gridCol>
              </a:tblGrid>
              <a:tr h="497636">
                <a:tc>
                  <a:txBody>
                    <a:bodyPr/>
                    <a:lstStyle/>
                    <a:p>
                      <a:pPr algn="l" fontAlgn="t" latinLnBrk="0">
                        <a:buNone/>
                      </a:pPr>
                      <a:r>
                        <a:rPr lang="es-ES" sz="1400" dirty="0">
                          <a:effectLst/>
                        </a:rPr>
                        <a:t>Expansión léxica agraria</a:t>
                      </a:r>
                      <a:endParaRPr lang="es-ES" sz="1400" b="0" i="0" dirty="0">
                        <a:solidFill>
                          <a:srgbClr val="141414"/>
                        </a:solidFill>
                        <a:effectLst/>
                        <a:latin typeface="Segoe WPC"/>
                      </a:endParaRPr>
                    </a:p>
                  </a:txBody>
                  <a:tcPr marL="45029" marR="45029" marT="27017" marB="27017"/>
                </a:tc>
                <a:tc>
                  <a:txBody>
                    <a:bodyPr/>
                    <a:lstStyle/>
                    <a:p>
                      <a:pPr algn="l" fontAlgn="t" latinLnBrk="0">
                        <a:buNone/>
                      </a:pPr>
                      <a:r>
                        <a:rPr lang="es-ES" sz="1400">
                          <a:effectLst/>
                        </a:rPr>
                        <a:t>Sinónimos/cultivo/plaga/ayuda en dominio (lexicon) para enriquecer la query.</a:t>
                      </a:r>
                      <a:endParaRPr lang="es-ES" sz="1400" b="0" i="0">
                        <a:solidFill>
                          <a:srgbClr val="141414"/>
                        </a:solidFill>
                        <a:effectLst/>
                        <a:latin typeface="Segoe WPC"/>
                      </a:endParaRPr>
                    </a:p>
                  </a:txBody>
                  <a:tcPr marL="45029" marR="45029" marT="27017" marB="27017"/>
                </a:tc>
                <a:extLst>
                  <a:ext uri="{0D108BD9-81ED-4DB2-BD59-A6C34878D82A}">
                    <a16:rowId xmlns:a16="http://schemas.microsoft.com/office/drawing/2014/main" val="2656174197"/>
                  </a:ext>
                </a:extLst>
              </a:tr>
              <a:tr h="497636">
                <a:tc>
                  <a:txBody>
                    <a:bodyPr/>
                    <a:lstStyle/>
                    <a:p>
                      <a:pPr algn="l" fontAlgn="t" latinLnBrk="0">
                        <a:buNone/>
                      </a:pPr>
                      <a:r>
                        <a:rPr lang="es-ES" sz="1400" dirty="0">
                          <a:effectLst/>
                        </a:rPr>
                        <a:t>Query </a:t>
                      </a:r>
                      <a:r>
                        <a:rPr lang="es-ES" sz="1400" dirty="0" err="1">
                          <a:effectLst/>
                        </a:rPr>
                        <a:t>rewrite</a:t>
                      </a:r>
                      <a:r>
                        <a:rPr lang="es-ES" sz="1400" dirty="0">
                          <a:effectLst/>
                        </a:rPr>
                        <a:t> (opcional)</a:t>
                      </a:r>
                      <a:endParaRPr lang="es-ES" sz="1400" b="0" i="0" dirty="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LLM reescribe consultas complejas si supera umbral; no en todos los hechos directos.</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3949157708"/>
                  </a:ext>
                </a:extLst>
              </a:tr>
              <a:tr h="497636">
                <a:tc>
                  <a:txBody>
                    <a:bodyPr/>
                    <a:lstStyle/>
                    <a:p>
                      <a:pPr algn="l" fontAlgn="t" latinLnBrk="0">
                        <a:buNone/>
                      </a:pPr>
                      <a:r>
                        <a:rPr lang="es-ES" sz="1400">
                          <a:effectLst/>
                        </a:rPr>
                        <a:t>Cross-Encoder rerank</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BAAI/bge-reranker-v2-m3 implementado; off por defecto (latencia / Recall@1).</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1346107417"/>
                  </a:ext>
                </a:extLst>
              </a:tr>
              <a:tr h="497636">
                <a:tc>
                  <a:txBody>
                    <a:bodyPr/>
                    <a:lstStyle/>
                    <a:p>
                      <a:pPr algn="l" fontAlgn="t" latinLnBrk="0">
                        <a:buNone/>
                      </a:pPr>
                      <a:r>
                        <a:rPr lang="es-ES" sz="1400">
                          <a:effectLst/>
                        </a:rPr>
                        <a:t>Agentic RAG (LangGraph)</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Grafo: plan → </a:t>
                      </a:r>
                      <a:r>
                        <a:rPr lang="es-ES" sz="1400" dirty="0" err="1">
                          <a:effectLst/>
                        </a:rPr>
                        <a:t>retrieve</a:t>
                      </a:r>
                      <a:r>
                        <a:rPr lang="es-ES" sz="1400" dirty="0">
                          <a:effectLst/>
                        </a:rPr>
                        <a:t> → grade → </a:t>
                      </a:r>
                      <a:r>
                        <a:rPr lang="es-ES" sz="1400" dirty="0" err="1">
                          <a:effectLst/>
                        </a:rPr>
                        <a:t>rewrite</a:t>
                      </a:r>
                      <a:r>
                        <a:rPr lang="es-ES" sz="1400" dirty="0">
                          <a:effectLst/>
                        </a:rPr>
                        <a:t> (máx. 1) → </a:t>
                      </a:r>
                      <a:r>
                        <a:rPr lang="es-ES" sz="1400" dirty="0" err="1">
                          <a:effectLst/>
                        </a:rPr>
                        <a:t>generate</a:t>
                      </a:r>
                      <a:r>
                        <a:rPr lang="es-ES" sz="1400" dirty="0">
                          <a:effectLst/>
                        </a:rPr>
                        <a:t>; </a:t>
                      </a:r>
                      <a:r>
                        <a:rPr lang="es-ES" sz="1400" dirty="0" err="1">
                          <a:effectLst/>
                        </a:rPr>
                        <a:t>tools</a:t>
                      </a:r>
                      <a:r>
                        <a:rPr lang="es-ES" sz="1400" dirty="0">
                          <a:effectLst/>
                        </a:rPr>
                        <a:t>: KB, SQL cuaderno, inventario. Default chat puede ir en </a:t>
                      </a:r>
                      <a:r>
                        <a:rPr lang="es-ES" sz="1400" dirty="0" err="1">
                          <a:effectLst/>
                        </a:rPr>
                        <a:t>fast</a:t>
                      </a:r>
                      <a:r>
                        <a:rPr lang="es-ES" sz="1400" dirty="0">
                          <a:effectLst/>
                        </a:rPr>
                        <a:t> </a:t>
                      </a:r>
                      <a:r>
                        <a:rPr lang="es-ES" sz="1400" dirty="0" err="1">
                          <a:effectLst/>
                        </a:rPr>
                        <a:t>path</a:t>
                      </a:r>
                      <a:r>
                        <a:rPr lang="es-ES" sz="1400" dirty="0">
                          <a:effectLst/>
                        </a:rPr>
                        <a:t> heurístico.</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3042427541"/>
                  </a:ext>
                </a:extLst>
              </a:tr>
              <a:tr h="497636">
                <a:tc>
                  <a:txBody>
                    <a:bodyPr/>
                    <a:lstStyle/>
                    <a:p>
                      <a:pPr algn="l" fontAlgn="t" latinLnBrk="0">
                        <a:buNone/>
                      </a:pPr>
                      <a:r>
                        <a:rPr lang="es-ES" sz="1400">
                          <a:effectLst/>
                        </a:rPr>
                        <a:t>Multimodal (ingesta)</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PDF: pypdfium2 + </a:t>
                      </a:r>
                      <a:r>
                        <a:rPr lang="es-ES" sz="1400" dirty="0" err="1">
                          <a:effectLst/>
                        </a:rPr>
                        <a:t>RapidOCR</a:t>
                      </a:r>
                      <a:r>
                        <a:rPr lang="es-ES" sz="1400" dirty="0">
                          <a:effectLst/>
                        </a:rPr>
                        <a:t> selectivo; audio/vídeo: Whisper. El chat/</a:t>
                      </a:r>
                      <a:r>
                        <a:rPr lang="es-ES" sz="1400" dirty="0" err="1">
                          <a:effectLst/>
                        </a:rPr>
                        <a:t>eval</a:t>
                      </a:r>
                      <a:r>
                        <a:rPr lang="es-ES" sz="1400" dirty="0">
                          <a:effectLst/>
                        </a:rPr>
                        <a:t> son textuales.</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1250395683"/>
                  </a:ext>
                </a:extLst>
              </a:tr>
              <a:tr h="497636">
                <a:tc>
                  <a:txBody>
                    <a:bodyPr/>
                    <a:lstStyle/>
                    <a:p>
                      <a:pPr algn="l" fontAlgn="t" latinLnBrk="0">
                        <a:buNone/>
                      </a:pPr>
                      <a:r>
                        <a:rPr lang="es-ES" sz="1400">
                          <a:effectLst/>
                        </a:rPr>
                        <a:t>Chunking</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Ventanas 1400 </a:t>
                      </a:r>
                      <a:r>
                        <a:rPr lang="es-ES" sz="1400" dirty="0" err="1">
                          <a:effectLst/>
                        </a:rPr>
                        <a:t>chars</a:t>
                      </a:r>
                      <a:r>
                        <a:rPr lang="es-ES" sz="1400" dirty="0">
                          <a:effectLst/>
                        </a:rPr>
                        <a:t> / solape 120 (corrida oficial); </a:t>
                      </a:r>
                      <a:r>
                        <a:rPr lang="es-ES" sz="1400" dirty="0" err="1">
                          <a:effectLst/>
                        </a:rPr>
                        <a:t>headline+summary+content</a:t>
                      </a:r>
                      <a:r>
                        <a:rPr lang="es-ES" sz="1400" dirty="0">
                          <a:effectLst/>
                        </a:rPr>
                        <a:t>.</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3863429515"/>
                  </a:ext>
                </a:extLst>
              </a:tr>
              <a:tr h="304111">
                <a:tc>
                  <a:txBody>
                    <a:bodyPr/>
                    <a:lstStyle/>
                    <a:p>
                      <a:pPr algn="l" fontAlgn="t" latinLnBrk="0">
                        <a:buNone/>
                      </a:pPr>
                      <a:r>
                        <a:rPr lang="es-ES" sz="1400">
                          <a:effectLst/>
                        </a:rPr>
                        <a:t>LLM local</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Generación: llama3.2:latest vía Ollama.</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618053724"/>
                  </a:ext>
                </a:extLst>
              </a:tr>
              <a:tr h="497636">
                <a:tc>
                  <a:txBody>
                    <a:bodyPr/>
                    <a:lstStyle/>
                    <a:p>
                      <a:pPr algn="l" fontAlgn="t" latinLnBrk="0">
                        <a:buNone/>
                      </a:pPr>
                      <a:r>
                        <a:rPr lang="es-ES" sz="1400">
                          <a:effectLst/>
                        </a:rPr>
                        <a:t>LLM-as-a-Judge</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Exactitud/exhaustividad/relevancia 1–5 + </a:t>
                      </a:r>
                      <a:r>
                        <a:rPr lang="es-ES" sz="1400" dirty="0" err="1">
                          <a:effectLst/>
                        </a:rPr>
                        <a:t>flag</a:t>
                      </a:r>
                      <a:r>
                        <a:rPr lang="es-ES" sz="1400" dirty="0">
                          <a:effectLst/>
                        </a:rPr>
                        <a:t> </a:t>
                      </a:r>
                      <a:r>
                        <a:rPr lang="es-ES" sz="1400" dirty="0" err="1">
                          <a:effectLst/>
                        </a:rPr>
                        <a:t>is_hallucination</a:t>
                      </a:r>
                      <a:r>
                        <a:rPr lang="es-ES" sz="1400" dirty="0">
                          <a:effectLst/>
                        </a:rPr>
                        <a:t> (mismo modelo).</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352834912"/>
                  </a:ext>
                </a:extLst>
              </a:tr>
              <a:tr h="304111">
                <a:tc>
                  <a:txBody>
                    <a:bodyPr/>
                    <a:lstStyle/>
                    <a:p>
                      <a:pPr algn="l" fontAlgn="t" latinLnBrk="0">
                        <a:buNone/>
                      </a:pPr>
                      <a:r>
                        <a:rPr lang="es-ES" sz="1400">
                          <a:effectLst/>
                        </a:rPr>
                        <a:t>Métricas IR propias</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MRR y cobertura de </a:t>
                      </a:r>
                      <a:r>
                        <a:rPr lang="es-ES" sz="1400" dirty="0" err="1">
                          <a:effectLst/>
                        </a:rPr>
                        <a:t>keywords</a:t>
                      </a:r>
                      <a:r>
                        <a:rPr lang="es-ES" sz="1400" dirty="0">
                          <a:effectLst/>
                        </a:rPr>
                        <a:t> sobre el banco oro.</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255947877"/>
                  </a:ext>
                </a:extLst>
              </a:tr>
              <a:tr h="304111">
                <a:tc>
                  <a:txBody>
                    <a:bodyPr/>
                    <a:lstStyle/>
                    <a:p>
                      <a:pPr algn="l" fontAlgn="t" latinLnBrk="0">
                        <a:buNone/>
                      </a:pPr>
                      <a:r>
                        <a:rPr lang="es-ES" sz="1400">
                          <a:effectLst/>
                        </a:rPr>
                        <a:t>RAGAS</a:t>
                      </a:r>
                      <a:endParaRPr lang="es-ES" sz="1400" b="0" i="0">
                        <a:solidFill>
                          <a:srgbClr val="141414"/>
                        </a:solidFill>
                        <a:effectLst/>
                        <a:latin typeface="Segoe WPC"/>
                      </a:endParaRPr>
                    </a:p>
                  </a:txBody>
                  <a:tcPr marL="45029" marR="45029" marT="27017" marB="27017"/>
                </a:tc>
                <a:tc>
                  <a:txBody>
                    <a:bodyPr/>
                    <a:lstStyle/>
                    <a:p>
                      <a:pPr algn="l" fontAlgn="t" latinLnBrk="0">
                        <a:buNone/>
                      </a:pPr>
                      <a:r>
                        <a:rPr lang="es-ES" sz="1400" dirty="0">
                          <a:effectLst/>
                        </a:rPr>
                        <a:t>Adaptador/</a:t>
                      </a:r>
                      <a:r>
                        <a:rPr lang="es-ES" sz="1400" dirty="0" err="1">
                          <a:effectLst/>
                        </a:rPr>
                        <a:t>endpoint</a:t>
                      </a:r>
                      <a:r>
                        <a:rPr lang="es-ES" sz="1400" dirty="0">
                          <a:effectLst/>
                        </a:rPr>
                        <a:t> existe; no ejecutado en corridas congeladas citadas.</a:t>
                      </a:r>
                      <a:endParaRPr lang="es-ES" sz="1400" b="0" i="0" dirty="0">
                        <a:solidFill>
                          <a:srgbClr val="141414"/>
                        </a:solidFill>
                        <a:effectLst/>
                        <a:latin typeface="Segoe WPC"/>
                      </a:endParaRPr>
                    </a:p>
                  </a:txBody>
                  <a:tcPr marL="45029" marR="45029" marT="27017" marB="27017"/>
                </a:tc>
                <a:extLst>
                  <a:ext uri="{0D108BD9-81ED-4DB2-BD59-A6C34878D82A}">
                    <a16:rowId xmlns:a16="http://schemas.microsoft.com/office/drawing/2014/main" val="10539371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27907" y="132587"/>
            <a:ext cx="6692265" cy="594360"/>
          </a:xfrm>
          <a:custGeom>
            <a:avLst/>
            <a:gdLst/>
            <a:ahLst/>
            <a:cxnLst/>
            <a:rect l="l" t="t" r="r" b="b"/>
            <a:pathLst>
              <a:path w="6692265" h="594360">
                <a:moveTo>
                  <a:pt x="6691756" y="0"/>
                </a:moveTo>
                <a:lnTo>
                  <a:pt x="0" y="0"/>
                </a:lnTo>
                <a:lnTo>
                  <a:pt x="0" y="594232"/>
                </a:lnTo>
                <a:lnTo>
                  <a:pt x="6691756" y="594232"/>
                </a:lnTo>
                <a:lnTo>
                  <a:pt x="6691756" y="0"/>
                </a:lnTo>
                <a:close/>
              </a:path>
            </a:pathLst>
          </a:custGeom>
          <a:solidFill>
            <a:srgbClr val="FFFFFF">
              <a:alpha val="69802"/>
            </a:srgbClr>
          </a:solidFill>
        </p:spPr>
        <p:txBody>
          <a:bodyPr wrap="square" lIns="0" tIns="0" rIns="0" bIns="0" rtlCol="0"/>
          <a:lstStyle/>
          <a:p>
            <a:endParaRPr/>
          </a:p>
        </p:txBody>
      </p:sp>
      <p:pic>
        <p:nvPicPr>
          <p:cNvPr id="3" name="object 3"/>
          <p:cNvPicPr/>
          <p:nvPr/>
        </p:nvPicPr>
        <p:blipFill>
          <a:blip r:embed="rId2" cstate="print"/>
          <a:stretch>
            <a:fillRect/>
          </a:stretch>
        </p:blipFill>
        <p:spPr>
          <a:xfrm>
            <a:off x="66977" y="6631482"/>
            <a:ext cx="79441" cy="180002"/>
          </a:xfrm>
          <a:prstGeom prst="rect">
            <a:avLst/>
          </a:prstGeom>
        </p:spPr>
      </p:pic>
      <p:sp>
        <p:nvSpPr>
          <p:cNvPr id="4" name="object 4"/>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 name="object 5"/>
          <p:cNvSpPr txBox="1">
            <a:spLocks noGrp="1"/>
          </p:cNvSpPr>
          <p:nvPr>
            <p:ph type="title"/>
          </p:nvPr>
        </p:nvSpPr>
        <p:spPr>
          <a:xfrm>
            <a:off x="3960366" y="43052"/>
            <a:ext cx="6174233" cy="1367041"/>
          </a:xfrm>
          <a:prstGeom prst="rect">
            <a:avLst/>
          </a:prstGeom>
        </p:spPr>
        <p:txBody>
          <a:bodyPr vert="horz" wrap="square" lIns="0" tIns="12700" rIns="0" bIns="0" rtlCol="0">
            <a:spAutoFit/>
          </a:bodyPr>
          <a:lstStyle/>
          <a:p>
            <a:pPr marL="12700">
              <a:lnSpc>
                <a:spcPct val="100000"/>
              </a:lnSpc>
              <a:spcBef>
                <a:spcPts val="100"/>
              </a:spcBef>
            </a:pPr>
            <a:r>
              <a:rPr lang="es-ES" dirty="0"/>
              <a:t>Patrones de Software / Arquitectura</a:t>
            </a:r>
            <a:endParaRPr spc="-25" dirty="0"/>
          </a:p>
        </p:txBody>
      </p:sp>
      <p:pic>
        <p:nvPicPr>
          <p:cNvPr id="6" name="object 6"/>
          <p:cNvPicPr/>
          <p:nvPr/>
        </p:nvPicPr>
        <p:blipFill>
          <a:blip r:embed="rId3" cstate="print"/>
          <a:stretch>
            <a:fillRect/>
          </a:stretch>
        </p:blipFill>
        <p:spPr>
          <a:xfrm>
            <a:off x="287185" y="3168650"/>
            <a:ext cx="113969" cy="251967"/>
          </a:xfrm>
          <a:prstGeom prst="rect">
            <a:avLst/>
          </a:prstGeom>
        </p:spPr>
      </p:pic>
      <p:pic>
        <p:nvPicPr>
          <p:cNvPr id="8" name="object 8"/>
          <p:cNvPicPr/>
          <p:nvPr/>
        </p:nvPicPr>
        <p:blipFill>
          <a:blip r:embed="rId4" cstate="print"/>
          <a:stretch>
            <a:fillRect/>
          </a:stretch>
        </p:blipFill>
        <p:spPr>
          <a:xfrm>
            <a:off x="297903" y="1797304"/>
            <a:ext cx="113969" cy="251968"/>
          </a:xfrm>
          <a:prstGeom prst="rect">
            <a:avLst/>
          </a:prstGeom>
        </p:spPr>
      </p:pic>
      <p:pic>
        <p:nvPicPr>
          <p:cNvPr id="9" name="object 9"/>
          <p:cNvPicPr/>
          <p:nvPr/>
        </p:nvPicPr>
        <p:blipFill>
          <a:blip r:embed="rId5" cstate="print"/>
          <a:stretch>
            <a:fillRect/>
          </a:stretch>
        </p:blipFill>
        <p:spPr>
          <a:xfrm>
            <a:off x="297903" y="2359786"/>
            <a:ext cx="113969" cy="252095"/>
          </a:xfrm>
          <a:prstGeom prst="rect">
            <a:avLst/>
          </a:prstGeom>
        </p:spPr>
      </p:pic>
      <p:pic>
        <p:nvPicPr>
          <p:cNvPr id="10" name="object 10"/>
          <p:cNvPicPr/>
          <p:nvPr/>
        </p:nvPicPr>
        <p:blipFill>
          <a:blip r:embed="rId3" cstate="print"/>
          <a:stretch>
            <a:fillRect/>
          </a:stretch>
        </p:blipFill>
        <p:spPr>
          <a:xfrm>
            <a:off x="287185" y="5454777"/>
            <a:ext cx="113969" cy="251967"/>
          </a:xfrm>
          <a:prstGeom prst="rect">
            <a:avLst/>
          </a:prstGeom>
        </p:spPr>
      </p:pic>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9</a:t>
            </a:fld>
            <a:endParaRPr spc="-50" dirty="0">
              <a:solidFill>
                <a:srgbClr val="F1F1F1"/>
              </a:solidFill>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graphicFrame>
        <p:nvGraphicFramePr>
          <p:cNvPr id="11" name="Tabla 10">
            <a:extLst>
              <a:ext uri="{FF2B5EF4-FFF2-40B4-BE49-F238E27FC236}">
                <a16:creationId xmlns:a16="http://schemas.microsoft.com/office/drawing/2014/main" id="{67B5C4F0-8BB6-E874-E57A-CD382F0CF01C}"/>
              </a:ext>
            </a:extLst>
          </p:cNvPr>
          <p:cNvGraphicFramePr>
            <a:graphicFrameLocks noGrp="1"/>
          </p:cNvGraphicFramePr>
          <p:nvPr>
            <p:extLst>
              <p:ext uri="{D42A27DB-BD31-4B8C-83A1-F6EECF244321}">
                <p14:modId xmlns:p14="http://schemas.microsoft.com/office/powerpoint/2010/main" val="2421613702"/>
              </p:ext>
            </p:extLst>
          </p:nvPr>
        </p:nvGraphicFramePr>
        <p:xfrm>
          <a:off x="513585" y="1469673"/>
          <a:ext cx="8991600" cy="5288800"/>
        </p:xfrm>
        <a:graphic>
          <a:graphicData uri="http://schemas.openxmlformats.org/drawingml/2006/table">
            <a:tbl>
              <a:tblPr>
                <a:tableStyleId>{5C22544A-7EE6-4342-B048-85BDC9FD1C3A}</a:tableStyleId>
              </a:tblPr>
              <a:tblGrid>
                <a:gridCol w="4495800">
                  <a:extLst>
                    <a:ext uri="{9D8B030D-6E8A-4147-A177-3AD203B41FA5}">
                      <a16:colId xmlns:a16="http://schemas.microsoft.com/office/drawing/2014/main" val="936061673"/>
                    </a:ext>
                  </a:extLst>
                </a:gridCol>
                <a:gridCol w="4495800">
                  <a:extLst>
                    <a:ext uri="{9D8B030D-6E8A-4147-A177-3AD203B41FA5}">
                      <a16:colId xmlns:a16="http://schemas.microsoft.com/office/drawing/2014/main" val="2280248761"/>
                    </a:ext>
                  </a:extLst>
                </a:gridCol>
              </a:tblGrid>
              <a:tr h="306047">
                <a:tc>
                  <a:txBody>
                    <a:bodyPr/>
                    <a:lstStyle/>
                    <a:p>
                      <a:pPr algn="l" fontAlgn="t">
                        <a:buNone/>
                      </a:pPr>
                      <a:r>
                        <a:rPr lang="es-ES" sz="1600" dirty="0">
                          <a:effectLst/>
                        </a:rPr>
                        <a:t>Patrón</a:t>
                      </a:r>
                      <a:endParaRPr lang="es-ES" sz="1600" b="0" i="0" dirty="0">
                        <a:solidFill>
                          <a:srgbClr val="141414"/>
                        </a:solidFill>
                        <a:effectLst/>
                        <a:latin typeface="Segoe WPC"/>
                      </a:endParaRPr>
                    </a:p>
                  </a:txBody>
                  <a:tcPr marL="54654" marR="54654" marT="32792" marB="32792"/>
                </a:tc>
                <a:tc>
                  <a:txBody>
                    <a:bodyPr/>
                    <a:lstStyle/>
                    <a:p>
                      <a:pPr algn="l" fontAlgn="t">
                        <a:buNone/>
                      </a:pPr>
                      <a:r>
                        <a:rPr lang="es-ES" sz="1600">
                          <a:effectLst/>
                        </a:rPr>
                        <a:t>Dónde / para qué</a:t>
                      </a:r>
                      <a:endParaRPr lang="es-ES" sz="1600" b="0" i="0">
                        <a:solidFill>
                          <a:srgbClr val="141414"/>
                        </a:solidFill>
                        <a:effectLst/>
                        <a:latin typeface="Segoe WPC"/>
                      </a:endParaRPr>
                    </a:p>
                  </a:txBody>
                  <a:tcPr marL="54654" marR="54654" marT="32792" marB="32792"/>
                </a:tc>
                <a:extLst>
                  <a:ext uri="{0D108BD9-81ED-4DB2-BD59-A6C34878D82A}">
                    <a16:rowId xmlns:a16="http://schemas.microsoft.com/office/drawing/2014/main" val="1791742633"/>
                  </a:ext>
                </a:extLst>
              </a:tr>
              <a:tr h="505047">
                <a:tc>
                  <a:txBody>
                    <a:bodyPr/>
                    <a:lstStyle/>
                    <a:p>
                      <a:pPr algn="l" fontAlgn="t" latinLnBrk="0">
                        <a:buNone/>
                      </a:pPr>
                      <a:r>
                        <a:rPr lang="es-ES" sz="1600" dirty="0">
                          <a:effectLst/>
                        </a:rPr>
                        <a:t>Arquitectura hexagonal</a:t>
                      </a:r>
                      <a:endParaRPr lang="es-ES" sz="1600" b="0" i="0" dirty="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gateway</a:t>
                      </a:r>
                      <a:r>
                        <a:rPr lang="es-ES" sz="1600" dirty="0">
                          <a:effectLst/>
                        </a:rPr>
                        <a:t>/</a:t>
                      </a:r>
                      <a:r>
                        <a:rPr lang="es-ES" sz="1600" dirty="0" err="1">
                          <a:effectLst/>
                        </a:rPr>
                        <a:t>rag</a:t>
                      </a:r>
                      <a:r>
                        <a:rPr lang="es-ES" sz="1600" dirty="0">
                          <a:effectLst/>
                        </a:rPr>
                        <a:t>: dominio (entidades, RRF, </a:t>
                      </a:r>
                      <a:r>
                        <a:rPr lang="es-ES" sz="1600" dirty="0" err="1">
                          <a:effectLst/>
                        </a:rPr>
                        <a:t>lexicon</a:t>
                      </a:r>
                      <a:r>
                        <a:rPr lang="es-ES" sz="1600" dirty="0">
                          <a:effectLst/>
                        </a:rPr>
                        <a:t>) ↔ </a:t>
                      </a:r>
                      <a:r>
                        <a:rPr lang="es-ES" sz="1600" dirty="0" err="1">
                          <a:effectLst/>
                        </a:rPr>
                        <a:t>application</a:t>
                      </a:r>
                      <a:r>
                        <a:rPr lang="es-ES" sz="1600" dirty="0">
                          <a:effectLst/>
                        </a:rPr>
                        <a:t> (casos de uso) ↔ </a:t>
                      </a:r>
                      <a:r>
                        <a:rPr lang="es-ES" sz="1600" dirty="0" err="1">
                          <a:effectLst/>
                        </a:rPr>
                        <a:t>adapters</a:t>
                      </a:r>
                      <a:r>
                        <a:rPr lang="es-ES" sz="1600" dirty="0">
                          <a:effectLst/>
                        </a:rPr>
                        <a:t> (</a:t>
                      </a:r>
                      <a:r>
                        <a:rPr lang="es-ES" sz="1600" dirty="0" err="1">
                          <a:effectLst/>
                        </a:rPr>
                        <a:t>pgvector</a:t>
                      </a:r>
                      <a:r>
                        <a:rPr lang="es-ES" sz="1600" dirty="0">
                          <a:effectLst/>
                        </a:rPr>
                        <a:t>, BM25, Ollama, </a:t>
                      </a:r>
                      <a:r>
                        <a:rPr lang="es-ES" sz="1600" dirty="0" err="1">
                          <a:effectLst/>
                        </a:rPr>
                        <a:t>CrossEncoder</a:t>
                      </a:r>
                      <a:r>
                        <a:rPr lang="es-ES" sz="1600" dirty="0">
                          <a:effectLst/>
                        </a:rPr>
                        <a:t>).</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834360943"/>
                  </a:ext>
                </a:extLst>
              </a:tr>
              <a:tr h="505047">
                <a:tc>
                  <a:txBody>
                    <a:bodyPr/>
                    <a:lstStyle/>
                    <a:p>
                      <a:pPr algn="l" fontAlgn="t" latinLnBrk="0">
                        <a:buNone/>
                      </a:pPr>
                      <a:r>
                        <a:rPr lang="es-ES" sz="1600">
                          <a:effectLst/>
                        </a:rPr>
                        <a:t>Ports &amp; adapters</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ChunkRepository</a:t>
                      </a:r>
                      <a:r>
                        <a:rPr lang="es-ES" sz="1600" dirty="0">
                          <a:effectLst/>
                        </a:rPr>
                        <a:t>, </a:t>
                      </a:r>
                      <a:r>
                        <a:rPr lang="es-ES" sz="1600" dirty="0" err="1">
                          <a:effectLst/>
                        </a:rPr>
                        <a:t>LexicalIndexPort</a:t>
                      </a:r>
                      <a:r>
                        <a:rPr lang="es-ES" sz="1600" dirty="0">
                          <a:effectLst/>
                        </a:rPr>
                        <a:t>, </a:t>
                      </a:r>
                      <a:r>
                        <a:rPr lang="es-ES" sz="1600" dirty="0" err="1">
                          <a:effectLst/>
                        </a:rPr>
                        <a:t>EmbeddingPort</a:t>
                      </a:r>
                      <a:r>
                        <a:rPr lang="es-ES" sz="1600" dirty="0">
                          <a:effectLst/>
                        </a:rPr>
                        <a:t>, </a:t>
                      </a:r>
                      <a:r>
                        <a:rPr lang="es-ES" sz="1600" dirty="0" err="1">
                          <a:effectLst/>
                        </a:rPr>
                        <a:t>LlmPort</a:t>
                      </a:r>
                      <a:r>
                        <a:rPr lang="es-ES" sz="1600" dirty="0">
                          <a:effectLst/>
                        </a:rPr>
                        <a:t>, </a:t>
                      </a:r>
                      <a:r>
                        <a:rPr lang="es-ES" sz="1600" dirty="0" err="1">
                          <a:effectLst/>
                        </a:rPr>
                        <a:t>RerankerPort</a:t>
                      </a:r>
                      <a:r>
                        <a:rPr lang="es-ES" sz="1600" dirty="0">
                          <a:effectLst/>
                        </a:rPr>
                        <a:t> en ports.py.</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360943637"/>
                  </a:ext>
                </a:extLst>
              </a:tr>
              <a:tr h="306047">
                <a:tc>
                  <a:txBody>
                    <a:bodyPr/>
                    <a:lstStyle/>
                    <a:p>
                      <a:pPr algn="l" fontAlgn="t" latinLnBrk="0">
                        <a:buNone/>
                      </a:pPr>
                      <a:r>
                        <a:rPr lang="es-ES" sz="1600">
                          <a:effectLst/>
                        </a:rPr>
                        <a:t>Composition root</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build_rag_container</a:t>
                      </a:r>
                      <a:r>
                        <a:rPr lang="es-ES" sz="1600" dirty="0">
                          <a:effectLst/>
                        </a:rPr>
                        <a:t> en composition.py cablea el hexágono.</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2694371844"/>
                  </a:ext>
                </a:extLst>
              </a:tr>
              <a:tr h="505047">
                <a:tc>
                  <a:txBody>
                    <a:bodyPr/>
                    <a:lstStyle/>
                    <a:p>
                      <a:pPr algn="l" fontAlgn="t" latinLnBrk="0">
                        <a:buNone/>
                      </a:pPr>
                      <a:r>
                        <a:rPr lang="es-ES" sz="1600">
                          <a:effectLst/>
                        </a:rPr>
                        <a:t>Casos de uso</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HybridRetrieve</a:t>
                      </a:r>
                      <a:r>
                        <a:rPr lang="es-ES" sz="1600" dirty="0">
                          <a:effectLst/>
                        </a:rPr>
                        <a:t>, </a:t>
                      </a:r>
                      <a:r>
                        <a:rPr lang="es-ES" sz="1600" dirty="0" err="1">
                          <a:effectLst/>
                        </a:rPr>
                        <a:t>AnswerQuestion</a:t>
                      </a:r>
                      <a:r>
                        <a:rPr lang="es-ES" sz="1600" dirty="0">
                          <a:effectLst/>
                        </a:rPr>
                        <a:t>, </a:t>
                      </a:r>
                      <a:r>
                        <a:rPr lang="es-ES" sz="1600" dirty="0" err="1">
                          <a:effectLst/>
                        </a:rPr>
                        <a:t>IngestDocument</a:t>
                      </a:r>
                      <a:r>
                        <a:rPr lang="es-ES" sz="1600" dirty="0">
                          <a:effectLst/>
                        </a:rPr>
                        <a:t> (parcial; </a:t>
                      </a:r>
                      <a:r>
                        <a:rPr lang="es-ES" sz="1600" dirty="0" err="1">
                          <a:effectLst/>
                        </a:rPr>
                        <a:t>chunk</a:t>
                      </a:r>
                      <a:r>
                        <a:rPr lang="es-ES" sz="1600" dirty="0">
                          <a:effectLst/>
                        </a:rPr>
                        <a:t>/</a:t>
                      </a:r>
                      <a:r>
                        <a:rPr lang="es-ES" sz="1600" dirty="0" err="1">
                          <a:effectLst/>
                        </a:rPr>
                        <a:t>embed</a:t>
                      </a:r>
                      <a:r>
                        <a:rPr lang="es-ES" sz="1600" dirty="0">
                          <a:effectLst/>
                        </a:rPr>
                        <a:t> en </a:t>
                      </a:r>
                      <a:r>
                        <a:rPr lang="es-ES" sz="1600" dirty="0" err="1">
                          <a:effectLst/>
                        </a:rPr>
                        <a:t>services</a:t>
                      </a:r>
                      <a:r>
                        <a:rPr lang="es-ES" sz="1600" dirty="0">
                          <a:effectLst/>
                        </a:rPr>
                        <a:t>/).</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960301307"/>
                  </a:ext>
                </a:extLst>
              </a:tr>
              <a:tr h="306047">
                <a:tc>
                  <a:txBody>
                    <a:bodyPr/>
                    <a:lstStyle/>
                    <a:p>
                      <a:pPr algn="l" fontAlgn="t" latinLnBrk="0">
                        <a:buNone/>
                      </a:pPr>
                      <a:r>
                        <a:rPr lang="es-ES" sz="1600">
                          <a:effectLst/>
                        </a:rPr>
                        <a:t>LangGraph</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a:effectLst/>
                        </a:rPr>
                        <a:t>Orquestación </a:t>
                      </a:r>
                      <a:r>
                        <a:rPr lang="es-ES" sz="1600" dirty="0" err="1">
                          <a:effectLst/>
                        </a:rPr>
                        <a:t>agéntica</a:t>
                      </a:r>
                      <a:r>
                        <a:rPr lang="es-ES" sz="1600" dirty="0">
                          <a:effectLst/>
                        </a:rPr>
                        <a:t> en agent_graph.py + </a:t>
                      </a:r>
                      <a:r>
                        <a:rPr lang="es-ES" sz="1600" dirty="0" err="1">
                          <a:effectLst/>
                        </a:rPr>
                        <a:t>AgenticRAGService</a:t>
                      </a:r>
                      <a:r>
                        <a:rPr lang="es-ES" sz="1600" dirty="0">
                          <a:effectLst/>
                        </a:rPr>
                        <a:t>.</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265882385"/>
                  </a:ext>
                </a:extLst>
              </a:tr>
              <a:tr h="306047">
                <a:tc>
                  <a:txBody>
                    <a:bodyPr/>
                    <a:lstStyle/>
                    <a:p>
                      <a:pPr algn="l" fontAlgn="t" latinLnBrk="0">
                        <a:buNone/>
                      </a:pPr>
                      <a:r>
                        <a:rPr lang="es-ES" sz="1600">
                          <a:effectLst/>
                        </a:rPr>
                        <a:t>Multi-tenant</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a:effectLst/>
                        </a:rPr>
                        <a:t>Filtrado por </a:t>
                      </a:r>
                      <a:r>
                        <a:rPr lang="es-ES" sz="1600" dirty="0" err="1">
                          <a:effectLst/>
                        </a:rPr>
                        <a:t>tenant_id</a:t>
                      </a:r>
                      <a:r>
                        <a:rPr lang="es-ES" sz="1600" dirty="0">
                          <a:effectLst/>
                        </a:rPr>
                        <a:t> / knowledge base en </a:t>
                      </a:r>
                      <a:r>
                        <a:rPr lang="es-ES" sz="1600" dirty="0" err="1">
                          <a:effectLst/>
                        </a:rPr>
                        <a:t>retrieve</a:t>
                      </a:r>
                      <a:r>
                        <a:rPr lang="es-ES" sz="1600" dirty="0">
                          <a:effectLst/>
                        </a:rPr>
                        <a:t> e ingesta.</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604370359"/>
                  </a:ext>
                </a:extLst>
              </a:tr>
              <a:tr h="306047">
                <a:tc>
                  <a:txBody>
                    <a:bodyPr/>
                    <a:lstStyle/>
                    <a:p>
                      <a:pPr algn="l" fontAlgn="t" latinLnBrk="0">
                        <a:buNone/>
                      </a:pPr>
                      <a:r>
                        <a:rPr lang="es-ES" sz="1600">
                          <a:effectLst/>
                        </a:rPr>
                        <a:t>Monolito FastAPI + UI desacoplada</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a:effectLst/>
                        </a:rPr>
                        <a:t>API REST /api/v1; </a:t>
                      </a:r>
                      <a:r>
                        <a:rPr lang="es-ES" sz="1600" dirty="0" err="1">
                          <a:effectLst/>
                        </a:rPr>
                        <a:t>front</a:t>
                      </a:r>
                      <a:r>
                        <a:rPr lang="es-ES" sz="1600" dirty="0">
                          <a:effectLst/>
                        </a:rPr>
                        <a:t> </a:t>
                      </a:r>
                      <a:r>
                        <a:rPr lang="es-ES" sz="1600" dirty="0" err="1">
                          <a:effectLst/>
                        </a:rPr>
                        <a:t>React</a:t>
                      </a:r>
                      <a:r>
                        <a:rPr lang="es-ES" sz="1600" dirty="0">
                          <a:effectLst/>
                        </a:rPr>
                        <a:t> 19 + Vite + </a:t>
                      </a:r>
                      <a:r>
                        <a:rPr lang="es-ES" sz="1600" dirty="0" err="1">
                          <a:effectLst/>
                        </a:rPr>
                        <a:t>Tailwind</a:t>
                      </a:r>
                      <a:r>
                        <a:rPr lang="es-ES" sz="1600" dirty="0">
                          <a:effectLst/>
                        </a:rPr>
                        <a:t>.</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2362208374"/>
                  </a:ext>
                </a:extLst>
              </a:tr>
              <a:tr h="306047">
                <a:tc>
                  <a:txBody>
                    <a:bodyPr/>
                    <a:lstStyle/>
                    <a:p>
                      <a:pPr algn="l" fontAlgn="t" latinLnBrk="0">
                        <a:buNone/>
                      </a:pPr>
                      <a:r>
                        <a:rPr lang="es-ES" sz="1600">
                          <a:effectLst/>
                        </a:rPr>
                        <a:t>Contenedores Docker Compose</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frontend</a:t>
                      </a:r>
                      <a:r>
                        <a:rPr lang="es-ES" sz="1600" dirty="0">
                          <a:effectLst/>
                        </a:rPr>
                        <a:t>, </a:t>
                      </a:r>
                      <a:r>
                        <a:rPr lang="es-ES" sz="1600" dirty="0" err="1">
                          <a:effectLst/>
                        </a:rPr>
                        <a:t>gateway</a:t>
                      </a:r>
                      <a:r>
                        <a:rPr lang="es-ES" sz="1600" dirty="0">
                          <a:effectLst/>
                        </a:rPr>
                        <a:t>, </a:t>
                      </a:r>
                      <a:r>
                        <a:rPr lang="es-ES" sz="1600" dirty="0" err="1">
                          <a:effectLst/>
                        </a:rPr>
                        <a:t>Postgres+pgvector</a:t>
                      </a:r>
                      <a:r>
                        <a:rPr lang="es-ES" sz="1600" dirty="0">
                          <a:effectLst/>
                        </a:rPr>
                        <a:t>, Ollama (+ </a:t>
                      </a:r>
                      <a:r>
                        <a:rPr lang="es-ES" sz="1600" dirty="0" err="1">
                          <a:effectLst/>
                        </a:rPr>
                        <a:t>deploy</a:t>
                      </a:r>
                      <a:r>
                        <a:rPr lang="es-ES" sz="1600" dirty="0">
                          <a:effectLst/>
                        </a:rPr>
                        <a:t> IONOS/CI).</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862428501"/>
                  </a:ext>
                </a:extLst>
              </a:tr>
              <a:tr h="306047">
                <a:tc>
                  <a:txBody>
                    <a:bodyPr/>
                    <a:lstStyle/>
                    <a:p>
                      <a:pPr algn="l" fontAlgn="t" latinLnBrk="0">
                        <a:buNone/>
                      </a:pPr>
                      <a:r>
                        <a:rPr lang="es-ES" sz="1600">
                          <a:effectLst/>
                        </a:rPr>
                        <a:t>Citación persistida</a:t>
                      </a:r>
                      <a:endParaRPr lang="es-ES" sz="1600" b="0" i="0">
                        <a:solidFill>
                          <a:srgbClr val="141414"/>
                        </a:solidFill>
                        <a:effectLst/>
                        <a:latin typeface="Segoe WPC"/>
                      </a:endParaRPr>
                    </a:p>
                  </a:txBody>
                  <a:tcPr marL="54654" marR="54654" marT="32792" marB="32792"/>
                </a:tc>
                <a:tc>
                  <a:txBody>
                    <a:bodyPr/>
                    <a:lstStyle/>
                    <a:p>
                      <a:pPr algn="l" fontAlgn="t" latinLnBrk="0">
                        <a:buNone/>
                      </a:pPr>
                      <a:r>
                        <a:rPr lang="es-ES" sz="1600" dirty="0" err="1">
                          <a:effectLst/>
                        </a:rPr>
                        <a:t>MessageSource</a:t>
                      </a:r>
                      <a:r>
                        <a:rPr lang="es-ES" sz="1600" dirty="0">
                          <a:effectLst/>
                        </a:rPr>
                        <a:t> enlaza respuesta ↔ documento/</a:t>
                      </a:r>
                      <a:r>
                        <a:rPr lang="es-ES" sz="1600" dirty="0" err="1">
                          <a:effectLst/>
                        </a:rPr>
                        <a:t>chunk</a:t>
                      </a:r>
                      <a:r>
                        <a:rPr lang="es-ES" sz="1600" dirty="0">
                          <a:effectLst/>
                        </a:rPr>
                        <a:t>/score.</a:t>
                      </a:r>
                      <a:endParaRPr lang="es-ES" sz="1600" b="0" i="0" dirty="0">
                        <a:solidFill>
                          <a:srgbClr val="141414"/>
                        </a:solidFill>
                        <a:effectLst/>
                        <a:latin typeface="Segoe WPC"/>
                      </a:endParaRPr>
                    </a:p>
                  </a:txBody>
                  <a:tcPr marL="54654" marR="54654" marT="32792" marB="32792"/>
                </a:tc>
                <a:extLst>
                  <a:ext uri="{0D108BD9-81ED-4DB2-BD59-A6C34878D82A}">
                    <a16:rowId xmlns:a16="http://schemas.microsoft.com/office/drawing/2014/main" val="395488992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66977" y="6631482"/>
            <a:ext cx="79441" cy="180002"/>
          </a:xfrm>
          <a:prstGeom prst="rect">
            <a:avLst/>
          </a:prstGeom>
        </p:spPr>
      </p:pic>
      <p:sp>
        <p:nvSpPr>
          <p:cNvPr id="6" name="object 6"/>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7" name="object 7"/>
          <p:cNvSpPr txBox="1">
            <a:spLocks noGrp="1"/>
          </p:cNvSpPr>
          <p:nvPr>
            <p:ph type="title"/>
          </p:nvPr>
        </p:nvSpPr>
        <p:spPr>
          <a:xfrm>
            <a:off x="3960367" y="43052"/>
            <a:ext cx="5183634" cy="1367041"/>
          </a:xfrm>
          <a:prstGeom prst="rect">
            <a:avLst/>
          </a:prstGeom>
        </p:spPr>
        <p:txBody>
          <a:bodyPr vert="horz" wrap="square" lIns="0" tIns="12700" rIns="0" bIns="0" rtlCol="0">
            <a:spAutoFit/>
          </a:bodyPr>
          <a:lstStyle/>
          <a:p>
            <a:pPr marL="12700">
              <a:lnSpc>
                <a:spcPct val="100000"/>
              </a:lnSpc>
              <a:spcBef>
                <a:spcPts val="100"/>
              </a:spcBef>
            </a:pPr>
            <a:r>
              <a:rPr lang="es-ES" spc="-40" dirty="0"/>
              <a:t>MECANISMOS ANTI-ALUCINACIÓN</a:t>
            </a:r>
            <a:endParaRPr spc="-25" dirty="0"/>
          </a:p>
        </p:txBody>
      </p:sp>
      <p:pic>
        <p:nvPicPr>
          <p:cNvPr id="8" name="object 8"/>
          <p:cNvPicPr/>
          <p:nvPr/>
        </p:nvPicPr>
        <p:blipFill>
          <a:blip r:embed="rId3" cstate="print"/>
          <a:stretch>
            <a:fillRect/>
          </a:stretch>
        </p:blipFill>
        <p:spPr>
          <a:xfrm>
            <a:off x="155575" y="1265682"/>
            <a:ext cx="113969" cy="251967"/>
          </a:xfrm>
          <a:prstGeom prst="rect">
            <a:avLst/>
          </a:prstGeom>
        </p:spPr>
      </p:pic>
      <p:sp>
        <p:nvSpPr>
          <p:cNvPr id="9" name="object 9"/>
          <p:cNvSpPr txBox="1"/>
          <p:nvPr/>
        </p:nvSpPr>
        <p:spPr>
          <a:xfrm>
            <a:off x="381000" y="1785474"/>
            <a:ext cx="9149715" cy="4197944"/>
          </a:xfrm>
          <a:prstGeom prst="rect">
            <a:avLst/>
          </a:prstGeom>
        </p:spPr>
        <p:txBody>
          <a:bodyPr vert="horz" wrap="square" lIns="0" tIns="12065" rIns="0" bIns="0" rtlCol="0">
            <a:spAutoFit/>
          </a:bodyPr>
          <a:lstStyle/>
          <a:p>
            <a:pPr marL="285750" lvl="0" indent="-285750">
              <a:buFont typeface="Arial" panose="020B0604020202020204" pitchFamily="34" charset="0"/>
              <a:buChar char="•"/>
            </a:pPr>
            <a:r>
              <a:rPr lang="es-ES" sz="1600" b="1" dirty="0" err="1"/>
              <a:t>Grounding</a:t>
            </a:r>
            <a:r>
              <a:rPr lang="es-ES" sz="1600" dirty="0"/>
              <a:t>: solo generar con contexto recuperado (SYSTEM_PROMPT: “Usa solo el Contexto documental… si falta evidencia, dilo sin inventar dosis, plazos, ayudas ni cifras”).</a:t>
            </a:r>
          </a:p>
          <a:p>
            <a:pPr lvl="0"/>
            <a:endParaRPr lang="es-ES" sz="1600" dirty="0"/>
          </a:p>
          <a:p>
            <a:pPr marL="285750" lvl="0" indent="-285750">
              <a:buFont typeface="Arial" panose="020B0604020202020204" pitchFamily="34" charset="0"/>
              <a:buChar char="•"/>
            </a:pPr>
            <a:r>
              <a:rPr lang="es-ES" sz="1600" b="1" dirty="0"/>
              <a:t>Abstención rápida </a:t>
            </a:r>
            <a:r>
              <a:rPr lang="es-ES" sz="1600" dirty="0"/>
              <a:t>(RAG_FAST_ABSTAIN): si no hay </a:t>
            </a:r>
            <a:r>
              <a:rPr lang="es-ES" sz="1600" dirty="0" err="1"/>
              <a:t>chunks</a:t>
            </a:r>
            <a:r>
              <a:rPr lang="es-ES" sz="1600" dirty="0"/>
              <a:t> → plantilla </a:t>
            </a:r>
            <a:r>
              <a:rPr lang="es-ES" sz="1600" i="1" dirty="0" err="1"/>
              <a:t>out</a:t>
            </a:r>
            <a:r>
              <a:rPr lang="es-ES" sz="1600" i="1" dirty="0"/>
              <a:t>-</a:t>
            </a:r>
            <a:r>
              <a:rPr lang="es-ES" sz="1600" i="1" dirty="0" err="1"/>
              <a:t>of</a:t>
            </a:r>
            <a:r>
              <a:rPr lang="es-ES" sz="1600" i="1" dirty="0"/>
              <a:t>-knowledge</a:t>
            </a:r>
            <a:r>
              <a:rPr lang="es-ES" sz="1600" dirty="0"/>
              <a:t> sin llamar al LLM.</a:t>
            </a:r>
          </a:p>
          <a:p>
            <a:pPr lvl="0"/>
            <a:endParaRPr lang="es-ES" sz="1600" dirty="0"/>
          </a:p>
          <a:p>
            <a:pPr marL="285750" lvl="0" indent="-285750">
              <a:buFont typeface="Arial" panose="020B0604020202020204" pitchFamily="34" charset="0"/>
              <a:buChar char="•"/>
            </a:pPr>
            <a:r>
              <a:rPr lang="es-ES" sz="1600" b="1" dirty="0" err="1"/>
              <a:t>Retrieval</a:t>
            </a:r>
            <a:r>
              <a:rPr lang="es-ES" sz="1600" b="1" dirty="0"/>
              <a:t> híbrido dens+BM25+RRF</a:t>
            </a:r>
            <a:r>
              <a:rPr lang="es-ES" sz="1600" dirty="0"/>
              <a:t>: más probabilidad de evidencia correcta que solo denso o solo léxico.</a:t>
            </a:r>
          </a:p>
          <a:p>
            <a:pPr lvl="0"/>
            <a:endParaRPr lang="es-ES" sz="1600" dirty="0"/>
          </a:p>
          <a:p>
            <a:pPr marL="285750" lvl="0" indent="-285750">
              <a:buFont typeface="Arial" panose="020B0604020202020204" pitchFamily="34" charset="0"/>
              <a:buChar char="•"/>
            </a:pPr>
            <a:r>
              <a:rPr lang="es-ES" sz="1600" b="1" dirty="0"/>
              <a:t>Citas / fuentes en UI</a:t>
            </a:r>
            <a:r>
              <a:rPr lang="es-ES" sz="1600" dirty="0"/>
              <a:t>: respuesta + fragmentos con </a:t>
            </a:r>
            <a:r>
              <a:rPr lang="es-ES" sz="1600" dirty="0" err="1"/>
              <a:t>source</a:t>
            </a:r>
            <a:r>
              <a:rPr lang="es-ES" sz="1600" dirty="0"/>
              <a:t> (archivo); trazabilidad auditable.</a:t>
            </a:r>
          </a:p>
          <a:p>
            <a:pPr lvl="0"/>
            <a:endParaRPr lang="es-ES" sz="1600" dirty="0"/>
          </a:p>
          <a:p>
            <a:pPr marL="285750" lvl="0" indent="-285750">
              <a:buFont typeface="Arial" panose="020B0604020202020204" pitchFamily="34" charset="0"/>
              <a:buChar char="•"/>
            </a:pPr>
            <a:r>
              <a:rPr lang="es-ES" sz="1600" b="1" dirty="0"/>
              <a:t>Ámbito por </a:t>
            </a:r>
            <a:r>
              <a:rPr lang="es-ES" sz="1600" b="1" dirty="0" err="1"/>
              <a:t>tenant</a:t>
            </a:r>
            <a:r>
              <a:rPr lang="es-ES" sz="1600" b="1" dirty="0"/>
              <a:t>/colección</a:t>
            </a:r>
            <a:r>
              <a:rPr lang="es-ES" sz="1600" dirty="0"/>
              <a:t>: no mezclar corpus de otras organizaciones.</a:t>
            </a:r>
          </a:p>
          <a:p>
            <a:pPr lvl="0"/>
            <a:endParaRPr lang="es-ES" sz="1600" dirty="0"/>
          </a:p>
          <a:p>
            <a:pPr marL="285750" lvl="0" indent="-285750">
              <a:buFont typeface="Arial" panose="020B0604020202020204" pitchFamily="34" charset="0"/>
              <a:buChar char="•"/>
            </a:pPr>
            <a:r>
              <a:rPr lang="es-ES" sz="1600" b="1" dirty="0"/>
              <a:t>Grader </a:t>
            </a:r>
            <a:r>
              <a:rPr lang="es-ES" sz="1600" b="1" dirty="0" err="1"/>
              <a:t>agéntico</a:t>
            </a:r>
            <a:r>
              <a:rPr lang="es-ES" sz="1600" dirty="0"/>
              <a:t>: si relevancia = no → plantilla o </a:t>
            </a:r>
            <a:r>
              <a:rPr lang="es-ES" sz="1600" dirty="0" err="1"/>
              <a:t>rewrite</a:t>
            </a:r>
            <a:r>
              <a:rPr lang="es-ES" sz="1600" dirty="0"/>
              <a:t> (evita responder con contexto irrelevante).</a:t>
            </a:r>
          </a:p>
          <a:p>
            <a:pPr lvl="0"/>
            <a:endParaRPr lang="es-ES" sz="1600" dirty="0"/>
          </a:p>
          <a:p>
            <a:pPr marL="285750" lvl="0" indent="-285750">
              <a:buFont typeface="Arial" panose="020B0604020202020204" pitchFamily="34" charset="0"/>
              <a:buChar char="•"/>
            </a:pPr>
            <a:r>
              <a:rPr lang="es-ES" sz="1600" b="1" dirty="0"/>
              <a:t>Contraste experimental</a:t>
            </a:r>
            <a:r>
              <a:rPr lang="es-ES" sz="1600" dirty="0"/>
              <a:t>: misma pregunta </a:t>
            </a:r>
            <a:r>
              <a:rPr lang="es-ES" sz="1600" dirty="0" err="1"/>
              <a:t>vanilla</a:t>
            </a:r>
            <a:r>
              <a:rPr lang="es-ES" sz="1600" dirty="0"/>
              <a:t> vs RAG + tasa binaria de alucinación del juez.</a:t>
            </a:r>
          </a:p>
        </p:txBody>
      </p:sp>
      <p:pic>
        <p:nvPicPr>
          <p:cNvPr id="10" name="object 10"/>
          <p:cNvPicPr/>
          <p:nvPr/>
        </p:nvPicPr>
        <p:blipFill>
          <a:blip r:embed="rId4" cstate="print"/>
          <a:stretch>
            <a:fillRect/>
          </a:stretch>
        </p:blipFill>
        <p:spPr>
          <a:xfrm>
            <a:off x="155575" y="1993392"/>
            <a:ext cx="113969" cy="251968"/>
          </a:xfrm>
          <a:prstGeom prst="rect">
            <a:avLst/>
          </a:prstGeom>
        </p:spPr>
      </p:pic>
      <p:pic>
        <p:nvPicPr>
          <p:cNvPr id="11" name="object 11"/>
          <p:cNvPicPr/>
          <p:nvPr/>
        </p:nvPicPr>
        <p:blipFill>
          <a:blip r:embed="rId5" cstate="print"/>
          <a:stretch>
            <a:fillRect/>
          </a:stretch>
        </p:blipFill>
        <p:spPr>
          <a:xfrm>
            <a:off x="155575" y="2967354"/>
            <a:ext cx="113969" cy="252095"/>
          </a:xfrm>
          <a:prstGeom prst="rect">
            <a:avLst/>
          </a:prstGeom>
        </p:spPr>
      </p:pic>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10</a:t>
            </a:fld>
            <a:endParaRPr spc="-50" dirty="0">
              <a:solidFill>
                <a:srgbClr val="F1F1F1"/>
              </a:solidFill>
            </a:endParaRPr>
          </a:p>
        </p:txBody>
      </p:sp>
      <p:sp>
        <p:nvSpPr>
          <p:cNvPr id="25" name="object 25"/>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66977" y="6631482"/>
            <a:ext cx="79441" cy="180002"/>
          </a:xfrm>
          <a:prstGeom prst="rect">
            <a:avLst/>
          </a:prstGeom>
        </p:spPr>
      </p:pic>
      <p:sp>
        <p:nvSpPr>
          <p:cNvPr id="6" name="object 6"/>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7" name="object 7"/>
          <p:cNvSpPr txBox="1">
            <a:spLocks noGrp="1"/>
          </p:cNvSpPr>
          <p:nvPr>
            <p:ph type="title"/>
          </p:nvPr>
        </p:nvSpPr>
        <p:spPr>
          <a:xfrm>
            <a:off x="3828803" y="118568"/>
            <a:ext cx="5683250" cy="696595"/>
          </a:xfrm>
          <a:prstGeom prst="rect">
            <a:avLst/>
          </a:prstGeom>
        </p:spPr>
        <p:txBody>
          <a:bodyPr vert="horz" wrap="square" lIns="0" tIns="12700" rIns="0" bIns="0" rtlCol="0">
            <a:spAutoFit/>
          </a:bodyPr>
          <a:lstStyle/>
          <a:p>
            <a:pPr marL="12700">
              <a:lnSpc>
                <a:spcPct val="100000"/>
              </a:lnSpc>
              <a:spcBef>
                <a:spcPts val="100"/>
              </a:spcBef>
            </a:pPr>
            <a:r>
              <a:rPr lang="es-ES" dirty="0"/>
              <a:t>RESULTADOS CLAVE</a:t>
            </a:r>
            <a:endParaRPr spc="-25" dirty="0"/>
          </a:p>
        </p:txBody>
      </p:sp>
      <p:pic>
        <p:nvPicPr>
          <p:cNvPr id="8" name="object 8"/>
          <p:cNvPicPr/>
          <p:nvPr/>
        </p:nvPicPr>
        <p:blipFill>
          <a:blip r:embed="rId3" cstate="print"/>
          <a:stretch>
            <a:fillRect/>
          </a:stretch>
        </p:blipFill>
        <p:spPr>
          <a:xfrm>
            <a:off x="115888" y="1265682"/>
            <a:ext cx="113969" cy="251967"/>
          </a:xfrm>
          <a:prstGeom prst="rect">
            <a:avLst/>
          </a:prstGeom>
        </p:spPr>
      </p:pic>
      <p:pic>
        <p:nvPicPr>
          <p:cNvPr id="10" name="object 10"/>
          <p:cNvPicPr/>
          <p:nvPr/>
        </p:nvPicPr>
        <p:blipFill>
          <a:blip r:embed="rId3" cstate="print"/>
          <a:stretch>
            <a:fillRect/>
          </a:stretch>
        </p:blipFill>
        <p:spPr>
          <a:xfrm>
            <a:off x="115888" y="2212209"/>
            <a:ext cx="113969" cy="251967"/>
          </a:xfrm>
          <a:prstGeom prst="rect">
            <a:avLst/>
          </a:prstGeom>
        </p:spPr>
      </p:pic>
      <p:pic>
        <p:nvPicPr>
          <p:cNvPr id="11" name="object 11"/>
          <p:cNvPicPr/>
          <p:nvPr/>
        </p:nvPicPr>
        <p:blipFill>
          <a:blip r:embed="rId3" cstate="print"/>
          <a:stretch>
            <a:fillRect/>
          </a:stretch>
        </p:blipFill>
        <p:spPr>
          <a:xfrm>
            <a:off x="115888" y="3100833"/>
            <a:ext cx="113969" cy="251967"/>
          </a:xfrm>
          <a:prstGeom prst="rect">
            <a:avLst/>
          </a:prstGeom>
        </p:spPr>
      </p:pic>
      <p:sp>
        <p:nvSpPr>
          <p:cNvPr id="40" name="object 4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11</a:t>
            </a:fld>
            <a:endParaRPr spc="-25" dirty="0"/>
          </a:p>
        </p:txBody>
      </p:sp>
      <p:graphicFrame>
        <p:nvGraphicFramePr>
          <p:cNvPr id="28" name="Tabla 27">
            <a:extLst>
              <a:ext uri="{FF2B5EF4-FFF2-40B4-BE49-F238E27FC236}">
                <a16:creationId xmlns:a16="http://schemas.microsoft.com/office/drawing/2014/main" id="{B206DB40-C133-72B8-A17C-8E448D08DD31}"/>
              </a:ext>
            </a:extLst>
          </p:cNvPr>
          <p:cNvGraphicFramePr>
            <a:graphicFrameLocks noGrp="1"/>
          </p:cNvGraphicFramePr>
          <p:nvPr>
            <p:extLst>
              <p:ext uri="{D42A27DB-BD31-4B8C-83A1-F6EECF244321}">
                <p14:modId xmlns:p14="http://schemas.microsoft.com/office/powerpoint/2010/main" val="1073998746"/>
              </p:ext>
            </p:extLst>
          </p:nvPr>
        </p:nvGraphicFramePr>
        <p:xfrm>
          <a:off x="753539" y="1480246"/>
          <a:ext cx="8826084" cy="4134732"/>
        </p:xfrm>
        <a:graphic>
          <a:graphicData uri="http://schemas.openxmlformats.org/drawingml/2006/table">
            <a:tbl>
              <a:tblPr>
                <a:tableStyleId>{5C22544A-7EE6-4342-B048-85BDC9FD1C3A}</a:tableStyleId>
              </a:tblPr>
              <a:tblGrid>
                <a:gridCol w="2942028">
                  <a:extLst>
                    <a:ext uri="{9D8B030D-6E8A-4147-A177-3AD203B41FA5}">
                      <a16:colId xmlns:a16="http://schemas.microsoft.com/office/drawing/2014/main" val="670439001"/>
                    </a:ext>
                  </a:extLst>
                </a:gridCol>
                <a:gridCol w="2942028">
                  <a:extLst>
                    <a:ext uri="{9D8B030D-6E8A-4147-A177-3AD203B41FA5}">
                      <a16:colId xmlns:a16="http://schemas.microsoft.com/office/drawing/2014/main" val="1542915709"/>
                    </a:ext>
                  </a:extLst>
                </a:gridCol>
                <a:gridCol w="2942028">
                  <a:extLst>
                    <a:ext uri="{9D8B030D-6E8A-4147-A177-3AD203B41FA5}">
                      <a16:colId xmlns:a16="http://schemas.microsoft.com/office/drawing/2014/main" val="2133206308"/>
                    </a:ext>
                  </a:extLst>
                </a:gridCol>
              </a:tblGrid>
              <a:tr h="533179">
                <a:tc>
                  <a:txBody>
                    <a:bodyPr/>
                    <a:lstStyle/>
                    <a:p>
                      <a:pPr algn="l" fontAlgn="t">
                        <a:buNone/>
                      </a:pPr>
                      <a:r>
                        <a:rPr lang="es-ES" sz="1400" dirty="0">
                          <a:effectLst/>
                        </a:rPr>
                        <a:t>Métrica</a:t>
                      </a:r>
                      <a:endParaRPr lang="es-ES" sz="1400" b="0" dirty="0">
                        <a:effectLst/>
                      </a:endParaRPr>
                    </a:p>
                  </a:txBody>
                  <a:tcPr marL="57739" marR="57739" marT="34643" marB="34643"/>
                </a:tc>
                <a:tc>
                  <a:txBody>
                    <a:bodyPr/>
                    <a:lstStyle/>
                    <a:p>
                      <a:pPr algn="l" fontAlgn="t">
                        <a:buNone/>
                      </a:pPr>
                      <a:r>
                        <a:rPr lang="es-ES" sz="1400">
                          <a:effectLst/>
                        </a:rPr>
                        <a:t>Sin RAG</a:t>
                      </a:r>
                      <a:endParaRPr lang="es-ES" sz="1400" b="0">
                        <a:effectLst/>
                      </a:endParaRPr>
                    </a:p>
                  </a:txBody>
                  <a:tcPr marL="57739" marR="57739" marT="34643" marB="34643"/>
                </a:tc>
                <a:tc>
                  <a:txBody>
                    <a:bodyPr/>
                    <a:lstStyle/>
                    <a:p>
                      <a:pPr algn="l" fontAlgn="t">
                        <a:buNone/>
                      </a:pPr>
                      <a:r>
                        <a:rPr lang="es-ES" sz="1400">
                          <a:effectLst/>
                        </a:rPr>
                        <a:t>Con RAG</a:t>
                      </a:r>
                      <a:endParaRPr lang="es-ES" sz="1400" b="0">
                        <a:effectLst/>
                      </a:endParaRPr>
                    </a:p>
                  </a:txBody>
                  <a:tcPr marL="57739" marR="57739" marT="34643" marB="34643"/>
                </a:tc>
                <a:extLst>
                  <a:ext uri="{0D108BD9-81ED-4DB2-BD59-A6C34878D82A}">
                    <a16:rowId xmlns:a16="http://schemas.microsoft.com/office/drawing/2014/main" val="3531823045"/>
                  </a:ext>
                </a:extLst>
              </a:tr>
              <a:tr h="533179">
                <a:tc>
                  <a:txBody>
                    <a:bodyPr/>
                    <a:lstStyle/>
                    <a:p>
                      <a:pPr algn="l" fontAlgn="t" latinLnBrk="0">
                        <a:buNone/>
                      </a:pPr>
                      <a:r>
                        <a:rPr lang="es-ES" sz="1400">
                          <a:effectLst/>
                        </a:rPr>
                        <a:t>Exactitud juez (1–5)</a:t>
                      </a:r>
                    </a:p>
                  </a:txBody>
                  <a:tcPr marL="57739" marR="57739" marT="34643" marB="34643"/>
                </a:tc>
                <a:tc>
                  <a:txBody>
                    <a:bodyPr/>
                    <a:lstStyle/>
                    <a:p>
                      <a:pPr algn="l" fontAlgn="t" latinLnBrk="0">
                        <a:buNone/>
                      </a:pPr>
                      <a:r>
                        <a:rPr lang="es-ES" sz="1400">
                          <a:effectLst/>
                        </a:rPr>
                        <a:t>3,31</a:t>
                      </a:r>
                    </a:p>
                  </a:txBody>
                  <a:tcPr marL="57739" marR="57739" marT="34643" marB="34643"/>
                </a:tc>
                <a:tc>
                  <a:txBody>
                    <a:bodyPr/>
                    <a:lstStyle/>
                    <a:p>
                      <a:pPr algn="l" fontAlgn="t" latinLnBrk="0">
                        <a:buNone/>
                      </a:pPr>
                      <a:r>
                        <a:rPr lang="es-ES" sz="1400">
                          <a:effectLst/>
                        </a:rPr>
                        <a:t>4,46 (+1,14)</a:t>
                      </a:r>
                    </a:p>
                  </a:txBody>
                  <a:tcPr marL="57739" marR="57739" marT="34643" marB="34643"/>
                </a:tc>
                <a:extLst>
                  <a:ext uri="{0D108BD9-81ED-4DB2-BD59-A6C34878D82A}">
                    <a16:rowId xmlns:a16="http://schemas.microsoft.com/office/drawing/2014/main" val="1236947548"/>
                  </a:ext>
                </a:extLst>
              </a:tr>
              <a:tr h="533179">
                <a:tc>
                  <a:txBody>
                    <a:bodyPr/>
                    <a:lstStyle/>
                    <a:p>
                      <a:pPr algn="l" fontAlgn="t" latinLnBrk="0">
                        <a:buNone/>
                      </a:pPr>
                      <a:r>
                        <a:rPr lang="es-ES" sz="1400">
                          <a:effectLst/>
                        </a:rPr>
                        <a:t>Exhaustividad</a:t>
                      </a:r>
                    </a:p>
                  </a:txBody>
                  <a:tcPr marL="57739" marR="57739" marT="34643" marB="34643"/>
                </a:tc>
                <a:tc>
                  <a:txBody>
                    <a:bodyPr/>
                    <a:lstStyle/>
                    <a:p>
                      <a:pPr algn="l" fontAlgn="t" latinLnBrk="0">
                        <a:buNone/>
                      </a:pPr>
                      <a:r>
                        <a:rPr lang="es-ES" sz="1400">
                          <a:effectLst/>
                        </a:rPr>
                        <a:t>2,46</a:t>
                      </a:r>
                    </a:p>
                  </a:txBody>
                  <a:tcPr marL="57739" marR="57739" marT="34643" marB="34643"/>
                </a:tc>
                <a:tc>
                  <a:txBody>
                    <a:bodyPr/>
                    <a:lstStyle/>
                    <a:p>
                      <a:pPr algn="l" fontAlgn="t" latinLnBrk="0">
                        <a:buNone/>
                      </a:pPr>
                      <a:r>
                        <a:rPr lang="es-ES" sz="1400">
                          <a:effectLst/>
                        </a:rPr>
                        <a:t>4,06</a:t>
                      </a:r>
                    </a:p>
                  </a:txBody>
                  <a:tcPr marL="57739" marR="57739" marT="34643" marB="34643"/>
                </a:tc>
                <a:extLst>
                  <a:ext uri="{0D108BD9-81ED-4DB2-BD59-A6C34878D82A}">
                    <a16:rowId xmlns:a16="http://schemas.microsoft.com/office/drawing/2014/main" val="100825550"/>
                  </a:ext>
                </a:extLst>
              </a:tr>
              <a:tr h="533179">
                <a:tc>
                  <a:txBody>
                    <a:bodyPr/>
                    <a:lstStyle/>
                    <a:p>
                      <a:pPr algn="l" fontAlgn="t" latinLnBrk="0">
                        <a:buNone/>
                      </a:pPr>
                      <a:r>
                        <a:rPr lang="es-ES" sz="1400">
                          <a:effectLst/>
                        </a:rPr>
                        <a:t>Relevancia</a:t>
                      </a:r>
                    </a:p>
                  </a:txBody>
                  <a:tcPr marL="57739" marR="57739" marT="34643" marB="34643"/>
                </a:tc>
                <a:tc>
                  <a:txBody>
                    <a:bodyPr/>
                    <a:lstStyle/>
                    <a:p>
                      <a:pPr algn="l" fontAlgn="t" latinLnBrk="0">
                        <a:buNone/>
                      </a:pPr>
                      <a:r>
                        <a:rPr lang="es-ES" sz="1400">
                          <a:effectLst/>
                        </a:rPr>
                        <a:t>3,06</a:t>
                      </a:r>
                    </a:p>
                  </a:txBody>
                  <a:tcPr marL="57739" marR="57739" marT="34643" marB="34643"/>
                </a:tc>
                <a:tc>
                  <a:txBody>
                    <a:bodyPr/>
                    <a:lstStyle/>
                    <a:p>
                      <a:pPr algn="l" fontAlgn="t" latinLnBrk="0">
                        <a:buNone/>
                      </a:pPr>
                      <a:r>
                        <a:rPr lang="es-ES" sz="1400">
                          <a:effectLst/>
                        </a:rPr>
                        <a:t>4,00</a:t>
                      </a:r>
                    </a:p>
                  </a:txBody>
                  <a:tcPr marL="57739" marR="57739" marT="34643" marB="34643"/>
                </a:tc>
                <a:extLst>
                  <a:ext uri="{0D108BD9-81ED-4DB2-BD59-A6C34878D82A}">
                    <a16:rowId xmlns:a16="http://schemas.microsoft.com/office/drawing/2014/main" val="1835939259"/>
                  </a:ext>
                </a:extLst>
              </a:tr>
              <a:tr h="935658">
                <a:tc>
                  <a:txBody>
                    <a:bodyPr/>
                    <a:lstStyle/>
                    <a:p>
                      <a:pPr algn="l" fontAlgn="t" latinLnBrk="0">
                        <a:buNone/>
                      </a:pPr>
                      <a:r>
                        <a:rPr lang="es-ES" sz="1400" dirty="0">
                          <a:effectLst/>
                        </a:rPr>
                        <a:t>Tasa alucinación (</a:t>
                      </a:r>
                      <a:r>
                        <a:rPr lang="es-ES" sz="1400" dirty="0" err="1">
                          <a:effectLst/>
                        </a:rPr>
                        <a:t>is_hallucination</a:t>
                      </a:r>
                      <a:r>
                        <a:rPr lang="es-ES" sz="1400" dirty="0">
                          <a:effectLst/>
                        </a:rPr>
                        <a:t>)</a:t>
                      </a:r>
                    </a:p>
                  </a:txBody>
                  <a:tcPr marL="57739" marR="57739" marT="34643" marB="34643"/>
                </a:tc>
                <a:tc>
                  <a:txBody>
                    <a:bodyPr/>
                    <a:lstStyle/>
                    <a:p>
                      <a:pPr algn="l" fontAlgn="t" latinLnBrk="0">
                        <a:buNone/>
                      </a:pPr>
                      <a:r>
                        <a:rPr lang="es-ES" sz="1400">
                          <a:effectLst/>
                        </a:rPr>
                        <a:t>0,314</a:t>
                      </a:r>
                    </a:p>
                  </a:txBody>
                  <a:tcPr marL="57739" marR="57739" marT="34643" marB="34643"/>
                </a:tc>
                <a:tc>
                  <a:txBody>
                    <a:bodyPr/>
                    <a:lstStyle/>
                    <a:p>
                      <a:pPr algn="l" fontAlgn="t" latinLnBrk="0">
                        <a:buNone/>
                      </a:pPr>
                      <a:r>
                        <a:rPr lang="es-ES" sz="1400">
                          <a:effectLst/>
                        </a:rPr>
                        <a:t>0,086 (~÷4)</a:t>
                      </a:r>
                    </a:p>
                  </a:txBody>
                  <a:tcPr marL="57739" marR="57739" marT="34643" marB="34643"/>
                </a:tc>
                <a:extLst>
                  <a:ext uri="{0D108BD9-81ED-4DB2-BD59-A6C34878D82A}">
                    <a16:rowId xmlns:a16="http://schemas.microsoft.com/office/drawing/2014/main" val="156557296"/>
                  </a:ext>
                </a:extLst>
              </a:tr>
              <a:tr h="533179">
                <a:tc>
                  <a:txBody>
                    <a:bodyPr/>
                    <a:lstStyle/>
                    <a:p>
                      <a:pPr algn="l" fontAlgn="t" latinLnBrk="0">
                        <a:buNone/>
                      </a:pPr>
                      <a:r>
                        <a:rPr lang="es-ES" sz="1400">
                          <a:effectLst/>
                        </a:rPr>
                        <a:t>MRR híbrido</a:t>
                      </a:r>
                    </a:p>
                  </a:txBody>
                  <a:tcPr marL="57739" marR="57739" marT="34643" marB="34643"/>
                </a:tc>
                <a:tc>
                  <a:txBody>
                    <a:bodyPr/>
                    <a:lstStyle/>
                    <a:p>
                      <a:pPr algn="l" fontAlgn="t" latinLnBrk="0">
                        <a:buNone/>
                      </a:pPr>
                      <a:r>
                        <a:rPr lang="es-ES" sz="1400" dirty="0">
                          <a:effectLst/>
                        </a:rPr>
                        <a:t>0</a:t>
                      </a:r>
                    </a:p>
                  </a:txBody>
                  <a:tcPr marL="57739" marR="57739" marT="34643" marB="34643"/>
                </a:tc>
                <a:tc>
                  <a:txBody>
                    <a:bodyPr/>
                    <a:lstStyle/>
                    <a:p>
                      <a:pPr algn="l" fontAlgn="t" latinLnBrk="0">
                        <a:buNone/>
                      </a:pPr>
                      <a:r>
                        <a:rPr lang="es-ES" sz="1400">
                          <a:effectLst/>
                        </a:rPr>
                        <a:t>0,8108</a:t>
                      </a:r>
                    </a:p>
                  </a:txBody>
                  <a:tcPr marL="57739" marR="57739" marT="34643" marB="34643"/>
                </a:tc>
                <a:extLst>
                  <a:ext uri="{0D108BD9-81ED-4DB2-BD59-A6C34878D82A}">
                    <a16:rowId xmlns:a16="http://schemas.microsoft.com/office/drawing/2014/main" val="4095574835"/>
                  </a:ext>
                </a:extLst>
              </a:tr>
              <a:tr h="533179">
                <a:tc>
                  <a:txBody>
                    <a:bodyPr/>
                    <a:lstStyle/>
                    <a:p>
                      <a:pPr algn="l" fontAlgn="t" latinLnBrk="0">
                        <a:buNone/>
                      </a:pPr>
                      <a:r>
                        <a:rPr lang="es-ES" sz="1400">
                          <a:effectLst/>
                        </a:rPr>
                        <a:t>Cobertura keywords</a:t>
                      </a:r>
                    </a:p>
                  </a:txBody>
                  <a:tcPr marL="57739" marR="57739" marT="34643" marB="34643"/>
                </a:tc>
                <a:tc>
                  <a:txBody>
                    <a:bodyPr/>
                    <a:lstStyle/>
                    <a:p>
                      <a:pPr algn="l" fontAlgn="t" latinLnBrk="0">
                        <a:buNone/>
                      </a:pPr>
                      <a:r>
                        <a:rPr lang="es-ES" sz="1400" dirty="0">
                          <a:effectLst/>
                        </a:rPr>
                        <a:t>0</a:t>
                      </a:r>
                    </a:p>
                  </a:txBody>
                  <a:tcPr marL="57739" marR="57739" marT="34643" marB="34643"/>
                </a:tc>
                <a:tc>
                  <a:txBody>
                    <a:bodyPr/>
                    <a:lstStyle/>
                    <a:p>
                      <a:pPr algn="l" fontAlgn="t" latinLnBrk="0">
                        <a:buNone/>
                      </a:pPr>
                      <a:r>
                        <a:rPr lang="es-ES" sz="1400" dirty="0">
                          <a:effectLst/>
                        </a:rPr>
                        <a:t>0,9643</a:t>
                      </a:r>
                    </a:p>
                  </a:txBody>
                  <a:tcPr marL="57739" marR="57739" marT="34643" marB="34643"/>
                </a:tc>
                <a:extLst>
                  <a:ext uri="{0D108BD9-81ED-4DB2-BD59-A6C34878D82A}">
                    <a16:rowId xmlns:a16="http://schemas.microsoft.com/office/drawing/2014/main" val="174512233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3" cstate="print"/>
          <a:stretch>
            <a:fillRect/>
          </a:stretch>
        </p:blipFill>
        <p:spPr>
          <a:xfrm>
            <a:off x="66977" y="6631482"/>
            <a:ext cx="79441" cy="180002"/>
          </a:xfrm>
          <a:prstGeom prst="rect">
            <a:avLst/>
          </a:prstGeom>
        </p:spPr>
      </p:pic>
      <p:sp>
        <p:nvSpPr>
          <p:cNvPr id="6" name="object 6"/>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7" name="object 7"/>
          <p:cNvSpPr txBox="1">
            <a:spLocks noGrp="1"/>
          </p:cNvSpPr>
          <p:nvPr>
            <p:ph type="title"/>
          </p:nvPr>
        </p:nvSpPr>
        <p:spPr>
          <a:xfrm>
            <a:off x="3960367" y="43052"/>
            <a:ext cx="5683250" cy="689932"/>
          </a:xfrm>
          <a:prstGeom prst="rect">
            <a:avLst/>
          </a:prstGeom>
        </p:spPr>
        <p:txBody>
          <a:bodyPr vert="horz" wrap="square" lIns="0" tIns="12700" rIns="0" bIns="0" rtlCol="0">
            <a:spAutoFit/>
          </a:bodyPr>
          <a:lstStyle/>
          <a:p>
            <a:pPr marL="12700">
              <a:lnSpc>
                <a:spcPct val="100000"/>
              </a:lnSpc>
              <a:spcBef>
                <a:spcPts val="100"/>
              </a:spcBef>
            </a:pPr>
            <a:r>
              <a:rPr lang="es-ES" dirty="0"/>
              <a:t>Banco de Preguntas</a:t>
            </a:r>
            <a:endParaRPr spc="-10" dirty="0"/>
          </a:p>
        </p:txBody>
      </p:sp>
      <p:pic>
        <p:nvPicPr>
          <p:cNvPr id="8" name="object 8"/>
          <p:cNvPicPr/>
          <p:nvPr/>
        </p:nvPicPr>
        <p:blipFill>
          <a:blip r:embed="rId4" cstate="print"/>
          <a:stretch>
            <a:fillRect/>
          </a:stretch>
        </p:blipFill>
        <p:spPr>
          <a:xfrm>
            <a:off x="155575" y="1012697"/>
            <a:ext cx="113969" cy="251968"/>
          </a:xfrm>
          <a:prstGeom prst="rect">
            <a:avLst/>
          </a:prstGeom>
        </p:spPr>
      </p:pic>
      <p:pic>
        <p:nvPicPr>
          <p:cNvPr id="37" name="object 37"/>
          <p:cNvPicPr/>
          <p:nvPr/>
        </p:nvPicPr>
        <p:blipFill>
          <a:blip r:embed="rId4" cstate="print"/>
          <a:stretch>
            <a:fillRect/>
          </a:stretch>
        </p:blipFill>
        <p:spPr>
          <a:xfrm>
            <a:off x="155575" y="1828800"/>
            <a:ext cx="113969" cy="251967"/>
          </a:xfrm>
          <a:prstGeom prst="rect">
            <a:avLst/>
          </a:prstGeom>
        </p:spPr>
      </p:pic>
      <p:sp>
        <p:nvSpPr>
          <p:cNvPr id="39" name="object 3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12</a:t>
            </a:fld>
            <a:endParaRPr spc="-25" dirty="0"/>
          </a:p>
        </p:txBody>
      </p:sp>
      <p:sp>
        <p:nvSpPr>
          <p:cNvPr id="40" name="object 40"/>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BUSINESS</a:t>
            </a:r>
            <a:r>
              <a:rPr spc="-25" dirty="0"/>
              <a:t> </a:t>
            </a:r>
            <a:r>
              <a:rPr dirty="0"/>
              <a:t>&amp;</a:t>
            </a:r>
            <a:r>
              <a:rPr spc="-10" dirty="0"/>
              <a:t> </a:t>
            </a:r>
            <a:r>
              <a:rPr spc="-20" dirty="0"/>
              <a:t>TECH</a:t>
            </a:r>
          </a:p>
        </p:txBody>
      </p:sp>
      <p:pic>
        <p:nvPicPr>
          <p:cNvPr id="43" name="object 8">
            <a:extLst>
              <a:ext uri="{FF2B5EF4-FFF2-40B4-BE49-F238E27FC236}">
                <a16:creationId xmlns:a16="http://schemas.microsoft.com/office/drawing/2014/main" id="{1FC19ECF-C107-4273-8D59-A4F5C1022FAC}"/>
              </a:ext>
            </a:extLst>
          </p:cNvPr>
          <p:cNvPicPr/>
          <p:nvPr/>
        </p:nvPicPr>
        <p:blipFill>
          <a:blip r:embed="rId4" cstate="print"/>
          <a:stretch>
            <a:fillRect/>
          </a:stretch>
        </p:blipFill>
        <p:spPr>
          <a:xfrm>
            <a:off x="153555" y="2521295"/>
            <a:ext cx="113969" cy="251967"/>
          </a:xfrm>
          <a:prstGeom prst="rect">
            <a:avLst/>
          </a:prstGeom>
        </p:spPr>
      </p:pic>
      <p:pic>
        <p:nvPicPr>
          <p:cNvPr id="46" name="object 24">
            <a:extLst>
              <a:ext uri="{FF2B5EF4-FFF2-40B4-BE49-F238E27FC236}">
                <a16:creationId xmlns:a16="http://schemas.microsoft.com/office/drawing/2014/main" id="{93E91F6B-E371-4706-85BF-57A71171F077}"/>
              </a:ext>
            </a:extLst>
          </p:cNvPr>
          <p:cNvPicPr/>
          <p:nvPr/>
        </p:nvPicPr>
        <p:blipFill>
          <a:blip r:embed="rId4" cstate="print"/>
          <a:stretch>
            <a:fillRect/>
          </a:stretch>
        </p:blipFill>
        <p:spPr>
          <a:xfrm>
            <a:off x="163499" y="4240493"/>
            <a:ext cx="113969" cy="251968"/>
          </a:xfrm>
          <a:prstGeom prst="rect">
            <a:avLst/>
          </a:prstGeom>
        </p:spPr>
      </p:pic>
      <p:pic>
        <p:nvPicPr>
          <p:cNvPr id="47" name="object 24">
            <a:extLst>
              <a:ext uri="{FF2B5EF4-FFF2-40B4-BE49-F238E27FC236}">
                <a16:creationId xmlns:a16="http://schemas.microsoft.com/office/drawing/2014/main" id="{BB85F981-EB14-46BC-BDAE-EF85F86420CB}"/>
              </a:ext>
            </a:extLst>
          </p:cNvPr>
          <p:cNvPicPr/>
          <p:nvPr/>
        </p:nvPicPr>
        <p:blipFill>
          <a:blip r:embed="rId4" cstate="print"/>
          <a:stretch>
            <a:fillRect/>
          </a:stretch>
        </p:blipFill>
        <p:spPr>
          <a:xfrm>
            <a:off x="152400" y="3634232"/>
            <a:ext cx="113969" cy="251968"/>
          </a:xfrm>
          <a:prstGeom prst="rect">
            <a:avLst/>
          </a:prstGeom>
        </p:spPr>
      </p:pic>
      <p:pic>
        <p:nvPicPr>
          <p:cNvPr id="16" name="Imagen 15">
            <a:extLst>
              <a:ext uri="{FF2B5EF4-FFF2-40B4-BE49-F238E27FC236}">
                <a16:creationId xmlns:a16="http://schemas.microsoft.com/office/drawing/2014/main" id="{F2FD5B33-8E02-8563-5A21-E309137877ED}"/>
              </a:ext>
            </a:extLst>
          </p:cNvPr>
          <p:cNvPicPr>
            <a:picLocks noChangeAspect="1"/>
          </p:cNvPicPr>
          <p:nvPr/>
        </p:nvPicPr>
        <p:blipFill>
          <a:blip r:embed="rId5"/>
          <a:stretch>
            <a:fillRect/>
          </a:stretch>
        </p:blipFill>
        <p:spPr>
          <a:xfrm>
            <a:off x="490725" y="916578"/>
            <a:ext cx="9152892" cy="3394258"/>
          </a:xfrm>
          <a:prstGeom prst="rect">
            <a:avLst/>
          </a:prstGeom>
        </p:spPr>
      </p:pic>
      <p:sp>
        <p:nvSpPr>
          <p:cNvPr id="25" name="CuadroTexto 24">
            <a:extLst>
              <a:ext uri="{FF2B5EF4-FFF2-40B4-BE49-F238E27FC236}">
                <a16:creationId xmlns:a16="http://schemas.microsoft.com/office/drawing/2014/main" id="{70491D59-9B88-6F82-D93D-AC4FF886B6A3}"/>
              </a:ext>
            </a:extLst>
          </p:cNvPr>
          <p:cNvSpPr txBox="1"/>
          <p:nvPr/>
        </p:nvSpPr>
        <p:spPr>
          <a:xfrm>
            <a:off x="609600" y="4605698"/>
            <a:ext cx="8915400" cy="1477328"/>
          </a:xfrm>
          <a:prstGeom prst="rect">
            <a:avLst/>
          </a:prstGeom>
          <a:noFill/>
        </p:spPr>
        <p:txBody>
          <a:bodyPr wrap="square">
            <a:spAutoFit/>
          </a:bodyPr>
          <a:lstStyle/>
          <a:p>
            <a:r>
              <a:rPr lang="es-ES" dirty="0"/>
              <a:t>Banco sintético </a:t>
            </a:r>
            <a:r>
              <a:rPr lang="es-ES" dirty="0" err="1">
                <a:latin typeface="Courier New" panose="02070309020205020404" pitchFamily="49" charset="0"/>
              </a:rPr>
              <a:t>gateway</a:t>
            </a:r>
            <a:r>
              <a:rPr lang="es-ES" dirty="0">
                <a:latin typeface="Courier New" panose="02070309020205020404" pitchFamily="49" charset="0"/>
              </a:rPr>
              <a:t>/</a:t>
            </a:r>
            <a:r>
              <a:rPr lang="es-ES" dirty="0" err="1">
                <a:latin typeface="Courier New" panose="02070309020205020404" pitchFamily="49" charset="0"/>
              </a:rPr>
              <a:t>routes</a:t>
            </a:r>
            <a:r>
              <a:rPr lang="es-ES" dirty="0">
                <a:latin typeface="Courier New" panose="02070309020205020404" pitchFamily="49" charset="0"/>
              </a:rPr>
              <a:t>/</a:t>
            </a:r>
            <a:r>
              <a:rPr lang="es-ES" dirty="0" err="1">
                <a:latin typeface="Courier New" panose="02070309020205020404" pitchFamily="49" charset="0"/>
              </a:rPr>
              <a:t>tests.jsonl</a:t>
            </a:r>
            <a:r>
              <a:rPr lang="es-ES" dirty="0"/>
              <a:t> (auditoría: ≠ oro N=35). 147/150 OK (3 </a:t>
            </a:r>
            <a:r>
              <a:rPr lang="es-ES" dirty="0" err="1"/>
              <a:t>timeouts</a:t>
            </a:r>
            <a:r>
              <a:rPr lang="es-ES" dirty="0"/>
              <a:t>). MRR ≈ 0,58; </a:t>
            </a:r>
            <a:r>
              <a:rPr lang="es-ES" dirty="0" err="1"/>
              <a:t>acc</a:t>
            </a:r>
            <a:r>
              <a:rPr lang="es-ES" dirty="0"/>
              <a:t>. RAG 3,94 vs </a:t>
            </a:r>
            <a:r>
              <a:rPr lang="es-ES" dirty="0" err="1"/>
              <a:t>vanilla</a:t>
            </a:r>
            <a:r>
              <a:rPr lang="es-ES" dirty="0"/>
              <a:t> 3,46; hall. </a:t>
            </a:r>
          </a:p>
          <a:p>
            <a:endParaRPr lang="es-ES" dirty="0"/>
          </a:p>
          <a:p>
            <a:r>
              <a:rPr lang="es-ES" dirty="0"/>
              <a:t>RAG 0,19 vs </a:t>
            </a:r>
            <a:r>
              <a:rPr lang="es-ES" dirty="0" err="1"/>
              <a:t>vanilla</a:t>
            </a:r>
            <a:r>
              <a:rPr lang="es-ES" dirty="0"/>
              <a:t> 0,23. Útil como sensibilidad; citar en defensa solo si se etiqueta como sintético.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99C2B-7BCF-D828-38EE-2BA73FD732DB}"/>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DC83976E-8E19-0348-9CEB-39DFAB3A53B5}"/>
              </a:ext>
            </a:extLst>
          </p:cNvPr>
          <p:cNvPicPr/>
          <p:nvPr/>
        </p:nvPicPr>
        <p:blipFill>
          <a:blip r:embed="rId3" cstate="print"/>
          <a:stretch>
            <a:fillRect/>
          </a:stretch>
        </p:blipFill>
        <p:spPr>
          <a:xfrm>
            <a:off x="66977" y="6631482"/>
            <a:ext cx="79441" cy="180002"/>
          </a:xfrm>
          <a:prstGeom prst="rect">
            <a:avLst/>
          </a:prstGeom>
        </p:spPr>
      </p:pic>
      <p:sp>
        <p:nvSpPr>
          <p:cNvPr id="6" name="object 6">
            <a:extLst>
              <a:ext uri="{FF2B5EF4-FFF2-40B4-BE49-F238E27FC236}">
                <a16:creationId xmlns:a16="http://schemas.microsoft.com/office/drawing/2014/main" id="{56DE16F3-E5BC-62D6-C752-0558DF54DE59}"/>
              </a:ext>
            </a:extLst>
          </p:cNvPr>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7" name="object 7">
            <a:extLst>
              <a:ext uri="{FF2B5EF4-FFF2-40B4-BE49-F238E27FC236}">
                <a16:creationId xmlns:a16="http://schemas.microsoft.com/office/drawing/2014/main" id="{13B3C54F-C066-52C9-A4CA-389C91E74ED7}"/>
              </a:ext>
            </a:extLst>
          </p:cNvPr>
          <p:cNvSpPr txBox="1">
            <a:spLocks noGrp="1"/>
          </p:cNvSpPr>
          <p:nvPr>
            <p:ph type="title"/>
          </p:nvPr>
        </p:nvSpPr>
        <p:spPr>
          <a:xfrm>
            <a:off x="3960367" y="43052"/>
            <a:ext cx="5683250" cy="689932"/>
          </a:xfrm>
          <a:prstGeom prst="rect">
            <a:avLst/>
          </a:prstGeom>
        </p:spPr>
        <p:txBody>
          <a:bodyPr vert="horz" wrap="square" lIns="0" tIns="12700" rIns="0" bIns="0" rtlCol="0">
            <a:spAutoFit/>
          </a:bodyPr>
          <a:lstStyle/>
          <a:p>
            <a:pPr marL="12700">
              <a:lnSpc>
                <a:spcPct val="100000"/>
              </a:lnSpc>
              <a:spcBef>
                <a:spcPts val="100"/>
              </a:spcBef>
            </a:pPr>
            <a:r>
              <a:rPr lang="es-ES" spc="-10" dirty="0"/>
              <a:t>Flujo de Alto Nivel</a:t>
            </a:r>
            <a:endParaRPr spc="-10" dirty="0"/>
          </a:p>
        </p:txBody>
      </p:sp>
      <p:pic>
        <p:nvPicPr>
          <p:cNvPr id="8" name="object 8">
            <a:extLst>
              <a:ext uri="{FF2B5EF4-FFF2-40B4-BE49-F238E27FC236}">
                <a16:creationId xmlns:a16="http://schemas.microsoft.com/office/drawing/2014/main" id="{02BB0B98-0EC8-8A2E-52E9-2DDDEADEA03D}"/>
              </a:ext>
            </a:extLst>
          </p:cNvPr>
          <p:cNvPicPr/>
          <p:nvPr/>
        </p:nvPicPr>
        <p:blipFill>
          <a:blip r:embed="rId4" cstate="print"/>
          <a:stretch>
            <a:fillRect/>
          </a:stretch>
        </p:blipFill>
        <p:spPr>
          <a:xfrm>
            <a:off x="155575" y="1012697"/>
            <a:ext cx="113969" cy="251968"/>
          </a:xfrm>
          <a:prstGeom prst="rect">
            <a:avLst/>
          </a:prstGeom>
        </p:spPr>
      </p:pic>
      <p:pic>
        <p:nvPicPr>
          <p:cNvPr id="37" name="object 37">
            <a:extLst>
              <a:ext uri="{FF2B5EF4-FFF2-40B4-BE49-F238E27FC236}">
                <a16:creationId xmlns:a16="http://schemas.microsoft.com/office/drawing/2014/main" id="{CCBD2090-6924-DE23-8940-80385D1FAF78}"/>
              </a:ext>
            </a:extLst>
          </p:cNvPr>
          <p:cNvPicPr/>
          <p:nvPr/>
        </p:nvPicPr>
        <p:blipFill>
          <a:blip r:embed="rId4" cstate="print"/>
          <a:stretch>
            <a:fillRect/>
          </a:stretch>
        </p:blipFill>
        <p:spPr>
          <a:xfrm>
            <a:off x="155575" y="1828800"/>
            <a:ext cx="113969" cy="251967"/>
          </a:xfrm>
          <a:prstGeom prst="rect">
            <a:avLst/>
          </a:prstGeom>
        </p:spPr>
      </p:pic>
      <p:sp>
        <p:nvSpPr>
          <p:cNvPr id="39" name="object 39">
            <a:extLst>
              <a:ext uri="{FF2B5EF4-FFF2-40B4-BE49-F238E27FC236}">
                <a16:creationId xmlns:a16="http://schemas.microsoft.com/office/drawing/2014/main" id="{BF9D20E6-FBBD-4BF7-C05C-C576E25626A9}"/>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13</a:t>
            </a:fld>
            <a:endParaRPr spc="-25" dirty="0"/>
          </a:p>
        </p:txBody>
      </p:sp>
      <p:sp>
        <p:nvSpPr>
          <p:cNvPr id="40" name="object 40">
            <a:extLst>
              <a:ext uri="{FF2B5EF4-FFF2-40B4-BE49-F238E27FC236}">
                <a16:creationId xmlns:a16="http://schemas.microsoft.com/office/drawing/2014/main" id="{E357114F-D1AB-35D1-725D-3BB3E441B46D}"/>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BUSINESS</a:t>
            </a:r>
            <a:r>
              <a:rPr spc="-25" dirty="0"/>
              <a:t> </a:t>
            </a:r>
            <a:r>
              <a:rPr dirty="0"/>
              <a:t>&amp;</a:t>
            </a:r>
            <a:r>
              <a:rPr spc="-10" dirty="0"/>
              <a:t> </a:t>
            </a:r>
            <a:r>
              <a:rPr spc="-20" dirty="0"/>
              <a:t>TECH</a:t>
            </a:r>
          </a:p>
        </p:txBody>
      </p:sp>
      <p:pic>
        <p:nvPicPr>
          <p:cNvPr id="43" name="object 8">
            <a:extLst>
              <a:ext uri="{FF2B5EF4-FFF2-40B4-BE49-F238E27FC236}">
                <a16:creationId xmlns:a16="http://schemas.microsoft.com/office/drawing/2014/main" id="{1AC27B8B-B320-8F87-4125-207A9B6E3814}"/>
              </a:ext>
            </a:extLst>
          </p:cNvPr>
          <p:cNvPicPr/>
          <p:nvPr/>
        </p:nvPicPr>
        <p:blipFill>
          <a:blip r:embed="rId4" cstate="print"/>
          <a:stretch>
            <a:fillRect/>
          </a:stretch>
        </p:blipFill>
        <p:spPr>
          <a:xfrm>
            <a:off x="153555" y="2521295"/>
            <a:ext cx="113969" cy="251967"/>
          </a:xfrm>
          <a:prstGeom prst="rect">
            <a:avLst/>
          </a:prstGeom>
        </p:spPr>
      </p:pic>
      <p:pic>
        <p:nvPicPr>
          <p:cNvPr id="46" name="object 24">
            <a:extLst>
              <a:ext uri="{FF2B5EF4-FFF2-40B4-BE49-F238E27FC236}">
                <a16:creationId xmlns:a16="http://schemas.microsoft.com/office/drawing/2014/main" id="{BBD48CD1-9FE0-A7F7-F5E1-246ED25DB4DB}"/>
              </a:ext>
            </a:extLst>
          </p:cNvPr>
          <p:cNvPicPr/>
          <p:nvPr/>
        </p:nvPicPr>
        <p:blipFill>
          <a:blip r:embed="rId4" cstate="print"/>
          <a:stretch>
            <a:fillRect/>
          </a:stretch>
        </p:blipFill>
        <p:spPr>
          <a:xfrm>
            <a:off x="163499" y="4240493"/>
            <a:ext cx="113969" cy="251968"/>
          </a:xfrm>
          <a:prstGeom prst="rect">
            <a:avLst/>
          </a:prstGeom>
        </p:spPr>
      </p:pic>
      <p:pic>
        <p:nvPicPr>
          <p:cNvPr id="47" name="object 24">
            <a:extLst>
              <a:ext uri="{FF2B5EF4-FFF2-40B4-BE49-F238E27FC236}">
                <a16:creationId xmlns:a16="http://schemas.microsoft.com/office/drawing/2014/main" id="{FABE7BCC-E933-12DF-25DD-1BA7A5A3E34C}"/>
              </a:ext>
            </a:extLst>
          </p:cNvPr>
          <p:cNvPicPr/>
          <p:nvPr/>
        </p:nvPicPr>
        <p:blipFill>
          <a:blip r:embed="rId4" cstate="print"/>
          <a:stretch>
            <a:fillRect/>
          </a:stretch>
        </p:blipFill>
        <p:spPr>
          <a:xfrm>
            <a:off x="152400" y="3634232"/>
            <a:ext cx="113969" cy="251968"/>
          </a:xfrm>
          <a:prstGeom prst="rect">
            <a:avLst/>
          </a:prstGeom>
        </p:spPr>
      </p:pic>
      <p:pic>
        <p:nvPicPr>
          <p:cNvPr id="10" name="Imagen 9">
            <a:extLst>
              <a:ext uri="{FF2B5EF4-FFF2-40B4-BE49-F238E27FC236}">
                <a16:creationId xmlns:a16="http://schemas.microsoft.com/office/drawing/2014/main" id="{B67C2507-6AB0-803B-316B-AD53A72B219C}"/>
              </a:ext>
            </a:extLst>
          </p:cNvPr>
          <p:cNvPicPr>
            <a:picLocks noChangeAspect="1"/>
          </p:cNvPicPr>
          <p:nvPr/>
        </p:nvPicPr>
        <p:blipFill>
          <a:blip r:embed="rId5"/>
          <a:stretch>
            <a:fillRect/>
          </a:stretch>
        </p:blipFill>
        <p:spPr>
          <a:xfrm>
            <a:off x="685800" y="1264665"/>
            <a:ext cx="10367839" cy="4612596"/>
          </a:xfrm>
          <a:prstGeom prst="rect">
            <a:avLst/>
          </a:prstGeom>
        </p:spPr>
      </p:pic>
    </p:spTree>
    <p:extLst>
      <p:ext uri="{BB962C8B-B14F-4D97-AF65-F5344CB8AC3E}">
        <p14:creationId xmlns:p14="http://schemas.microsoft.com/office/powerpoint/2010/main" val="3978156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Resumen del proceso</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14</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12" name="Bocadillo: rectángulo 11">
            <a:extLst>
              <a:ext uri="{FF2B5EF4-FFF2-40B4-BE49-F238E27FC236}">
                <a16:creationId xmlns:a16="http://schemas.microsoft.com/office/drawing/2014/main" id="{05DE8A9E-5176-4F0D-8F0F-9610E2029F39}"/>
              </a:ext>
            </a:extLst>
          </p:cNvPr>
          <p:cNvSpPr/>
          <p:nvPr/>
        </p:nvSpPr>
        <p:spPr>
          <a:xfrm>
            <a:off x="540902" y="5181600"/>
            <a:ext cx="1685623" cy="1143000"/>
          </a:xfrm>
          <a:prstGeom prst="wedgeRectCallout">
            <a:avLst>
              <a:gd name="adj1" fmla="val -15039"/>
              <a:gd name="adj2" fmla="val -70315"/>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400" dirty="0"/>
              <a:t>Se puede proponer un tutor. Sino la Universidad lo propondrá según el tema del TFM</a:t>
            </a:r>
            <a:endParaRPr lang="es-ES" dirty="0"/>
          </a:p>
        </p:txBody>
      </p:sp>
      <p:sp>
        <p:nvSpPr>
          <p:cNvPr id="16" name="Bocadillo: rectángulo 15">
            <a:extLst>
              <a:ext uri="{FF2B5EF4-FFF2-40B4-BE49-F238E27FC236}">
                <a16:creationId xmlns:a16="http://schemas.microsoft.com/office/drawing/2014/main" id="{B6EAC785-F22C-4BCE-9100-FEDC07175BE9}"/>
              </a:ext>
            </a:extLst>
          </p:cNvPr>
          <p:cNvSpPr/>
          <p:nvPr/>
        </p:nvSpPr>
        <p:spPr>
          <a:xfrm>
            <a:off x="3429000" y="5046863"/>
            <a:ext cx="1685623" cy="1143000"/>
          </a:xfrm>
          <a:prstGeom prst="wedgeRectCallout">
            <a:avLst>
              <a:gd name="adj1" fmla="val -18200"/>
              <a:gd name="adj2" fmla="val -78083"/>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400" dirty="0"/>
              <a:t>Según el tema seleccionado, asignaremos al tutor mejor tutor posible</a:t>
            </a:r>
            <a:endParaRPr lang="es-ES" dirty="0"/>
          </a:p>
        </p:txBody>
      </p:sp>
      <p:sp>
        <p:nvSpPr>
          <p:cNvPr id="31" name="Bocadillo: rectángulo 30">
            <a:extLst>
              <a:ext uri="{FF2B5EF4-FFF2-40B4-BE49-F238E27FC236}">
                <a16:creationId xmlns:a16="http://schemas.microsoft.com/office/drawing/2014/main" id="{7918E63C-A3A8-4350-95FA-E4277149704A}"/>
              </a:ext>
            </a:extLst>
          </p:cNvPr>
          <p:cNvSpPr/>
          <p:nvPr/>
        </p:nvSpPr>
        <p:spPr>
          <a:xfrm>
            <a:off x="7077379" y="5192445"/>
            <a:ext cx="2111140" cy="1143000"/>
          </a:xfrm>
          <a:prstGeom prst="wedgeRectCallout">
            <a:avLst>
              <a:gd name="adj1" fmla="val 38154"/>
              <a:gd name="adj2" fmla="val -80413"/>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sz="1400" dirty="0"/>
              <a:t>Finalmente, se presenta a través del campus la memoria y se defiende ante el tribunal</a:t>
            </a:r>
            <a:endParaRPr lang="es-ES" dirty="0"/>
          </a:p>
        </p:txBody>
      </p:sp>
    </p:spTree>
    <p:extLst>
      <p:ext uri="{BB962C8B-B14F-4D97-AF65-F5344CB8AC3E}">
        <p14:creationId xmlns:p14="http://schemas.microsoft.com/office/powerpoint/2010/main" val="2568778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Estado del Arte</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15</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63" name="CuadroTexto 62">
            <a:extLst>
              <a:ext uri="{FF2B5EF4-FFF2-40B4-BE49-F238E27FC236}">
                <a16:creationId xmlns:a16="http://schemas.microsoft.com/office/drawing/2014/main" id="{28097813-DCF9-4A29-A420-2F5CE47F3673}"/>
              </a:ext>
            </a:extLst>
          </p:cNvPr>
          <p:cNvSpPr txBox="1"/>
          <p:nvPr/>
        </p:nvSpPr>
        <p:spPr>
          <a:xfrm>
            <a:off x="304800" y="1371600"/>
            <a:ext cx="9711815" cy="4942700"/>
          </a:xfrm>
          <a:prstGeom prst="rect">
            <a:avLst/>
          </a:prstGeom>
          <a:noFill/>
        </p:spPr>
        <p:txBody>
          <a:bodyPr wrap="square">
            <a:spAutoFit/>
          </a:bodyPr>
          <a:lstStyle/>
          <a:p>
            <a:r>
              <a:rPr lang="es-ES" b="0" i="0" dirty="0">
                <a:solidFill>
                  <a:srgbClr val="000000"/>
                </a:solidFill>
                <a:effectLst/>
                <a:latin typeface="Times New Roman" panose="02020603050405020304" pitchFamily="18" charset="0"/>
                <a:cs typeface="Times New Roman" panose="02020603050405020304" pitchFamily="18" charset="0"/>
              </a:rPr>
              <a:t>Se trata de revisar trabajos previos sobre el tema en estudio. Para ello, será necesario consultar diversas bases de datos y utilizar las palabras clave adecuadas para encontrar la información relevante. Así, estarás creando el arte de tu proyecto de investigación, representando las ideas y conocimientos más </a:t>
            </a:r>
            <a:r>
              <a:rPr lang="es-ES" dirty="0">
                <a:solidFill>
                  <a:srgbClr val="000000"/>
                </a:solidFill>
                <a:latin typeface="Times New Roman" panose="02020603050405020304" pitchFamily="18" charset="0"/>
                <a:cs typeface="Times New Roman" panose="02020603050405020304" pitchFamily="18" charset="0"/>
              </a:rPr>
              <a:t>actuales en tu campo.</a:t>
            </a:r>
          </a:p>
          <a:p>
            <a:pPr algn="l"/>
            <a:endParaRPr lang="es-ES" dirty="0">
              <a:solidFill>
                <a:srgbClr val="000000"/>
              </a:solidFill>
              <a:latin typeface="Times New Roman" panose="02020603050405020304" pitchFamily="18" charset="0"/>
              <a:cs typeface="Times New Roman" panose="02020603050405020304" pitchFamily="18" charset="0"/>
            </a:endParaRPr>
          </a:p>
          <a:p>
            <a:pPr algn="l"/>
            <a:r>
              <a:rPr lang="es-ES" dirty="0">
                <a:solidFill>
                  <a:srgbClr val="000000"/>
                </a:solidFill>
                <a:latin typeface="Times New Roman" panose="02020603050405020304" pitchFamily="18" charset="0"/>
                <a:cs typeface="Times New Roman" panose="02020603050405020304" pitchFamily="18" charset="0"/>
              </a:rPr>
              <a:t>Una buena estrategia de selección de dichas fuentes, es la de hacerte las siguientes preguntas:</a:t>
            </a:r>
          </a:p>
          <a:p>
            <a:pPr marL="285750" lvl="1" indent="-285750" algn="l">
              <a:buFont typeface="Arial" panose="020B0604020202020204" pitchFamily="34" charset="0"/>
              <a:buChar char="•"/>
            </a:pPr>
            <a:r>
              <a:rPr lang="es-ES" dirty="0">
                <a:solidFill>
                  <a:srgbClr val="000000"/>
                </a:solidFill>
                <a:latin typeface="Times New Roman" panose="02020603050405020304" pitchFamily="18" charset="0"/>
                <a:cs typeface="Times New Roman" panose="02020603050405020304" pitchFamily="18" charset="0"/>
              </a:rPr>
              <a:t>¿Quién o quiénes han trabajado sobre el mismo tema?</a:t>
            </a:r>
          </a:p>
          <a:p>
            <a:pPr marL="285750" lvl="1" indent="-285750" algn="l">
              <a:buFont typeface="Arial" panose="020B0604020202020204" pitchFamily="34" charset="0"/>
              <a:buChar char="•"/>
            </a:pPr>
            <a:r>
              <a:rPr lang="es-ES" dirty="0">
                <a:solidFill>
                  <a:srgbClr val="000000"/>
                </a:solidFill>
                <a:latin typeface="Times New Roman" panose="02020603050405020304" pitchFamily="18" charset="0"/>
                <a:cs typeface="Times New Roman" panose="02020603050405020304" pitchFamily="18" charset="0"/>
              </a:rPr>
              <a:t>¿Cuáles son las hipótesis que han planteado sobre la problemática?</a:t>
            </a:r>
          </a:p>
          <a:p>
            <a:pPr marL="285750" lvl="1" indent="-285750" algn="l">
              <a:buFont typeface="Arial" panose="020B0604020202020204" pitchFamily="34" charset="0"/>
              <a:buChar char="•"/>
            </a:pPr>
            <a:r>
              <a:rPr lang="es-ES" dirty="0">
                <a:solidFill>
                  <a:srgbClr val="000000"/>
                </a:solidFill>
                <a:latin typeface="Times New Roman" panose="02020603050405020304" pitchFamily="18" charset="0"/>
                <a:cs typeface="Times New Roman" panose="02020603050405020304" pitchFamily="18" charset="0"/>
              </a:rPr>
              <a:t>¿Qué bibliografía se ha publicado sobre el objeto de estudio en cuestión?</a:t>
            </a:r>
          </a:p>
          <a:p>
            <a:pPr marL="285750" lvl="1" indent="-285750" algn="l">
              <a:buFont typeface="Arial" panose="020B0604020202020204" pitchFamily="34" charset="0"/>
              <a:buChar char="•"/>
            </a:pPr>
            <a:r>
              <a:rPr lang="es-ES" dirty="0">
                <a:solidFill>
                  <a:srgbClr val="000000"/>
                </a:solidFill>
                <a:latin typeface="Times New Roman" panose="02020603050405020304" pitchFamily="18" charset="0"/>
                <a:cs typeface="Times New Roman" panose="02020603050405020304" pitchFamily="18" charset="0"/>
              </a:rPr>
              <a:t>¿Cuáles son los avances que se han logrado en el campo de estudio de la temática elegida?</a:t>
            </a:r>
          </a:p>
          <a:p>
            <a:pPr marL="285750" lvl="1" indent="-285750" algn="l">
              <a:buFont typeface="Arial" panose="020B0604020202020204" pitchFamily="34" charset="0"/>
              <a:buChar char="•"/>
            </a:pPr>
            <a:r>
              <a:rPr lang="es-ES" dirty="0">
                <a:solidFill>
                  <a:srgbClr val="000000"/>
                </a:solidFill>
                <a:latin typeface="Times New Roman" panose="02020603050405020304" pitchFamily="18" charset="0"/>
                <a:cs typeface="Times New Roman" panose="02020603050405020304" pitchFamily="18" charset="0"/>
              </a:rPr>
              <a:t>¿De qué forma se trabajó sobre la temática elegida a lo largo del tiempo?</a:t>
            </a:r>
          </a:p>
          <a:p>
            <a:pPr marL="285750" lvl="1" indent="-285750" algn="l">
              <a:buFont typeface="Arial" panose="020B0604020202020204" pitchFamily="34" charset="0"/>
              <a:buChar char="•"/>
            </a:pPr>
            <a:endParaRPr lang="es-ES" dirty="0">
              <a:solidFill>
                <a:srgbClr val="000000"/>
              </a:solidFill>
              <a:latin typeface="Times New Roman" panose="02020603050405020304" pitchFamily="18" charset="0"/>
              <a:cs typeface="Times New Roman" panose="02020603050405020304" pitchFamily="18" charset="0"/>
            </a:endParaRPr>
          </a:p>
          <a:p>
            <a:pPr lvl="1" algn="l"/>
            <a:r>
              <a:rPr lang="es-ES" dirty="0">
                <a:solidFill>
                  <a:srgbClr val="000000"/>
                </a:solidFill>
                <a:latin typeface="Times New Roman" panose="02020603050405020304" pitchFamily="18" charset="0"/>
                <a:cs typeface="Times New Roman" panose="02020603050405020304" pitchFamily="18" charset="0"/>
              </a:rPr>
              <a:t>Se trata de leer mucho y escribir sintetizando lo asimilado de la </a:t>
            </a:r>
            <a:r>
              <a:rPr lang="es-ES" dirty="0" err="1">
                <a:solidFill>
                  <a:srgbClr val="000000"/>
                </a:solidFill>
                <a:latin typeface="Times New Roman" panose="02020603050405020304" pitchFamily="18" charset="0"/>
                <a:cs typeface="Times New Roman" panose="02020603050405020304" pitchFamily="18" charset="0"/>
              </a:rPr>
              <a:t>bi</a:t>
            </a:r>
            <a:r>
              <a:rPr lang="es-ES" dirty="0">
                <a:solidFill>
                  <a:srgbClr val="000000"/>
                </a:solidFill>
                <a:latin typeface="Times New Roman" panose="02020603050405020304" pitchFamily="18" charset="0"/>
                <a:cs typeface="Times New Roman" panose="02020603050405020304" pitchFamily="18" charset="0"/>
              </a:rPr>
              <a:t>- </a:t>
            </a:r>
            <a:r>
              <a:rPr lang="es-ES" dirty="0" err="1">
                <a:solidFill>
                  <a:srgbClr val="000000"/>
                </a:solidFill>
                <a:latin typeface="Times New Roman" panose="02020603050405020304" pitchFamily="18" charset="0"/>
                <a:cs typeface="Times New Roman" panose="02020603050405020304" pitchFamily="18" charset="0"/>
              </a:rPr>
              <a:t>bliografía</a:t>
            </a:r>
            <a:r>
              <a:rPr lang="es-ES" dirty="0">
                <a:solidFill>
                  <a:srgbClr val="000000"/>
                </a:solidFill>
                <a:latin typeface="Times New Roman" panose="02020603050405020304" pitchFamily="18" charset="0"/>
                <a:cs typeface="Times New Roman" panose="02020603050405020304" pitchFamily="18" charset="0"/>
              </a:rPr>
              <a:t> seleccionada. Para ello debemos realizar una búsqueda bibliográfica, eligiendo las palabras clave necesarias que abarquen los conceptos fundamentales del tema.</a:t>
            </a:r>
          </a:p>
          <a:p>
            <a:pPr lvl="1" algn="l"/>
            <a:endParaRPr lang="es-ES" dirty="0">
              <a:solidFill>
                <a:srgbClr val="000000"/>
              </a:solidFill>
              <a:latin typeface="Times New Roman" panose="02020603050405020304" pitchFamily="18" charset="0"/>
              <a:cs typeface="Times New Roman" panose="02020603050405020304" pitchFamily="18" charset="0"/>
            </a:endParaRPr>
          </a:p>
          <a:p>
            <a:pPr>
              <a:lnSpc>
                <a:spcPct val="125000"/>
              </a:lnSpc>
            </a:pPr>
            <a:endParaRPr lang="es-E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7024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Estado del Arte</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16</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graphicFrame>
        <p:nvGraphicFramePr>
          <p:cNvPr id="2" name="Diagrama 1">
            <a:extLst>
              <a:ext uri="{FF2B5EF4-FFF2-40B4-BE49-F238E27FC236}">
                <a16:creationId xmlns:a16="http://schemas.microsoft.com/office/drawing/2014/main" id="{87FB71B6-E4E3-4052-8A3E-59FB82AFD1FD}"/>
              </a:ext>
            </a:extLst>
          </p:cNvPr>
          <p:cNvGraphicFramePr/>
          <p:nvPr>
            <p:extLst>
              <p:ext uri="{D42A27DB-BD31-4B8C-83A1-F6EECF244321}">
                <p14:modId xmlns:p14="http://schemas.microsoft.com/office/powerpoint/2010/main" val="3956453493"/>
              </p:ext>
            </p:extLst>
          </p:nvPr>
        </p:nvGraphicFramePr>
        <p:xfrm>
          <a:off x="1143000" y="10583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Bocadillo: rectángulo 2">
            <a:extLst>
              <a:ext uri="{FF2B5EF4-FFF2-40B4-BE49-F238E27FC236}">
                <a16:creationId xmlns:a16="http://schemas.microsoft.com/office/drawing/2014/main" id="{20C98B65-1238-4E38-932A-BEE97D924585}"/>
              </a:ext>
            </a:extLst>
          </p:cNvPr>
          <p:cNvSpPr/>
          <p:nvPr/>
        </p:nvSpPr>
        <p:spPr>
          <a:xfrm>
            <a:off x="1524000" y="4570242"/>
            <a:ext cx="1371600" cy="1600200"/>
          </a:xfrm>
          <a:prstGeom prst="wedgeRectCallout">
            <a:avLst>
              <a:gd name="adj1" fmla="val -8159"/>
              <a:gd name="adj2" fmla="val -68453"/>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sz="1600" dirty="0"/>
              <a:t>Debe significar un aporte considerable al objeto de estudio</a:t>
            </a:r>
          </a:p>
        </p:txBody>
      </p:sp>
      <p:sp>
        <p:nvSpPr>
          <p:cNvPr id="11" name="Bocadillo: rectángulo 10">
            <a:extLst>
              <a:ext uri="{FF2B5EF4-FFF2-40B4-BE49-F238E27FC236}">
                <a16:creationId xmlns:a16="http://schemas.microsoft.com/office/drawing/2014/main" id="{38138BCD-9FD5-49E2-95B8-2BE1604D09F4}"/>
              </a:ext>
            </a:extLst>
          </p:cNvPr>
          <p:cNvSpPr/>
          <p:nvPr/>
        </p:nvSpPr>
        <p:spPr>
          <a:xfrm>
            <a:off x="3505200" y="1369842"/>
            <a:ext cx="1371600" cy="1600200"/>
          </a:xfrm>
          <a:prstGeom prst="wedgeRectCallout">
            <a:avLst>
              <a:gd name="adj1" fmla="val 8987"/>
              <a:gd name="adj2" fmla="val 68921"/>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sz="1600" dirty="0"/>
              <a:t>Separa la documentación por bloques temáticos</a:t>
            </a:r>
          </a:p>
        </p:txBody>
      </p:sp>
      <p:sp>
        <p:nvSpPr>
          <p:cNvPr id="12" name="Bocadillo: rectángulo 11">
            <a:extLst>
              <a:ext uri="{FF2B5EF4-FFF2-40B4-BE49-F238E27FC236}">
                <a16:creationId xmlns:a16="http://schemas.microsoft.com/office/drawing/2014/main" id="{F85EE483-83A2-47FA-B945-24754779CBAF}"/>
              </a:ext>
            </a:extLst>
          </p:cNvPr>
          <p:cNvSpPr/>
          <p:nvPr/>
        </p:nvSpPr>
        <p:spPr>
          <a:xfrm>
            <a:off x="4724400" y="4563315"/>
            <a:ext cx="1371600" cy="1600200"/>
          </a:xfrm>
          <a:prstGeom prst="wedgeRectCallout">
            <a:avLst>
              <a:gd name="adj1" fmla="val -3445"/>
              <a:gd name="adj2" fmla="val -6787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sz="1600" dirty="0"/>
              <a:t>Esta sección debe contar con un introducción, desarrollo y conclusiones</a:t>
            </a:r>
          </a:p>
        </p:txBody>
      </p:sp>
      <p:sp>
        <p:nvSpPr>
          <p:cNvPr id="14" name="Bocadillo: rectángulo 13">
            <a:extLst>
              <a:ext uri="{FF2B5EF4-FFF2-40B4-BE49-F238E27FC236}">
                <a16:creationId xmlns:a16="http://schemas.microsoft.com/office/drawing/2014/main" id="{B743DBBE-EA4F-40A2-90C8-34D49FF5C795}"/>
              </a:ext>
            </a:extLst>
          </p:cNvPr>
          <p:cNvSpPr/>
          <p:nvPr/>
        </p:nvSpPr>
        <p:spPr>
          <a:xfrm>
            <a:off x="7239000" y="1369842"/>
            <a:ext cx="1371600" cy="1600200"/>
          </a:xfrm>
          <a:prstGeom prst="wedgeRectCallout">
            <a:avLst>
              <a:gd name="adj1" fmla="val -7848"/>
              <a:gd name="adj2" fmla="val 677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sz="1600" dirty="0"/>
              <a:t>Debes incluir las citas bibliográficas de todas las fuentes consultadas</a:t>
            </a:r>
          </a:p>
        </p:txBody>
      </p:sp>
      <p:sp>
        <p:nvSpPr>
          <p:cNvPr id="5" name="Bocadillo nube: nube 4">
            <a:extLst>
              <a:ext uri="{FF2B5EF4-FFF2-40B4-BE49-F238E27FC236}">
                <a16:creationId xmlns:a16="http://schemas.microsoft.com/office/drawing/2014/main" id="{5AE6CCE2-25A6-4F36-97F9-E44D5FE02B9A}"/>
              </a:ext>
            </a:extLst>
          </p:cNvPr>
          <p:cNvSpPr/>
          <p:nvPr/>
        </p:nvSpPr>
        <p:spPr>
          <a:xfrm>
            <a:off x="6500090" y="5638800"/>
            <a:ext cx="2491510" cy="1059592"/>
          </a:xfrm>
          <a:prstGeom prst="cloudCallout">
            <a:avLst>
              <a:gd name="adj1" fmla="val -61978"/>
              <a:gd name="adj2" fmla="val -53991"/>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342900" indent="-342900">
              <a:buFont typeface="+mj-lt"/>
              <a:buAutoNum type="arabicPeriod"/>
            </a:pPr>
            <a:r>
              <a:rPr lang="es-ES" sz="1600" dirty="0"/>
              <a:t>Introducción</a:t>
            </a:r>
          </a:p>
          <a:p>
            <a:pPr marL="342900" indent="-342900">
              <a:buFont typeface="+mj-lt"/>
              <a:buAutoNum type="arabicPeriod"/>
            </a:pPr>
            <a:r>
              <a:rPr lang="es-ES" sz="1600" dirty="0"/>
              <a:t>Desarrollo</a:t>
            </a:r>
          </a:p>
          <a:p>
            <a:pPr marL="342900" indent="-342900">
              <a:buFont typeface="+mj-lt"/>
              <a:buAutoNum type="arabicPeriod"/>
            </a:pPr>
            <a:r>
              <a:rPr lang="es-ES" sz="1600" dirty="0"/>
              <a:t>Conclusiones</a:t>
            </a:r>
          </a:p>
        </p:txBody>
      </p:sp>
    </p:spTree>
    <p:extLst>
      <p:ext uri="{BB962C8B-B14F-4D97-AF65-F5344CB8AC3E}">
        <p14:creationId xmlns:p14="http://schemas.microsoft.com/office/powerpoint/2010/main" val="2285713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Bibliografía</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17</a:t>
            </a:fld>
            <a:endParaRPr spc="-50" dirty="0">
              <a:solidFill>
                <a:srgbClr val="F1F1F1"/>
              </a:solidFill>
            </a:endParaRPr>
          </a:p>
        </p:txBody>
      </p:sp>
      <p:pic>
        <p:nvPicPr>
          <p:cNvPr id="17" name="object 8">
            <a:extLst>
              <a:ext uri="{FF2B5EF4-FFF2-40B4-BE49-F238E27FC236}">
                <a16:creationId xmlns:a16="http://schemas.microsoft.com/office/drawing/2014/main" id="{EEC5F20D-B3C6-483D-ABAC-5194B6372D06}"/>
              </a:ext>
            </a:extLst>
          </p:cNvPr>
          <p:cNvPicPr/>
          <p:nvPr/>
        </p:nvPicPr>
        <p:blipFill>
          <a:blip r:embed="rId3" cstate="print"/>
          <a:stretch>
            <a:fillRect/>
          </a:stretch>
        </p:blipFill>
        <p:spPr>
          <a:xfrm>
            <a:off x="115888" y="1265682"/>
            <a:ext cx="113969" cy="251967"/>
          </a:xfrm>
          <a:prstGeom prst="rect">
            <a:avLst/>
          </a:prstGeom>
        </p:spPr>
      </p:pic>
      <p:pic>
        <p:nvPicPr>
          <p:cNvPr id="19" name="object 10">
            <a:extLst>
              <a:ext uri="{FF2B5EF4-FFF2-40B4-BE49-F238E27FC236}">
                <a16:creationId xmlns:a16="http://schemas.microsoft.com/office/drawing/2014/main" id="{EF36B807-7231-4BB5-BE7B-A65976D007EA}"/>
              </a:ext>
            </a:extLst>
          </p:cNvPr>
          <p:cNvPicPr/>
          <p:nvPr/>
        </p:nvPicPr>
        <p:blipFill>
          <a:blip r:embed="rId3" cstate="print"/>
          <a:stretch>
            <a:fillRect/>
          </a:stretch>
        </p:blipFill>
        <p:spPr>
          <a:xfrm>
            <a:off x="115888" y="3048000"/>
            <a:ext cx="113969" cy="251967"/>
          </a:xfrm>
          <a:prstGeom prst="rect">
            <a:avLst/>
          </a:prstGeom>
        </p:spPr>
      </p:pic>
      <p:sp>
        <p:nvSpPr>
          <p:cNvPr id="10" name="Rectangle 5">
            <a:extLst>
              <a:ext uri="{FF2B5EF4-FFF2-40B4-BE49-F238E27FC236}">
                <a16:creationId xmlns:a16="http://schemas.microsoft.com/office/drawing/2014/main" id="{1412B138-C15B-4893-B636-D36D8C173E99}"/>
              </a:ext>
            </a:extLst>
          </p:cNvPr>
          <p:cNvSpPr>
            <a:spLocks noGrp="1" noChangeArrowheads="1"/>
          </p:cNvSpPr>
          <p:nvPr>
            <p:ph type="body" idx="1"/>
          </p:nvPr>
        </p:nvSpPr>
        <p:spPr bwMode="auto">
          <a:xfrm>
            <a:off x="457200" y="942925"/>
            <a:ext cx="8882560"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1" i="0" u="none" strike="noStrike" cap="none" normalizeH="0" baseline="0" dirty="0">
                <a:ln>
                  <a:noFill/>
                </a:ln>
                <a:solidFill>
                  <a:schemeClr val="tx1"/>
                </a:solidFill>
                <a:effectLst/>
                <a:latin typeface="Arial" panose="020B0604020202020204" pitchFamily="34" charset="0"/>
              </a:rPr>
              <a:t>La bibliografía es un elemento crítico en cualquier trabajo de investigación.</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742950" lvl="1" indent="-285750" algn="l" rtl="0" eaLnBrk="0" fontAlgn="base" hangingPunct="0">
              <a:spcBef>
                <a:spcPct val="0"/>
              </a:spcBef>
              <a:spcAft>
                <a:spcPct val="0"/>
              </a:spcAft>
              <a:buFont typeface="Arial" panose="020B0604020202020204" pitchFamily="34" charset="0"/>
              <a:buChar char="•"/>
            </a:pPr>
            <a:r>
              <a:rPr kumimoji="0" lang="es-ES" altLang="es-ES" sz="2000" b="0" i="0" u="none" strike="noStrike" cap="none" normalizeH="0" baseline="0" dirty="0">
                <a:ln>
                  <a:noFill/>
                </a:ln>
                <a:solidFill>
                  <a:schemeClr val="tx1"/>
                </a:solidFill>
                <a:effectLst/>
                <a:latin typeface="Arial" panose="020B0604020202020204" pitchFamily="34" charset="0"/>
              </a:rPr>
              <a:t>Demuestra el </a:t>
            </a:r>
            <a:r>
              <a:rPr kumimoji="0" lang="es-ES" altLang="es-ES" sz="2000" b="1" i="0" u="none" strike="noStrike" cap="none" normalizeH="0" baseline="0" dirty="0">
                <a:ln>
                  <a:noFill/>
                </a:ln>
                <a:solidFill>
                  <a:schemeClr val="tx1"/>
                </a:solidFill>
                <a:effectLst/>
                <a:latin typeface="Arial" panose="020B0604020202020204" pitchFamily="34" charset="0"/>
              </a:rPr>
              <a:t>rigor académico</a:t>
            </a:r>
            <a:r>
              <a:rPr kumimoji="0" lang="es-ES" altLang="es-ES" sz="2000" b="0" i="0" u="none" strike="noStrike" cap="none" normalizeH="0" baseline="0" dirty="0">
                <a:ln>
                  <a:noFill/>
                </a:ln>
                <a:solidFill>
                  <a:schemeClr val="tx1"/>
                </a:solidFill>
                <a:effectLst/>
                <a:latin typeface="Arial" panose="020B0604020202020204" pitchFamily="34" charset="0"/>
              </a:rPr>
              <a:t> y la base teórica del trabajo.</a:t>
            </a:r>
          </a:p>
          <a:p>
            <a:pPr marL="742950" lvl="1" indent="-285750" algn="l" rtl="0" eaLnBrk="0" fontAlgn="base" hangingPunct="0">
              <a:spcBef>
                <a:spcPct val="0"/>
              </a:spcBef>
              <a:spcAft>
                <a:spcPct val="0"/>
              </a:spcAft>
              <a:buFont typeface="Arial" panose="020B0604020202020204" pitchFamily="34" charset="0"/>
              <a:buChar char="•"/>
            </a:pPr>
            <a:r>
              <a:rPr kumimoji="0" lang="es-ES" altLang="es-ES" sz="2000" b="0" i="0" u="none" strike="noStrike" cap="none" normalizeH="0" baseline="0" dirty="0">
                <a:ln>
                  <a:noFill/>
                </a:ln>
                <a:solidFill>
                  <a:schemeClr val="tx1"/>
                </a:solidFill>
                <a:effectLst/>
                <a:latin typeface="Arial" panose="020B0604020202020204" pitchFamily="34" charset="0"/>
              </a:rPr>
              <a:t>Permite </a:t>
            </a:r>
            <a:r>
              <a:rPr kumimoji="0" lang="es-ES" altLang="es-ES" sz="2000" b="1" i="0" u="none" strike="noStrike" cap="none" normalizeH="0" baseline="0" dirty="0">
                <a:ln>
                  <a:noFill/>
                </a:ln>
                <a:solidFill>
                  <a:schemeClr val="tx1"/>
                </a:solidFill>
                <a:effectLst/>
                <a:latin typeface="Arial" panose="020B0604020202020204" pitchFamily="34" charset="0"/>
              </a:rPr>
              <a:t>validar las fuentes</a:t>
            </a:r>
            <a:r>
              <a:rPr kumimoji="0" lang="es-ES" altLang="es-ES" sz="2000" b="0" i="0" u="none" strike="noStrike" cap="none" normalizeH="0" baseline="0" dirty="0">
                <a:ln>
                  <a:noFill/>
                </a:ln>
                <a:solidFill>
                  <a:schemeClr val="tx1"/>
                </a:solidFill>
                <a:effectLst/>
                <a:latin typeface="Arial" panose="020B0604020202020204" pitchFamily="34" charset="0"/>
              </a:rPr>
              <a:t> y la veracidad de la información utilizada.</a:t>
            </a:r>
          </a:p>
          <a:p>
            <a:pPr marL="742950" lvl="1" indent="-285750" algn="l" rtl="0" eaLnBrk="0" fontAlgn="base" hangingPunct="0">
              <a:spcBef>
                <a:spcPct val="0"/>
              </a:spcBef>
              <a:spcAft>
                <a:spcPct val="0"/>
              </a:spcAft>
              <a:buFont typeface="Arial" panose="020B0604020202020204" pitchFamily="34" charset="0"/>
              <a:buChar char="•"/>
            </a:pPr>
            <a:r>
              <a:rPr kumimoji="0" lang="es-ES" altLang="es-ES" sz="2000" b="0" i="0" u="none" strike="noStrike" cap="none" normalizeH="0" baseline="0" dirty="0">
                <a:ln>
                  <a:noFill/>
                </a:ln>
                <a:solidFill>
                  <a:schemeClr val="tx1"/>
                </a:solidFill>
                <a:effectLst/>
                <a:latin typeface="Arial" panose="020B0604020202020204" pitchFamily="34" charset="0"/>
              </a:rPr>
              <a:t>Refleja la </a:t>
            </a:r>
            <a:r>
              <a:rPr kumimoji="0" lang="es-ES" altLang="es-ES" sz="2000" b="1" i="0" u="none" strike="noStrike" cap="none" normalizeH="0" baseline="0" dirty="0">
                <a:ln>
                  <a:noFill/>
                </a:ln>
                <a:solidFill>
                  <a:schemeClr val="tx1"/>
                </a:solidFill>
                <a:effectLst/>
                <a:latin typeface="Arial" panose="020B0604020202020204" pitchFamily="34" charset="0"/>
              </a:rPr>
              <a:t>capacidad de investigación y análisis</a:t>
            </a:r>
            <a:r>
              <a:rPr kumimoji="0" lang="es-ES" altLang="es-ES" sz="2000" b="0" i="0" u="none" strike="noStrike" cap="none" normalizeH="0" baseline="0" dirty="0">
                <a:ln>
                  <a:noFill/>
                </a:ln>
                <a:solidFill>
                  <a:schemeClr val="tx1"/>
                </a:solidFill>
                <a:effectLst/>
                <a:latin typeface="Arial" panose="020B0604020202020204" pitchFamily="34" charset="0"/>
              </a:rPr>
              <a:t> del alumno.</a:t>
            </a:r>
          </a:p>
          <a:p>
            <a:pPr marL="742950" lvl="1" indent="-285750" algn="l" rtl="0" eaLnBrk="0" fontAlgn="base" hangingPunct="0">
              <a:spcBef>
                <a:spcPct val="0"/>
              </a:spcBef>
              <a:spcAft>
                <a:spcPct val="0"/>
              </a:spcAft>
              <a:buFont typeface="Arial" panose="020B0604020202020204" pitchFamily="34" charset="0"/>
              <a:buChar char="•"/>
            </a:pPr>
            <a:r>
              <a:rPr kumimoji="0" lang="es-ES" altLang="es-ES" sz="2000" b="0" i="0" u="none" strike="noStrike" cap="none" normalizeH="0" baseline="0" dirty="0">
                <a:ln>
                  <a:noFill/>
                </a:ln>
                <a:solidFill>
                  <a:schemeClr val="tx1"/>
                </a:solidFill>
                <a:effectLst/>
                <a:latin typeface="Arial" panose="020B0604020202020204" pitchFamily="34" charset="0"/>
              </a:rPr>
              <a:t>Evita problemas de </a:t>
            </a:r>
            <a:r>
              <a:rPr kumimoji="0" lang="es-ES" altLang="es-ES" sz="2000" b="1" i="0" u="none" strike="noStrike" cap="none" normalizeH="0" baseline="0" dirty="0">
                <a:ln>
                  <a:noFill/>
                </a:ln>
                <a:solidFill>
                  <a:schemeClr val="tx1"/>
                </a:solidFill>
                <a:effectLst/>
                <a:latin typeface="Arial" panose="020B0604020202020204" pitchFamily="34" charset="0"/>
              </a:rPr>
              <a:t>plagio o falta de referencias</a:t>
            </a:r>
            <a:r>
              <a:rPr kumimoji="0" lang="es-ES" altLang="es-E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1" i="0" u="none" strike="noStrike" cap="none" normalizeH="0" baseline="0" dirty="0">
                <a:ln>
                  <a:noFill/>
                </a:ln>
                <a:solidFill>
                  <a:schemeClr val="tx1"/>
                </a:solidFill>
                <a:effectLst/>
                <a:latin typeface="Arial" panose="020B0604020202020204" pitchFamily="34" charset="0"/>
              </a:rPr>
              <a:t>Revisión por parte del tutor:</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742950" lvl="1" indent="-285750" algn="l" rtl="0" eaLnBrk="0" fontAlgn="base" hangingPunct="0">
              <a:spcBef>
                <a:spcPct val="0"/>
              </a:spcBef>
              <a:spcAft>
                <a:spcPct val="0"/>
              </a:spcAft>
              <a:buFont typeface="Arial" panose="020B0604020202020204" pitchFamily="34" charset="0"/>
              <a:buChar char="•"/>
            </a:pPr>
            <a:r>
              <a:rPr kumimoji="0" lang="es-ES" altLang="es-ES" sz="2000" b="0" i="0" u="none" strike="noStrike" cap="none" normalizeH="0" baseline="0" dirty="0">
                <a:ln>
                  <a:noFill/>
                </a:ln>
                <a:solidFill>
                  <a:schemeClr val="tx1"/>
                </a:solidFill>
                <a:effectLst/>
                <a:latin typeface="Arial" panose="020B0604020202020204" pitchFamily="34" charset="0"/>
              </a:rPr>
              <a:t>El tutor verificará que las fuentes:</a:t>
            </a:r>
          </a:p>
          <a:p>
            <a:pPr marL="1200150" lvl="2" indent="-285750" algn="l" rtl="0" eaLnBrk="0" fontAlgn="base" hangingPunct="0">
              <a:spcBef>
                <a:spcPct val="0"/>
              </a:spcBef>
              <a:spcAft>
                <a:spcPct val="0"/>
              </a:spcAft>
              <a:buFont typeface="Arial" panose="020B0604020202020204" pitchFamily="34" charset="0"/>
              <a:buChar char="•"/>
            </a:pPr>
            <a:r>
              <a:rPr kumimoji="0" lang="es-ES" altLang="es-ES" b="0" i="0" u="none" strike="noStrike" cap="none" normalizeH="0" baseline="0" dirty="0">
                <a:ln>
                  <a:noFill/>
                </a:ln>
                <a:solidFill>
                  <a:schemeClr val="tx1"/>
                </a:solidFill>
                <a:effectLst/>
                <a:latin typeface="Arial" panose="020B0604020202020204" pitchFamily="34" charset="0"/>
              </a:rPr>
              <a:t>Existan realmente.</a:t>
            </a:r>
          </a:p>
          <a:p>
            <a:pPr marL="1200150" lvl="2" indent="-285750" algn="l" rtl="0" eaLnBrk="0" fontAlgn="base" hangingPunct="0">
              <a:spcBef>
                <a:spcPct val="0"/>
              </a:spcBef>
              <a:spcAft>
                <a:spcPct val="0"/>
              </a:spcAft>
              <a:buFont typeface="Arial" panose="020B0604020202020204" pitchFamily="34" charset="0"/>
              <a:buChar char="•"/>
            </a:pPr>
            <a:r>
              <a:rPr kumimoji="0" lang="es-ES" altLang="es-ES" b="0" i="0" u="none" strike="noStrike" cap="none" normalizeH="0" baseline="0" dirty="0">
                <a:ln>
                  <a:noFill/>
                </a:ln>
                <a:solidFill>
                  <a:schemeClr val="tx1"/>
                </a:solidFill>
                <a:effectLst/>
                <a:latin typeface="Arial" panose="020B0604020202020204" pitchFamily="34" charset="0"/>
              </a:rPr>
              <a:t>Sean relevantes y de calidad académica.</a:t>
            </a:r>
          </a:p>
          <a:p>
            <a:pPr marL="1200150" lvl="2" indent="-285750" algn="l" rtl="0" eaLnBrk="0" fontAlgn="base" hangingPunct="0">
              <a:spcBef>
                <a:spcPct val="0"/>
              </a:spcBef>
              <a:spcAft>
                <a:spcPct val="0"/>
              </a:spcAft>
              <a:buFont typeface="Arial" panose="020B0604020202020204" pitchFamily="34" charset="0"/>
              <a:buChar char="•"/>
            </a:pPr>
            <a:r>
              <a:rPr kumimoji="0" lang="es-ES" altLang="es-ES" b="0" i="0" u="none" strike="noStrike" cap="none" normalizeH="0" baseline="0" dirty="0">
                <a:ln>
                  <a:noFill/>
                </a:ln>
                <a:solidFill>
                  <a:schemeClr val="tx1"/>
                </a:solidFill>
                <a:effectLst/>
                <a:latin typeface="Arial" panose="020B0604020202020204" pitchFamily="34" charset="0"/>
              </a:rPr>
              <a:t>Estén correctamente citadas.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15" name="CuadroTexto 14">
            <a:extLst>
              <a:ext uri="{FF2B5EF4-FFF2-40B4-BE49-F238E27FC236}">
                <a16:creationId xmlns:a16="http://schemas.microsoft.com/office/drawing/2014/main" id="{3C864CCB-D992-44D4-BBF8-5CF9FDD2B69D}"/>
              </a:ext>
            </a:extLst>
          </p:cNvPr>
          <p:cNvSpPr txBox="1"/>
          <p:nvPr/>
        </p:nvSpPr>
        <p:spPr>
          <a:xfrm>
            <a:off x="457200" y="4928631"/>
            <a:ext cx="8458200" cy="1477328"/>
          </a:xfrm>
          <a:prstGeom prst="rect">
            <a:avLst/>
          </a:prstGeom>
          <a:noFill/>
          <a:ln w="19050">
            <a:solidFill>
              <a:srgbClr val="FF0000"/>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1" i="0" u="none" strike="noStrike" cap="none" normalizeH="0" baseline="0" dirty="0">
                <a:ln>
                  <a:noFill/>
                </a:ln>
                <a:solidFill>
                  <a:schemeClr val="tx1"/>
                </a:solidFill>
                <a:effectLst/>
                <a:latin typeface="Arial" panose="020B0604020202020204" pitchFamily="34" charset="0"/>
              </a:rPr>
              <a:t>Advertencia importante:</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dirty="0">
                <a:ln>
                  <a:noFill/>
                </a:ln>
                <a:solidFill>
                  <a:schemeClr val="tx1"/>
                </a:solidFill>
                <a:effectLst/>
                <a:latin typeface="Arial" panose="020B0604020202020204" pitchFamily="34" charset="0"/>
              </a:rPr>
              <a:t>La ausencia de bibliografía, referencias incorrectas o fuentes inexistentes puede suponer un </a:t>
            </a:r>
            <a:r>
              <a:rPr kumimoji="0" lang="es-ES" altLang="es-ES" sz="1800" b="1" i="0" u="none" strike="noStrike" cap="none" normalizeH="0" baseline="0" dirty="0">
                <a:ln>
                  <a:noFill/>
                </a:ln>
                <a:solidFill>
                  <a:schemeClr val="tx1"/>
                </a:solidFill>
                <a:effectLst/>
                <a:latin typeface="Arial" panose="020B0604020202020204" pitchFamily="34" charset="0"/>
              </a:rPr>
              <a:t>NO APTO para la defensa del TFM</a:t>
            </a:r>
            <a:r>
              <a:rPr kumimoji="0" lang="es-ES" altLang="es-ES" sz="1800" b="0" i="0" u="none" strike="noStrike" cap="none" normalizeH="0" baseline="0" dirty="0">
                <a:ln>
                  <a:noFill/>
                </a:ln>
                <a:solidFill>
                  <a:schemeClr val="tx1"/>
                </a:solidFill>
                <a:effectLst/>
                <a:latin typeface="Arial" panose="020B0604020202020204" pitchFamily="34" charset="0"/>
              </a:rPr>
              <a:t>.</a:t>
            </a:r>
          </a:p>
          <a:p>
            <a:endParaRPr lang="es-ES" dirty="0"/>
          </a:p>
        </p:txBody>
      </p:sp>
    </p:spTree>
    <p:extLst>
      <p:ext uri="{BB962C8B-B14F-4D97-AF65-F5344CB8AC3E}">
        <p14:creationId xmlns:p14="http://schemas.microsoft.com/office/powerpoint/2010/main" val="2118434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FAQ</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18</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63" name="CuadroTexto 62">
            <a:extLst>
              <a:ext uri="{FF2B5EF4-FFF2-40B4-BE49-F238E27FC236}">
                <a16:creationId xmlns:a16="http://schemas.microsoft.com/office/drawing/2014/main" id="{28097813-DCF9-4A29-A420-2F5CE47F3673}"/>
              </a:ext>
            </a:extLst>
          </p:cNvPr>
          <p:cNvSpPr txBox="1"/>
          <p:nvPr/>
        </p:nvSpPr>
        <p:spPr>
          <a:xfrm>
            <a:off x="381000" y="1600200"/>
            <a:ext cx="10058398" cy="4561120"/>
          </a:xfrm>
          <a:prstGeom prst="rect">
            <a:avLst/>
          </a:prstGeom>
          <a:noFill/>
        </p:spPr>
        <p:txBody>
          <a:bodyPr wrap="square">
            <a:spAutoFit/>
          </a:bodyPr>
          <a:lstStyle/>
          <a:p>
            <a:pPr marL="285750" indent="-285750">
              <a:lnSpc>
                <a:spcPct val="125000"/>
              </a:lnSpc>
              <a:buFont typeface="Wingdings" panose="05000000000000000000" pitchFamily="2" charset="2"/>
              <a:buChar char="Ø"/>
            </a:pPr>
            <a:r>
              <a:rPr lang="es-ES" b="1" dirty="0">
                <a:latin typeface="Times New Roman" panose="02020603050405020304" pitchFamily="18" charset="0"/>
                <a:cs typeface="Times New Roman" panose="02020603050405020304" pitchFamily="18" charset="0"/>
              </a:rPr>
              <a:t>¿Cuándo comienza el procedimiento del TFM? </a:t>
            </a:r>
            <a:r>
              <a:rPr lang="es-ES" dirty="0">
                <a:latin typeface="Times New Roman" panose="02020603050405020304" pitchFamily="18" charset="0"/>
                <a:cs typeface="Times New Roman" panose="02020603050405020304" pitchFamily="18" charset="0"/>
                <a:sym typeface="Wingdings" panose="05000000000000000000" pitchFamily="2" charset="2"/>
              </a:rPr>
              <a:t> El TFM es una asignatura del 2º cuatrimestre, con el primer hito finalizando el 23 de Febrero (Entrega propuesta temática)</a:t>
            </a:r>
          </a:p>
          <a:p>
            <a:pPr marL="285750" indent="-285750">
              <a:lnSpc>
                <a:spcPct val="125000"/>
              </a:lnSpc>
              <a:buFont typeface="Wingdings" panose="05000000000000000000" pitchFamily="2" charset="2"/>
              <a:buChar char="Ø"/>
            </a:pPr>
            <a:r>
              <a:rPr lang="es-ES" b="1" dirty="0">
                <a:latin typeface="Times New Roman" panose="02020603050405020304" pitchFamily="18" charset="0"/>
                <a:cs typeface="Times New Roman" panose="02020603050405020304" pitchFamily="18" charset="0"/>
                <a:sym typeface="Wingdings" panose="05000000000000000000" pitchFamily="2" charset="2"/>
              </a:rPr>
              <a:t>¿Cuándo se sabe la asignación definitiva de tutores? </a:t>
            </a:r>
            <a:r>
              <a:rPr lang="es-ES" dirty="0">
                <a:latin typeface="Times New Roman" panose="02020603050405020304" pitchFamily="18" charset="0"/>
                <a:cs typeface="Times New Roman" panose="02020603050405020304" pitchFamily="18" charset="0"/>
                <a:sym typeface="Wingdings" panose="05000000000000000000" pitchFamily="2" charset="2"/>
              </a:rPr>
              <a:t> La asignación se dará a conocer el 2 de Marzo</a:t>
            </a:r>
          </a:p>
          <a:p>
            <a:pPr marL="285750" indent="-285750">
              <a:lnSpc>
                <a:spcPct val="125000"/>
              </a:lnSpc>
              <a:buFont typeface="Wingdings" panose="05000000000000000000" pitchFamily="2" charset="2"/>
              <a:buChar char="Ø"/>
            </a:pPr>
            <a:r>
              <a:rPr lang="es-E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¿Cuál es el criterio de aceptación de un TFM? </a:t>
            </a:r>
            <a:r>
              <a:rPr lang="es-E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rPr>
              <a:t> </a:t>
            </a:r>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Es un trabajo de investigación. Que sea un trabajo práctico y relacionado con IA. No puede ser sólo un trabajo teórico.</a:t>
            </a:r>
            <a:endParaRPr lang="es-E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endParaRPr>
          </a:p>
          <a:p>
            <a:pPr marL="285750" indent="-285750">
              <a:lnSpc>
                <a:spcPct val="125000"/>
              </a:lnSpc>
              <a:buFont typeface="Wingdings" panose="05000000000000000000" pitchFamily="2" charset="2"/>
              <a:buChar char="Ø"/>
            </a:pPr>
            <a:r>
              <a:rPr lang="es-ES"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¿Cuál es la extensión del entregable?  </a:t>
            </a:r>
            <a:r>
              <a:rPr lang="es-ES" dirty="0">
                <a:latin typeface="Times New Roman" panose="02020603050405020304" pitchFamily="18" charset="0"/>
                <a:cs typeface="Times New Roman" panose="02020603050405020304" pitchFamily="18" charset="0"/>
              </a:rPr>
              <a:t>El trabajo tendrá una extensión mínima orientativa de 60 páginas (sin incluir anexos, código, </a:t>
            </a:r>
            <a:r>
              <a:rPr lang="es-ES" dirty="0" err="1">
                <a:latin typeface="Times New Roman" panose="02020603050405020304" pitchFamily="18" charset="0"/>
                <a:cs typeface="Times New Roman" panose="02020603050405020304" pitchFamily="18" charset="0"/>
              </a:rPr>
              <a:t>etc</a:t>
            </a:r>
            <a:r>
              <a:rPr lang="es-ES" dirty="0">
                <a:latin typeface="Times New Roman" panose="02020603050405020304" pitchFamily="18" charset="0"/>
                <a:cs typeface="Times New Roman" panose="02020603050405020304" pitchFamily="18" charset="0"/>
              </a:rPr>
              <a:t>). Si la extensión fuera menor el trabajo podrá ver mermada su calificación por este motivo, pudiendo llegar a suponer un «No apto» en el depósito del TFM</a:t>
            </a:r>
            <a:r>
              <a:rPr lang="es-ES" sz="1800" dirty="0">
                <a:effectLst/>
                <a:latin typeface="Aptos"/>
                <a:ea typeface="Times New Roman" panose="02020603050405020304" pitchFamily="18" charset="0"/>
              </a:rPr>
              <a:t>.</a:t>
            </a:r>
            <a:endParaRPr lang="es-ES" sz="1800" dirty="0">
              <a:effectLst/>
              <a:latin typeface="Calibri" panose="020F0502020204030204" pitchFamily="34" charset="0"/>
              <a:ea typeface="Calibri" panose="020F0502020204030204" pitchFamily="34" charset="0"/>
            </a:endParaRPr>
          </a:p>
          <a:p>
            <a:pPr marL="285750" indent="-285750">
              <a:lnSpc>
                <a:spcPct val="125000"/>
              </a:lnSpc>
              <a:buFont typeface="Wingdings" panose="05000000000000000000" pitchFamily="2" charset="2"/>
              <a:buChar char="Ø"/>
            </a:pPr>
            <a:r>
              <a:rPr lang="es-ES"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¿Se puede realizar con la empresa donde trabajo?  </a:t>
            </a:r>
            <a:r>
              <a:rPr lang="es-ES" dirty="0">
                <a:latin typeface="Times New Roman" panose="02020603050405020304" pitchFamily="18" charset="0"/>
                <a:cs typeface="Times New Roman" panose="02020603050405020304" pitchFamily="18" charset="0"/>
                <a:sym typeface="Wingdings" panose="05000000000000000000" pitchFamily="2" charset="2"/>
              </a:rPr>
              <a:t>Si, se puede realizar con la empresa</a:t>
            </a:r>
          </a:p>
          <a:p>
            <a:pPr marL="285750" indent="-285750">
              <a:lnSpc>
                <a:spcPct val="125000"/>
              </a:lnSpc>
              <a:buFont typeface="Wingdings" panose="05000000000000000000" pitchFamily="2" charset="2"/>
              <a:buChar char="Ø"/>
            </a:pPr>
            <a:r>
              <a:rPr lang="es-ES"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¿La Universidad dispone de recursos de computo como licencias de AWS / Azure a disposición de los alumnos?  </a:t>
            </a:r>
            <a:r>
              <a:rPr lang="es-ES" dirty="0">
                <a:latin typeface="Times New Roman" panose="02020603050405020304" pitchFamily="18" charset="0"/>
                <a:cs typeface="Times New Roman" panose="02020603050405020304" pitchFamily="18" charset="0"/>
                <a:sym typeface="Wingdings" panose="05000000000000000000" pitchFamily="2" charset="2"/>
              </a:rPr>
              <a:t>Si</a:t>
            </a:r>
          </a:p>
          <a:p>
            <a:pPr marL="285750" indent="-285750">
              <a:lnSpc>
                <a:spcPct val="125000"/>
              </a:lnSpc>
              <a:buFont typeface="Wingdings" panose="05000000000000000000" pitchFamily="2" charset="2"/>
              <a:buChar char="Ø"/>
            </a:pPr>
            <a:r>
              <a:rPr lang="es-ES"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¿Qué política existe sobre la propiedad intelectual?  </a:t>
            </a:r>
            <a:r>
              <a:rPr lang="es-ES"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Es 100% del alumno</a:t>
            </a:r>
          </a:p>
        </p:txBody>
      </p:sp>
    </p:spTree>
    <p:extLst>
      <p:ext uri="{BB962C8B-B14F-4D97-AF65-F5344CB8AC3E}">
        <p14:creationId xmlns:p14="http://schemas.microsoft.com/office/powerpoint/2010/main" val="1651376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FAQ</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19</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63" name="CuadroTexto 62">
            <a:extLst>
              <a:ext uri="{FF2B5EF4-FFF2-40B4-BE49-F238E27FC236}">
                <a16:creationId xmlns:a16="http://schemas.microsoft.com/office/drawing/2014/main" id="{28097813-DCF9-4A29-A420-2F5CE47F3673}"/>
              </a:ext>
            </a:extLst>
          </p:cNvPr>
          <p:cNvSpPr txBox="1"/>
          <p:nvPr/>
        </p:nvSpPr>
        <p:spPr>
          <a:xfrm>
            <a:off x="381000" y="1600200"/>
            <a:ext cx="10058398" cy="4734951"/>
          </a:xfrm>
          <a:prstGeom prst="rect">
            <a:avLst/>
          </a:prstGeom>
          <a:noFill/>
        </p:spPr>
        <p:txBody>
          <a:bodyPr wrap="square">
            <a:spAutoFit/>
          </a:bodyPr>
          <a:lstStyle/>
          <a:p>
            <a:pPr marL="342900" lvl="0" indent="-342900">
              <a:buFont typeface="Wingdings" panose="05000000000000000000" pitchFamily="2" charset="2"/>
              <a:buChar char=""/>
              <a:tabLst>
                <a:tab pos="457200" algn="l"/>
              </a:tabLst>
            </a:pPr>
            <a:r>
              <a:rPr lang="es-E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¿Cuál es la plantilla de TFM? </a:t>
            </a:r>
            <a:r>
              <a:rPr lang="es-E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rPr>
              <a:t> </a:t>
            </a:r>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Se disponibilizará una plantilla en el aula.</a:t>
            </a:r>
            <a:endParaRPr lang="es-ES"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
              <a:tabLst>
                <a:tab pos="914400" algn="l"/>
              </a:tabLst>
            </a:pPr>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Características de formato: con el fin de facilitar el trabajo al estudiante, la plantilla de TFG aparece con formato predefinido, no pudiendo modificarse en ningún momento. Dichas características de formato han sido tomadas de las recomendaciones del  estilo IEEE y pueden resumirse en los siguientes aspectos:</a:t>
            </a:r>
            <a:endParaRPr lang="es-ES"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Tamaño página: DIN A4.</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Interlineado: 1,5.</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Fuente: Times New </a:t>
            </a:r>
            <a:r>
              <a:rPr lang="es-ES" dirty="0" err="1">
                <a:effectLst/>
                <a:latin typeface="Times New Roman" panose="02020603050405020304" pitchFamily="18" charset="0"/>
                <a:ea typeface="Calibri" panose="020F0502020204030204" pitchFamily="34" charset="0"/>
                <a:cs typeface="Times New Roman" panose="02020603050405020304" pitchFamily="18" charset="0"/>
              </a:rPr>
              <a:t>Roman</a:t>
            </a:r>
            <a:r>
              <a:rPr lang="es-ES" dirty="0">
                <a:effectLst/>
                <a:latin typeface="Times New Roman" panose="02020603050405020304" pitchFamily="18" charset="0"/>
                <a:ea typeface="Calibri" panose="020F0502020204030204" pitchFamily="34" charset="0"/>
                <a:cs typeface="Times New Roman" panose="02020603050405020304" pitchFamily="18" charset="0"/>
              </a:rPr>
              <a:t>, 12 puntos.</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Márgenes: 2,54 cm en toda la hoja.</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Paginación: todas las páginas deben estar numeradas, salvo la portada.</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Numeración de capítulos (títulos, subtítulos…): deben ir numerados (1, 1.1, 1.1.1, 2, 2.1, 2.1.1, etc.).</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Notas a pie de página: numeradas y en Times New </a:t>
            </a:r>
            <a:r>
              <a:rPr lang="es-ES" dirty="0" err="1">
                <a:effectLst/>
                <a:latin typeface="Times New Roman" panose="02020603050405020304" pitchFamily="18" charset="0"/>
                <a:ea typeface="Calibri" panose="020F0502020204030204" pitchFamily="34" charset="0"/>
                <a:cs typeface="Times New Roman" panose="02020603050405020304" pitchFamily="18" charset="0"/>
              </a:rPr>
              <a:t>Roman</a:t>
            </a:r>
            <a:r>
              <a:rPr lang="es-ES" dirty="0">
                <a:effectLst/>
                <a:latin typeface="Times New Roman" panose="02020603050405020304" pitchFamily="18" charset="0"/>
                <a:ea typeface="Calibri" panose="020F0502020204030204" pitchFamily="34" charset="0"/>
                <a:cs typeface="Times New Roman" panose="02020603050405020304" pitchFamily="18" charset="0"/>
              </a:rPr>
              <a:t>, 8 puntos.</a:t>
            </a:r>
          </a:p>
          <a:p>
            <a:pPr marL="914400"/>
            <a:r>
              <a:rPr lang="es-ES" dirty="0">
                <a:effectLst/>
                <a:latin typeface="Times New Roman" panose="02020603050405020304" pitchFamily="18" charset="0"/>
                <a:ea typeface="Calibri" panose="020F0502020204030204" pitchFamily="34" charset="0"/>
                <a:cs typeface="Times New Roman" panose="02020603050405020304" pitchFamily="18" charset="0"/>
              </a:rPr>
              <a:t>Gráficos, tablas, dibujos o fotografías: deben ir acompañados de su pie correspondiente y fuente.</a:t>
            </a:r>
          </a:p>
          <a:p>
            <a:pPr marL="285750" indent="-285750">
              <a:lnSpc>
                <a:spcPct val="125000"/>
              </a:lnSpc>
              <a:buFont typeface="Wingdings" panose="05000000000000000000" pitchFamily="2" charset="2"/>
              <a:buChar char="Ø"/>
            </a:pPr>
            <a:r>
              <a:rPr lang="es-ES"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¿El TFM es individual?  </a:t>
            </a:r>
            <a:r>
              <a:rPr lang="es-ES" dirty="0">
                <a:latin typeface="Times New Roman" panose="02020603050405020304" pitchFamily="18" charset="0"/>
                <a:cs typeface="Times New Roman" panose="02020603050405020304" pitchFamily="18" charset="0"/>
                <a:sym typeface="Wingdings" panose="05000000000000000000" pitchFamily="2" charset="2"/>
              </a:rPr>
              <a:t>Si, es individual</a:t>
            </a:r>
          </a:p>
          <a:p>
            <a:pPr>
              <a:lnSpc>
                <a:spcPct val="125000"/>
              </a:lnSpc>
            </a:pPr>
            <a:endParaRPr lang="es-E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617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6977" y="6631482"/>
            <a:ext cx="79441" cy="180002"/>
          </a:xfrm>
          <a:prstGeom prst="rect">
            <a:avLst/>
          </a:prstGeom>
        </p:spPr>
      </p:pic>
      <p:sp>
        <p:nvSpPr>
          <p:cNvPr id="57" name="object 57"/>
          <p:cNvSpPr/>
          <p:nvPr/>
        </p:nvSpPr>
        <p:spPr>
          <a:xfrm>
            <a:off x="3827907" y="132587"/>
            <a:ext cx="6188710" cy="594360"/>
          </a:xfrm>
          <a:custGeom>
            <a:avLst/>
            <a:gdLst/>
            <a:ahLst/>
            <a:cxnLst/>
            <a:rect l="l" t="t" r="r" b="b"/>
            <a:pathLst>
              <a:path w="6188709" h="594360">
                <a:moveTo>
                  <a:pt x="6188202" y="0"/>
                </a:moveTo>
                <a:lnTo>
                  <a:pt x="0" y="0"/>
                </a:lnTo>
                <a:lnTo>
                  <a:pt x="0" y="594232"/>
                </a:lnTo>
                <a:lnTo>
                  <a:pt x="6188202" y="594232"/>
                </a:lnTo>
                <a:lnTo>
                  <a:pt x="6188202" y="0"/>
                </a:lnTo>
                <a:close/>
              </a:path>
            </a:pathLst>
          </a:custGeom>
          <a:solidFill>
            <a:srgbClr val="FFFFFF">
              <a:alpha val="69802"/>
            </a:srgbClr>
          </a:solidFill>
        </p:spPr>
        <p:txBody>
          <a:bodyPr wrap="square" lIns="0" tIns="0" rIns="0" bIns="0" rtlCol="0"/>
          <a:lstStyle/>
          <a:p>
            <a:endParaRPr/>
          </a:p>
        </p:txBody>
      </p:sp>
      <p:sp>
        <p:nvSpPr>
          <p:cNvPr id="58" name="object 58"/>
          <p:cNvSpPr/>
          <p:nvPr/>
        </p:nvSpPr>
        <p:spPr>
          <a:xfrm>
            <a:off x="3569461" y="132587"/>
            <a:ext cx="0" cy="594360"/>
          </a:xfrm>
          <a:custGeom>
            <a:avLst/>
            <a:gdLst/>
            <a:ahLst/>
            <a:cxnLst/>
            <a:rect l="l" t="t" r="r" b="b"/>
            <a:pathLst>
              <a:path h="594360">
                <a:moveTo>
                  <a:pt x="0" y="0"/>
                </a:moveTo>
                <a:lnTo>
                  <a:pt x="0" y="594232"/>
                </a:lnTo>
              </a:path>
            </a:pathLst>
          </a:custGeom>
          <a:ln w="76200">
            <a:solidFill>
              <a:srgbClr val="005FAE"/>
            </a:solidFill>
          </a:ln>
        </p:spPr>
        <p:txBody>
          <a:bodyPr wrap="square" lIns="0" tIns="0" rIns="0" bIns="0" rtlCol="0"/>
          <a:lstStyle/>
          <a:p>
            <a:endParaRPr/>
          </a:p>
        </p:txBody>
      </p:sp>
      <p:sp>
        <p:nvSpPr>
          <p:cNvPr id="59" name="object 59"/>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s-ES" spc="-10" dirty="0"/>
              <a:t>FAQ</a:t>
            </a:r>
            <a:endParaRPr spc="-25" dirty="0"/>
          </a:p>
        </p:txBody>
      </p:sp>
      <p:sp>
        <p:nvSpPr>
          <p:cNvPr id="60" name="object 6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solidFill>
                  <a:srgbClr val="F1F1F1"/>
                </a:solidFill>
              </a:rPr>
              <a:t>20</a:t>
            </a:fld>
            <a:endParaRPr spc="-50" dirty="0">
              <a:solidFill>
                <a:srgbClr val="F1F1F1"/>
              </a:solidFill>
            </a:endParaRPr>
          </a:p>
        </p:txBody>
      </p:sp>
      <p:sp>
        <p:nvSpPr>
          <p:cNvPr id="61" name="object 61"/>
          <p:cNvSpPr txBox="1">
            <a:spLocks noGrp="1"/>
          </p:cNvSpPr>
          <p:nvPr>
            <p:ph type="ftr" sz="quarter" idx="5"/>
          </p:nvPr>
        </p:nvSpPr>
        <p:spPr>
          <a:prstGeom prst="rect">
            <a:avLst/>
          </a:prstGeom>
        </p:spPr>
        <p:txBody>
          <a:bodyPr vert="horz" wrap="square" lIns="0" tIns="0" rIns="0" bIns="0" rtlCol="0">
            <a:spAutoFit/>
          </a:bodyPr>
          <a:lstStyle/>
          <a:p>
            <a:pPr marL="24765">
              <a:lnSpc>
                <a:spcPts val="1240"/>
              </a:lnSpc>
            </a:pPr>
            <a:r>
              <a:rPr b="0" dirty="0">
                <a:solidFill>
                  <a:srgbClr val="F1F1F1"/>
                </a:solidFill>
                <a:latin typeface="Calibri"/>
                <a:cs typeface="Calibri"/>
              </a:rPr>
              <a:t>BUSINESS</a:t>
            </a:r>
            <a:r>
              <a:rPr b="0" spc="-10" dirty="0">
                <a:solidFill>
                  <a:srgbClr val="F1F1F1"/>
                </a:solidFill>
                <a:latin typeface="Calibri"/>
                <a:cs typeface="Calibri"/>
              </a:rPr>
              <a:t> </a:t>
            </a:r>
            <a:r>
              <a:rPr b="0" dirty="0">
                <a:solidFill>
                  <a:srgbClr val="F1F1F1"/>
                </a:solidFill>
                <a:latin typeface="Calibri"/>
                <a:cs typeface="Calibri"/>
              </a:rPr>
              <a:t>&amp;</a:t>
            </a:r>
            <a:r>
              <a:rPr b="0" spc="-25" dirty="0">
                <a:solidFill>
                  <a:srgbClr val="F1F1F1"/>
                </a:solidFill>
                <a:latin typeface="Calibri"/>
                <a:cs typeface="Calibri"/>
              </a:rPr>
              <a:t> </a:t>
            </a:r>
            <a:r>
              <a:rPr b="0" spc="-20" dirty="0">
                <a:solidFill>
                  <a:srgbClr val="F1F1F1"/>
                </a:solidFill>
                <a:latin typeface="Calibri"/>
                <a:cs typeface="Calibri"/>
              </a:rPr>
              <a:t>TECH</a:t>
            </a:r>
          </a:p>
        </p:txBody>
      </p:sp>
      <p:sp>
        <p:nvSpPr>
          <p:cNvPr id="63" name="CuadroTexto 62">
            <a:extLst>
              <a:ext uri="{FF2B5EF4-FFF2-40B4-BE49-F238E27FC236}">
                <a16:creationId xmlns:a16="http://schemas.microsoft.com/office/drawing/2014/main" id="{28097813-DCF9-4A29-A420-2F5CE47F3673}"/>
              </a:ext>
            </a:extLst>
          </p:cNvPr>
          <p:cNvSpPr txBox="1"/>
          <p:nvPr/>
        </p:nvSpPr>
        <p:spPr>
          <a:xfrm>
            <a:off x="381000" y="914400"/>
            <a:ext cx="10058398" cy="6001643"/>
          </a:xfrm>
          <a:prstGeom prst="rect">
            <a:avLst/>
          </a:prstGeom>
          <a:noFill/>
        </p:spPr>
        <p:txBody>
          <a:bodyPr wrap="square">
            <a:spAutoFit/>
          </a:bodyPr>
          <a:lstStyle/>
          <a:p>
            <a:pPr marL="342900" lvl="0" indent="-342900">
              <a:buFont typeface="Wingdings" panose="05000000000000000000" pitchFamily="2" charset="2"/>
              <a:buChar char=""/>
              <a:tabLst>
                <a:tab pos="457200" algn="l"/>
              </a:tabLst>
            </a:pPr>
            <a:r>
              <a:rPr lang="es-ES" sz="1600" b="1" dirty="0">
                <a:effectLst/>
                <a:latin typeface="Times New Roman" panose="02020603050405020304" pitchFamily="18" charset="0"/>
                <a:ea typeface="Times New Roman" panose="02020603050405020304" pitchFamily="18" charset="0"/>
                <a:cs typeface="Times New Roman" panose="02020603050405020304" pitchFamily="18" charset="0"/>
              </a:rPr>
              <a:t>¿Disponemos de alguna herramienta de evaluación de plagio, como </a:t>
            </a:r>
            <a:r>
              <a:rPr lang="es-ES" sz="1600" b="1" dirty="0" err="1">
                <a:effectLst/>
                <a:latin typeface="Times New Roman" panose="02020603050405020304" pitchFamily="18" charset="0"/>
                <a:ea typeface="Times New Roman" panose="02020603050405020304" pitchFamily="18" charset="0"/>
                <a:cs typeface="Times New Roman" panose="02020603050405020304" pitchFamily="18" charset="0"/>
              </a:rPr>
              <a:t>Turnitin</a:t>
            </a:r>
            <a:r>
              <a:rPr lang="es-E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Si, </a:t>
            </a:r>
            <a:r>
              <a:rPr lang="es-ES" sz="1600" dirty="0" err="1">
                <a:effectLst/>
                <a:latin typeface="Times New Roman" panose="02020603050405020304" pitchFamily="18" charset="0"/>
                <a:ea typeface="Times New Roman" panose="02020603050405020304" pitchFamily="18" charset="0"/>
                <a:cs typeface="Times New Roman" panose="02020603050405020304" pitchFamily="18" charset="0"/>
              </a:rPr>
              <a:t>Turnitin</a:t>
            </a: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
              <a:tabLst>
                <a:tab pos="9144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Todo contenido que no es nuevo es no inédito. En síntesis, es el que aparece cuando:</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Se presenta como propio algo copiado.</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Se evita hacer referencia a la persona que ostenta la autoría de una obra que ha sido reproducida, ya sea de manera literal, insertando un extracto de ese documento, o indirecta, parafraseando sus partes.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Recurre a otra persona para que realice un trabajo que, posteriormente, se presenta como propio.</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
              <a:tabLst>
                <a:tab pos="9144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La estrategia más eficaz para combatir el contenido no inédito es la creación literaria. Para ello, podemos seguir las siguientes instrucciones: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Lo primero es tener clara la idea que se quiere transmitir.</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Después buscamos fuentes que apoyen y complementen esa idea.</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Finalmente, elaboramos un texto integrando todo lo señalado y escrito con nuestras propias palabras.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
              <a:tabLst>
                <a:tab pos="9144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Mediante la elaboración de un trabajo académico evidenciamos las competencias adquiridas durante el curso de una titulación, es decir, aquello de lo que sabemos hacer y las nuevas ideas que proponemos para atender o dar solución a algún cuestionamiento o inquietud relacionada con el área de conocimiento. Es decir, estamos generando nuevo conocimiento. Por ello, tiene que ser original, además de inédito. No obstante, que esto sea así no implica que no pueda estar documentado. De hecho, esa es la primera piedra y el fundamento de lo que, posteriormente, vamos a proponer. La clave estará en respetar la autoría de las creaciones de los demás.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
              <a:tabLst>
                <a:tab pos="9144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Por ello, recuerda las ventajas que tiene ser original:</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Contribuye a tu progreso profesional.</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Aumenta tu formación y tu nivel de aprendizaje.</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Facilita tu madurez, autonomía e iniciativa.</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Desarrolla aspectos relacionados con la honradez.</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Aporta más valor a tus creaciones.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buFont typeface="Wingdings" panose="05000000000000000000" pitchFamily="2" charset="2"/>
              <a:buChar char=""/>
              <a:tabLst>
                <a:tab pos="1371600" algn="l"/>
              </a:tabLst>
            </a:pPr>
            <a:r>
              <a:rPr lang="es-ES" sz="1600" dirty="0">
                <a:effectLst/>
                <a:latin typeface="Times New Roman" panose="02020603050405020304" pitchFamily="18" charset="0"/>
                <a:ea typeface="Times New Roman" panose="02020603050405020304" pitchFamily="18" charset="0"/>
                <a:cs typeface="Times New Roman" panose="02020603050405020304" pitchFamily="18" charset="0"/>
              </a:rPr>
              <a:t>No perjudicas a terceras personas ni a ti por las posibles sanciones que puedan derivarse de los plagios.</a:t>
            </a:r>
            <a:endParaRPr lang="es-E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399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36237" y="3019443"/>
            <a:ext cx="645795" cy="817880"/>
          </a:xfrm>
          <a:custGeom>
            <a:avLst/>
            <a:gdLst/>
            <a:ahLst/>
            <a:cxnLst/>
            <a:rect l="l" t="t" r="r" b="b"/>
            <a:pathLst>
              <a:path w="645795" h="817879">
                <a:moveTo>
                  <a:pt x="645173" y="0"/>
                </a:moveTo>
                <a:lnTo>
                  <a:pt x="509412" y="0"/>
                </a:lnTo>
                <a:lnTo>
                  <a:pt x="509412" y="499730"/>
                </a:lnTo>
                <a:lnTo>
                  <a:pt x="508456" y="521479"/>
                </a:lnTo>
                <a:lnTo>
                  <a:pt x="500884" y="561613"/>
                </a:lnTo>
                <a:lnTo>
                  <a:pt x="486103" y="597058"/>
                </a:lnTo>
                <a:lnTo>
                  <a:pt x="453072" y="640354"/>
                </a:lnTo>
                <a:lnTo>
                  <a:pt x="409685" y="670755"/>
                </a:lnTo>
                <a:lnTo>
                  <a:pt x="358788" y="687899"/>
                </a:lnTo>
                <a:lnTo>
                  <a:pt x="322457" y="691068"/>
                </a:lnTo>
                <a:lnTo>
                  <a:pt x="304540" y="690296"/>
                </a:lnTo>
                <a:lnTo>
                  <a:pt x="252282" y="678519"/>
                </a:lnTo>
                <a:lnTo>
                  <a:pt x="205890" y="652441"/>
                </a:lnTo>
                <a:lnTo>
                  <a:pt x="168913" y="613331"/>
                </a:lnTo>
                <a:lnTo>
                  <a:pt x="144132" y="562118"/>
                </a:lnTo>
                <a:lnTo>
                  <a:pt x="136448" y="521776"/>
                </a:lnTo>
                <a:lnTo>
                  <a:pt x="135488" y="0"/>
                </a:lnTo>
                <a:lnTo>
                  <a:pt x="0" y="0"/>
                </a:lnTo>
                <a:lnTo>
                  <a:pt x="0" y="503062"/>
                </a:lnTo>
                <a:lnTo>
                  <a:pt x="2545" y="549168"/>
                </a:lnTo>
                <a:lnTo>
                  <a:pt x="10181" y="592200"/>
                </a:lnTo>
                <a:lnTo>
                  <a:pt x="22907" y="632157"/>
                </a:lnTo>
                <a:lnTo>
                  <a:pt x="40725" y="669042"/>
                </a:lnTo>
                <a:lnTo>
                  <a:pt x="63099" y="702268"/>
                </a:lnTo>
                <a:lnTo>
                  <a:pt x="89483" y="731604"/>
                </a:lnTo>
                <a:lnTo>
                  <a:pt x="119853" y="757002"/>
                </a:lnTo>
                <a:lnTo>
                  <a:pt x="154186" y="778414"/>
                </a:lnTo>
                <a:lnTo>
                  <a:pt x="191932" y="795560"/>
                </a:lnTo>
                <a:lnTo>
                  <a:pt x="232559" y="807807"/>
                </a:lnTo>
                <a:lnTo>
                  <a:pt x="276068" y="815155"/>
                </a:lnTo>
                <a:lnTo>
                  <a:pt x="322457" y="817604"/>
                </a:lnTo>
                <a:lnTo>
                  <a:pt x="368840" y="815155"/>
                </a:lnTo>
                <a:lnTo>
                  <a:pt x="412349" y="807807"/>
                </a:lnTo>
                <a:lnTo>
                  <a:pt x="452981" y="795560"/>
                </a:lnTo>
                <a:lnTo>
                  <a:pt x="490735" y="778414"/>
                </a:lnTo>
                <a:lnTo>
                  <a:pt x="525072" y="757002"/>
                </a:lnTo>
                <a:lnTo>
                  <a:pt x="555444" y="731604"/>
                </a:lnTo>
                <a:lnTo>
                  <a:pt x="581827" y="702268"/>
                </a:lnTo>
                <a:lnTo>
                  <a:pt x="604199" y="669042"/>
                </a:lnTo>
                <a:lnTo>
                  <a:pt x="622053" y="632158"/>
                </a:lnTo>
                <a:lnTo>
                  <a:pt x="634866" y="592200"/>
                </a:lnTo>
                <a:lnTo>
                  <a:pt x="642588" y="549168"/>
                </a:lnTo>
                <a:lnTo>
                  <a:pt x="645173" y="503062"/>
                </a:lnTo>
                <a:lnTo>
                  <a:pt x="645173" y="0"/>
                </a:lnTo>
                <a:close/>
              </a:path>
            </a:pathLst>
          </a:custGeom>
          <a:solidFill>
            <a:srgbClr val="F5F5F5"/>
          </a:solidFill>
        </p:spPr>
        <p:txBody>
          <a:bodyPr wrap="square" lIns="0" tIns="0" rIns="0" bIns="0" rtlCol="0"/>
          <a:lstStyle/>
          <a:p>
            <a:endParaRPr/>
          </a:p>
        </p:txBody>
      </p:sp>
      <p:sp>
        <p:nvSpPr>
          <p:cNvPr id="3" name="object 3"/>
          <p:cNvSpPr/>
          <p:nvPr/>
        </p:nvSpPr>
        <p:spPr>
          <a:xfrm>
            <a:off x="4647984" y="3019450"/>
            <a:ext cx="1442085" cy="800735"/>
          </a:xfrm>
          <a:custGeom>
            <a:avLst/>
            <a:gdLst/>
            <a:ahLst/>
            <a:cxnLst/>
            <a:rect l="l" t="t" r="r" b="b"/>
            <a:pathLst>
              <a:path w="1442085" h="800735">
                <a:moveTo>
                  <a:pt x="701522" y="800696"/>
                </a:moveTo>
                <a:lnTo>
                  <a:pt x="646823" y="627291"/>
                </a:lnTo>
                <a:lnTo>
                  <a:pt x="607314" y="502031"/>
                </a:lnTo>
                <a:lnTo>
                  <a:pt x="489775" y="129349"/>
                </a:lnTo>
                <a:lnTo>
                  <a:pt x="468198" y="60934"/>
                </a:lnTo>
                <a:lnTo>
                  <a:pt x="468198" y="502031"/>
                </a:lnTo>
                <a:lnTo>
                  <a:pt x="232054" y="502031"/>
                </a:lnTo>
                <a:lnTo>
                  <a:pt x="349377" y="129349"/>
                </a:lnTo>
                <a:lnTo>
                  <a:pt x="468198" y="502031"/>
                </a:lnTo>
                <a:lnTo>
                  <a:pt x="468198" y="60934"/>
                </a:lnTo>
                <a:lnTo>
                  <a:pt x="448983" y="0"/>
                </a:lnTo>
                <a:lnTo>
                  <a:pt x="252539" y="0"/>
                </a:lnTo>
                <a:lnTo>
                  <a:pt x="0" y="800696"/>
                </a:lnTo>
                <a:lnTo>
                  <a:pt x="138049" y="800696"/>
                </a:lnTo>
                <a:lnTo>
                  <a:pt x="192620" y="627291"/>
                </a:lnTo>
                <a:lnTo>
                  <a:pt x="508152" y="627291"/>
                </a:lnTo>
                <a:lnTo>
                  <a:pt x="563473" y="800696"/>
                </a:lnTo>
                <a:lnTo>
                  <a:pt x="701522" y="800696"/>
                </a:lnTo>
                <a:close/>
              </a:path>
              <a:path w="1442085" h="800735">
                <a:moveTo>
                  <a:pt x="1088275" y="400354"/>
                </a:moveTo>
                <a:lnTo>
                  <a:pt x="900036" y="0"/>
                </a:lnTo>
                <a:lnTo>
                  <a:pt x="734847" y="0"/>
                </a:lnTo>
                <a:lnTo>
                  <a:pt x="923086" y="400354"/>
                </a:lnTo>
                <a:lnTo>
                  <a:pt x="734847" y="800696"/>
                </a:lnTo>
                <a:lnTo>
                  <a:pt x="900036" y="800696"/>
                </a:lnTo>
                <a:lnTo>
                  <a:pt x="1088275" y="400354"/>
                </a:lnTo>
                <a:close/>
              </a:path>
              <a:path w="1442085" h="800735">
                <a:moveTo>
                  <a:pt x="1441716" y="0"/>
                </a:moveTo>
                <a:lnTo>
                  <a:pt x="1276527" y="0"/>
                </a:lnTo>
                <a:lnTo>
                  <a:pt x="1088275" y="400354"/>
                </a:lnTo>
                <a:lnTo>
                  <a:pt x="1276527" y="800696"/>
                </a:lnTo>
                <a:lnTo>
                  <a:pt x="1441716" y="800696"/>
                </a:lnTo>
                <a:lnTo>
                  <a:pt x="1253477" y="400354"/>
                </a:lnTo>
                <a:lnTo>
                  <a:pt x="1441716" y="0"/>
                </a:lnTo>
                <a:close/>
              </a:path>
            </a:pathLst>
          </a:custGeom>
          <a:solidFill>
            <a:srgbClr val="F5F5F5"/>
          </a:solidFill>
        </p:spPr>
        <p:txBody>
          <a:bodyPr wrap="square" lIns="0" tIns="0" rIns="0" bIns="0" rtlCol="0"/>
          <a:lstStyle/>
          <a:p>
            <a:endParaRPr/>
          </a:p>
        </p:txBody>
      </p:sp>
      <p:grpSp>
        <p:nvGrpSpPr>
          <p:cNvPr id="4" name="object 4"/>
          <p:cNvGrpSpPr/>
          <p:nvPr/>
        </p:nvGrpSpPr>
        <p:grpSpPr>
          <a:xfrm>
            <a:off x="6255174" y="3419798"/>
            <a:ext cx="1311910" cy="404495"/>
            <a:chOff x="6255174" y="3419798"/>
            <a:chExt cx="1311910" cy="404495"/>
          </a:xfrm>
        </p:grpSpPr>
        <p:sp>
          <p:nvSpPr>
            <p:cNvPr id="5" name="object 5"/>
            <p:cNvSpPr/>
            <p:nvPr/>
          </p:nvSpPr>
          <p:spPr>
            <a:xfrm>
              <a:off x="7118286" y="3419805"/>
              <a:ext cx="27940" cy="169545"/>
            </a:xfrm>
            <a:custGeom>
              <a:avLst/>
              <a:gdLst/>
              <a:ahLst/>
              <a:cxnLst/>
              <a:rect l="l" t="t" r="r" b="b"/>
              <a:pathLst>
                <a:path w="27940" h="169545">
                  <a:moveTo>
                    <a:pt x="27660" y="44310"/>
                  </a:moveTo>
                  <a:lnTo>
                    <a:pt x="0" y="44310"/>
                  </a:lnTo>
                  <a:lnTo>
                    <a:pt x="0" y="169303"/>
                  </a:lnTo>
                  <a:lnTo>
                    <a:pt x="27660" y="169303"/>
                  </a:lnTo>
                  <a:lnTo>
                    <a:pt x="27660" y="44310"/>
                  </a:lnTo>
                  <a:close/>
                </a:path>
                <a:path w="27940" h="169545">
                  <a:moveTo>
                    <a:pt x="27660" y="0"/>
                  </a:moveTo>
                  <a:lnTo>
                    <a:pt x="0" y="0"/>
                  </a:lnTo>
                  <a:lnTo>
                    <a:pt x="0" y="25361"/>
                  </a:lnTo>
                  <a:lnTo>
                    <a:pt x="27660" y="25361"/>
                  </a:lnTo>
                  <a:lnTo>
                    <a:pt x="27660" y="0"/>
                  </a:lnTo>
                  <a:close/>
                </a:path>
              </a:pathLst>
            </a:custGeom>
            <a:solidFill>
              <a:srgbClr val="F5F5F5"/>
            </a:solidFill>
          </p:spPr>
          <p:txBody>
            <a:bodyPr wrap="square" lIns="0" tIns="0" rIns="0" bIns="0" rtlCol="0"/>
            <a:lstStyle/>
            <a:p>
              <a:endParaRPr/>
            </a:p>
          </p:txBody>
        </p:sp>
        <p:pic>
          <p:nvPicPr>
            <p:cNvPr id="6" name="object 6"/>
            <p:cNvPicPr/>
            <p:nvPr/>
          </p:nvPicPr>
          <p:blipFill>
            <a:blip r:embed="rId2" cstate="print"/>
            <a:stretch>
              <a:fillRect/>
            </a:stretch>
          </p:blipFill>
          <p:spPr>
            <a:xfrm>
              <a:off x="7173885" y="3422597"/>
              <a:ext cx="117049" cy="169833"/>
            </a:xfrm>
            <a:prstGeom prst="rect">
              <a:avLst/>
            </a:prstGeom>
          </p:spPr>
        </p:pic>
        <p:pic>
          <p:nvPicPr>
            <p:cNvPr id="7" name="object 7"/>
            <p:cNvPicPr/>
            <p:nvPr/>
          </p:nvPicPr>
          <p:blipFill>
            <a:blip r:embed="rId3" cstate="print"/>
            <a:stretch>
              <a:fillRect/>
            </a:stretch>
          </p:blipFill>
          <p:spPr>
            <a:xfrm>
              <a:off x="6255174" y="3419798"/>
              <a:ext cx="851615" cy="403931"/>
            </a:xfrm>
            <a:prstGeom prst="rect">
              <a:avLst/>
            </a:prstGeom>
          </p:spPr>
        </p:pic>
        <p:pic>
          <p:nvPicPr>
            <p:cNvPr id="8" name="object 8"/>
            <p:cNvPicPr/>
            <p:nvPr/>
          </p:nvPicPr>
          <p:blipFill>
            <a:blip r:embed="rId4" cstate="print"/>
            <a:stretch>
              <a:fillRect/>
            </a:stretch>
          </p:blipFill>
          <p:spPr>
            <a:xfrm>
              <a:off x="7316270" y="3460765"/>
              <a:ext cx="110152" cy="131665"/>
            </a:xfrm>
            <a:prstGeom prst="rect">
              <a:avLst/>
            </a:prstGeom>
          </p:spPr>
        </p:pic>
        <p:pic>
          <p:nvPicPr>
            <p:cNvPr id="9" name="object 9"/>
            <p:cNvPicPr/>
            <p:nvPr/>
          </p:nvPicPr>
          <p:blipFill>
            <a:blip r:embed="rId5" cstate="print"/>
            <a:stretch>
              <a:fillRect/>
            </a:stretch>
          </p:blipFill>
          <p:spPr>
            <a:xfrm>
              <a:off x="7449471" y="3422597"/>
              <a:ext cx="117288" cy="169833"/>
            </a:xfrm>
            <a:prstGeom prst="rect">
              <a:avLst/>
            </a:prstGeom>
          </p:spPr>
        </p:pic>
        <p:pic>
          <p:nvPicPr>
            <p:cNvPr id="10" name="object 10"/>
            <p:cNvPicPr/>
            <p:nvPr/>
          </p:nvPicPr>
          <p:blipFill>
            <a:blip r:embed="rId6" cstate="print"/>
            <a:stretch>
              <a:fillRect/>
            </a:stretch>
          </p:blipFill>
          <p:spPr>
            <a:xfrm>
              <a:off x="7390809" y="3691815"/>
              <a:ext cx="120407" cy="131914"/>
            </a:xfrm>
            <a:prstGeom prst="rect">
              <a:avLst/>
            </a:prstGeom>
          </p:spPr>
        </p:pic>
        <p:sp>
          <p:nvSpPr>
            <p:cNvPr id="11" name="object 11"/>
            <p:cNvSpPr/>
            <p:nvPr/>
          </p:nvSpPr>
          <p:spPr>
            <a:xfrm>
              <a:off x="7539102" y="3650321"/>
              <a:ext cx="27940" cy="170180"/>
            </a:xfrm>
            <a:custGeom>
              <a:avLst/>
              <a:gdLst/>
              <a:ahLst/>
              <a:cxnLst/>
              <a:rect l="l" t="t" r="r" b="b"/>
              <a:pathLst>
                <a:path w="27940" h="170179">
                  <a:moveTo>
                    <a:pt x="27930" y="0"/>
                  </a:moveTo>
                  <a:lnTo>
                    <a:pt x="0" y="0"/>
                  </a:lnTo>
                  <a:lnTo>
                    <a:pt x="0" y="169821"/>
                  </a:lnTo>
                  <a:lnTo>
                    <a:pt x="27930" y="169821"/>
                  </a:lnTo>
                  <a:lnTo>
                    <a:pt x="27930" y="0"/>
                  </a:lnTo>
                  <a:close/>
                </a:path>
              </a:pathLst>
            </a:custGeom>
            <a:solidFill>
              <a:srgbClr val="F5F5F5"/>
            </a:solidFill>
          </p:spPr>
          <p:txBody>
            <a:bodyPr wrap="square" lIns="0" tIns="0" rIns="0" bIns="0" rtlCol="0"/>
            <a:lstStyle/>
            <a:p>
              <a:endParaRPr/>
            </a:p>
          </p:txBody>
        </p:sp>
      </p:grpSp>
      <p:grpSp>
        <p:nvGrpSpPr>
          <p:cNvPr id="12" name="object 12"/>
          <p:cNvGrpSpPr/>
          <p:nvPr/>
        </p:nvGrpSpPr>
        <p:grpSpPr>
          <a:xfrm>
            <a:off x="7640547" y="3650577"/>
            <a:ext cx="617220" cy="173355"/>
            <a:chOff x="7640547" y="3650577"/>
            <a:chExt cx="617220" cy="173355"/>
          </a:xfrm>
        </p:grpSpPr>
        <p:pic>
          <p:nvPicPr>
            <p:cNvPr id="13" name="object 13"/>
            <p:cNvPicPr/>
            <p:nvPr/>
          </p:nvPicPr>
          <p:blipFill>
            <a:blip r:embed="rId7" cstate="print"/>
            <a:stretch>
              <a:fillRect/>
            </a:stretch>
          </p:blipFill>
          <p:spPr>
            <a:xfrm>
              <a:off x="7640547" y="3650577"/>
              <a:ext cx="262508" cy="173151"/>
            </a:xfrm>
            <a:prstGeom prst="rect">
              <a:avLst/>
            </a:prstGeom>
          </p:spPr>
        </p:pic>
        <p:pic>
          <p:nvPicPr>
            <p:cNvPr id="14" name="object 14"/>
            <p:cNvPicPr/>
            <p:nvPr/>
          </p:nvPicPr>
          <p:blipFill>
            <a:blip r:embed="rId8" cstate="print"/>
            <a:stretch>
              <a:fillRect/>
            </a:stretch>
          </p:blipFill>
          <p:spPr>
            <a:xfrm>
              <a:off x="7932762" y="3653650"/>
              <a:ext cx="117049" cy="170078"/>
            </a:xfrm>
            <a:prstGeom prst="rect">
              <a:avLst/>
            </a:prstGeom>
          </p:spPr>
        </p:pic>
        <p:sp>
          <p:nvSpPr>
            <p:cNvPr id="15" name="object 15"/>
            <p:cNvSpPr/>
            <p:nvPr/>
          </p:nvSpPr>
          <p:spPr>
            <a:xfrm>
              <a:off x="8077733" y="3650843"/>
              <a:ext cx="27940" cy="169545"/>
            </a:xfrm>
            <a:custGeom>
              <a:avLst/>
              <a:gdLst/>
              <a:ahLst/>
              <a:cxnLst/>
              <a:rect l="l" t="t" r="r" b="b"/>
              <a:pathLst>
                <a:path w="27940" h="169545">
                  <a:moveTo>
                    <a:pt x="27660" y="44564"/>
                  </a:moveTo>
                  <a:lnTo>
                    <a:pt x="0" y="44564"/>
                  </a:lnTo>
                  <a:lnTo>
                    <a:pt x="0" y="169303"/>
                  </a:lnTo>
                  <a:lnTo>
                    <a:pt x="27660" y="169303"/>
                  </a:lnTo>
                  <a:lnTo>
                    <a:pt x="27660" y="44564"/>
                  </a:lnTo>
                  <a:close/>
                </a:path>
                <a:path w="27940" h="169545">
                  <a:moveTo>
                    <a:pt x="27660" y="0"/>
                  </a:moveTo>
                  <a:lnTo>
                    <a:pt x="0" y="0"/>
                  </a:lnTo>
                  <a:lnTo>
                    <a:pt x="0" y="25615"/>
                  </a:lnTo>
                  <a:lnTo>
                    <a:pt x="27660" y="25615"/>
                  </a:lnTo>
                  <a:lnTo>
                    <a:pt x="27660" y="0"/>
                  </a:lnTo>
                  <a:close/>
                </a:path>
              </a:pathLst>
            </a:custGeom>
            <a:solidFill>
              <a:srgbClr val="F5F5F5"/>
            </a:solidFill>
          </p:spPr>
          <p:txBody>
            <a:bodyPr wrap="square" lIns="0" tIns="0" rIns="0" bIns="0" rtlCol="0"/>
            <a:lstStyle/>
            <a:p>
              <a:endParaRPr/>
            </a:p>
          </p:txBody>
        </p:sp>
        <p:pic>
          <p:nvPicPr>
            <p:cNvPr id="16" name="object 16"/>
            <p:cNvPicPr/>
            <p:nvPr/>
          </p:nvPicPr>
          <p:blipFill>
            <a:blip r:embed="rId9" cstate="print"/>
            <a:stretch>
              <a:fillRect/>
            </a:stretch>
          </p:blipFill>
          <p:spPr>
            <a:xfrm>
              <a:off x="8133331" y="3691815"/>
              <a:ext cx="124186" cy="131914"/>
            </a:xfrm>
            <a:prstGeom prst="rect">
              <a:avLst/>
            </a:prstGeom>
          </p:spPr>
        </p:pic>
      </p:grpSp>
      <p:pic>
        <p:nvPicPr>
          <p:cNvPr id="17" name="object 17"/>
          <p:cNvPicPr/>
          <p:nvPr/>
        </p:nvPicPr>
        <p:blipFill>
          <a:blip r:embed="rId10" cstate="print"/>
          <a:stretch>
            <a:fillRect/>
          </a:stretch>
        </p:blipFill>
        <p:spPr>
          <a:xfrm>
            <a:off x="7175421" y="3653650"/>
            <a:ext cx="146756" cy="1664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E0A66EC8752BA240A04E1D83DFE9E9DE" ma:contentTypeVersion="4" ma:contentTypeDescription="Crear nuevo documento." ma:contentTypeScope="" ma:versionID="71c7a9d99aff2a3b34608cb48fd62018">
  <xsd:schema xmlns:xsd="http://www.w3.org/2001/XMLSchema" xmlns:xs="http://www.w3.org/2001/XMLSchema" xmlns:p="http://schemas.microsoft.com/office/2006/metadata/properties" xmlns:ns2="7b81ae21-8d93-4743-a53f-6aa9b26ba155" targetNamespace="http://schemas.microsoft.com/office/2006/metadata/properties" ma:root="true" ma:fieldsID="9cb12007014382f8223d963360d515c9" ns2:_="">
    <xsd:import namespace="7b81ae21-8d93-4743-a53f-6aa9b26ba15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81ae21-8d93-4743-a53f-6aa9b26ba1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7DCE4F-D78B-4B4A-A9D2-ECF9736BA90C}">
  <ds:schemaRefs>
    <ds:schemaRef ds:uri="http://www.w3.org/XML/1998/namespace"/>
    <ds:schemaRef ds:uri="http://purl.org/dc/terms/"/>
    <ds:schemaRef ds:uri="http://schemas.microsoft.com/office/2006/metadata/propertie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7b81ae21-8d93-4743-a53f-6aa9b26ba155"/>
    <ds:schemaRef ds:uri="http://purl.org/dc/elements/1.1/"/>
  </ds:schemaRefs>
</ds:datastoreItem>
</file>

<file path=customXml/itemProps2.xml><?xml version="1.0" encoding="utf-8"?>
<ds:datastoreItem xmlns:ds="http://schemas.openxmlformats.org/officeDocument/2006/customXml" ds:itemID="{55053A20-E1E9-4C58-9D7B-C2A46C25B6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81ae21-8d93-4743-a53f-6aa9b26ba1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3C7E4F-6F42-43B9-86FE-D0C53C8EA9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1867</TotalTime>
  <Words>2290</Words>
  <Application>Microsoft Office PowerPoint</Application>
  <PresentationFormat>Panorámica</PresentationFormat>
  <Paragraphs>268</Paragraphs>
  <Slides>21</Slides>
  <Notes>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21</vt:i4>
      </vt:variant>
    </vt:vector>
  </HeadingPairs>
  <TitlesOfParts>
    <vt:vector size="30" baseType="lpstr">
      <vt:lpstr>Aptos</vt:lpstr>
      <vt:lpstr>Arial</vt:lpstr>
      <vt:lpstr>Calibri</vt:lpstr>
      <vt:lpstr>Courier New</vt:lpstr>
      <vt:lpstr>Montserrat</vt:lpstr>
      <vt:lpstr>Segoe WPC</vt:lpstr>
      <vt:lpstr>Times New Roman</vt:lpstr>
      <vt:lpstr>Wingdings</vt:lpstr>
      <vt:lpstr>Office Theme</vt:lpstr>
      <vt:lpstr>Presentación de PowerPoint</vt:lpstr>
      <vt:lpstr>¿En qué medida un RAG híbrido reduce las alucinaciones y mejora la calidad frente a un LLM sin recuperación, en dominio normativo agrícola PAC/POSEI / asesoría canaria?</vt:lpstr>
      <vt:lpstr>ÍNDICE</vt:lpstr>
      <vt:lpstr>Problema y Motivación</vt:lpstr>
      <vt:lpstr>AgroPS</vt:lpstr>
      <vt:lpstr>Técnicas de AI</vt:lpstr>
      <vt:lpstr>Técnicas de AI</vt:lpstr>
      <vt:lpstr>Técnicas de AI</vt:lpstr>
      <vt:lpstr>Patrones de Software / Arquitectura</vt:lpstr>
      <vt:lpstr>MECANISMOS ANTI-ALUCINACIÓN</vt:lpstr>
      <vt:lpstr>RESULTADOS CLAVE</vt:lpstr>
      <vt:lpstr>Banco de Preguntas</vt:lpstr>
      <vt:lpstr>Flujo de Alto Nivel</vt:lpstr>
      <vt:lpstr>Resumen del proceso</vt:lpstr>
      <vt:lpstr>Estado del Arte</vt:lpstr>
      <vt:lpstr>Estado del Arte</vt:lpstr>
      <vt:lpstr>Bibliografía</vt:lpstr>
      <vt:lpstr>FAQ</vt:lpstr>
      <vt:lpstr>FAQ</vt:lpstr>
      <vt:lpstr>FAQ</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Alfredo Gonzalez</dc:creator>
  <cp:lastModifiedBy>Samuel Lorenzo Sanchez</cp:lastModifiedBy>
  <cp:revision>42</cp:revision>
  <dcterms:created xsi:type="dcterms:W3CDTF">2025-01-26T21:24:52Z</dcterms:created>
  <dcterms:modified xsi:type="dcterms:W3CDTF">2026-08-25T09:20:06Z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2024-11-13T00:00:00Z</vt:filetime>
  </property>
  <property fmtid="{D5CDD505-2E9C-101B-9397-08002B2CF9AE}" pid="3" name="Creator">
    <vt:lpwstr>Microsoft® PowerPoint® 2021</vt:lpwstr>
  </property>
  <property fmtid="{D5CDD505-2E9C-101B-9397-08002B2CF9AE}" pid="4" name="LastSaved">
    <vt:filetime>2025-01-26T00:00:00Z</vt:filetime>
  </property>
  <property fmtid="{D5CDD505-2E9C-101B-9397-08002B2CF9AE}" pid="5" name="Producer">
    <vt:lpwstr>Microsoft® PowerPoint® 2021</vt:lpwstr>
  </property>
  <property fmtid="{D5CDD505-2E9C-101B-9397-08002B2CF9AE}" pid="6" name="ContentTypeId">
    <vt:lpwstr>0x010100E0A66EC8752BA240A04E1D83DFE9E9DE</vt:lpwstr>
  </property>
</Properties>
</file>